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Inter Bold" charset="1" panose="02000503000000020004"/>
      <p:regular r:id="rId21"/>
    </p:embeddedFont>
    <p:embeddedFont>
      <p:font typeface="Inter" charset="1" panose="0200050300000002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74755" y="-9525"/>
            <a:ext cx="6922313" cy="10306050"/>
            <a:chOff x="0" y="0"/>
            <a:chExt cx="922975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29725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9229725">
                  <a:moveTo>
                    <a:pt x="0" y="0"/>
                  </a:moveTo>
                  <a:lnTo>
                    <a:pt x="9229725" y="0"/>
                  </a:lnTo>
                  <a:lnTo>
                    <a:pt x="9229725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FCFA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374755" y="-9525"/>
            <a:ext cx="3310890" cy="2007870"/>
            <a:chOff x="0" y="0"/>
            <a:chExt cx="4414520" cy="2677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14520" cy="2677160"/>
            </a:xfrm>
            <a:custGeom>
              <a:avLst/>
              <a:gdLst/>
              <a:ahLst/>
              <a:cxnLst/>
              <a:rect r="r" b="b" t="t" l="l"/>
              <a:pathLst>
                <a:path h="2677160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2677160"/>
                  </a:lnTo>
                  <a:lnTo>
                    <a:pt x="0" y="2677160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666595" y="-9525"/>
            <a:ext cx="3630473" cy="2007870"/>
            <a:chOff x="0" y="0"/>
            <a:chExt cx="4840630" cy="26771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40605" cy="2677160"/>
            </a:xfrm>
            <a:custGeom>
              <a:avLst/>
              <a:gdLst/>
              <a:ahLst/>
              <a:cxnLst/>
              <a:rect r="r" b="b" t="t" l="l"/>
              <a:pathLst>
                <a:path h="2677160" w="4840605">
                  <a:moveTo>
                    <a:pt x="0" y="0"/>
                  </a:moveTo>
                  <a:lnTo>
                    <a:pt x="4840605" y="0"/>
                  </a:lnTo>
                  <a:lnTo>
                    <a:pt x="4840605" y="2677160"/>
                  </a:lnTo>
                  <a:lnTo>
                    <a:pt x="0" y="2677160"/>
                  </a:lnTo>
                  <a:close/>
                </a:path>
              </a:pathLst>
            </a:custGeom>
            <a:solidFill>
              <a:srgbClr val="8C14D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374755" y="1979295"/>
            <a:ext cx="2103882" cy="1994154"/>
            <a:chOff x="0" y="0"/>
            <a:chExt cx="2805176" cy="26588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05176" cy="2658872"/>
            </a:xfrm>
            <a:custGeom>
              <a:avLst/>
              <a:gdLst/>
              <a:ahLst/>
              <a:cxnLst/>
              <a:rect r="r" b="b" t="t" l="l"/>
              <a:pathLst>
                <a:path h="2658872" w="2805176">
                  <a:moveTo>
                    <a:pt x="0" y="0"/>
                  </a:moveTo>
                  <a:lnTo>
                    <a:pt x="2805176" y="0"/>
                  </a:lnTo>
                  <a:lnTo>
                    <a:pt x="2805176" y="2658872"/>
                  </a:lnTo>
                  <a:lnTo>
                    <a:pt x="0" y="2658872"/>
                  </a:lnTo>
                  <a:close/>
                </a:path>
              </a:pathLst>
            </a:custGeom>
            <a:solidFill>
              <a:srgbClr val="F4B5C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59587" y="1979295"/>
            <a:ext cx="4837481" cy="1994154"/>
            <a:chOff x="0" y="0"/>
            <a:chExt cx="6449974" cy="26588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49949" cy="2658872"/>
            </a:xfrm>
            <a:custGeom>
              <a:avLst/>
              <a:gdLst/>
              <a:ahLst/>
              <a:cxnLst/>
              <a:rect r="r" b="b" t="t" l="l"/>
              <a:pathLst>
                <a:path h="2658872" w="6449949">
                  <a:moveTo>
                    <a:pt x="0" y="0"/>
                  </a:moveTo>
                  <a:lnTo>
                    <a:pt x="6449949" y="0"/>
                  </a:lnTo>
                  <a:lnTo>
                    <a:pt x="6449949" y="2658872"/>
                  </a:lnTo>
                  <a:lnTo>
                    <a:pt x="0" y="2658872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374755" y="3954399"/>
            <a:ext cx="4476750" cy="2762250"/>
            <a:chOff x="0" y="0"/>
            <a:chExt cx="5969000" cy="3683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9690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5969000">
                  <a:moveTo>
                    <a:pt x="0" y="0"/>
                  </a:moveTo>
                  <a:lnTo>
                    <a:pt x="5969000" y="0"/>
                  </a:lnTo>
                  <a:lnTo>
                    <a:pt x="5969000" y="3683000"/>
                  </a:lnTo>
                  <a:lnTo>
                    <a:pt x="0" y="3683000"/>
                  </a:lnTo>
                  <a:close/>
                </a:path>
              </a:pathLst>
            </a:custGeom>
            <a:solidFill>
              <a:srgbClr val="8C14D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832455" y="3954399"/>
            <a:ext cx="2464613" cy="2762250"/>
            <a:chOff x="0" y="0"/>
            <a:chExt cx="3286150" cy="3683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86125" cy="3683000"/>
            </a:xfrm>
            <a:custGeom>
              <a:avLst/>
              <a:gdLst/>
              <a:ahLst/>
              <a:cxnLst/>
              <a:rect r="r" b="b" t="t" l="l"/>
              <a:pathLst>
                <a:path h="3683000" w="3286125">
                  <a:moveTo>
                    <a:pt x="0" y="0"/>
                  </a:moveTo>
                  <a:lnTo>
                    <a:pt x="3286125" y="0"/>
                  </a:lnTo>
                  <a:lnTo>
                    <a:pt x="3286125" y="3683000"/>
                  </a:lnTo>
                  <a:lnTo>
                    <a:pt x="0" y="3683000"/>
                  </a:lnTo>
                  <a:close/>
                </a:path>
              </a:pathLst>
            </a:custGeom>
            <a:solidFill>
              <a:srgbClr val="B4DAE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374755" y="6697599"/>
            <a:ext cx="2391918" cy="3598926"/>
            <a:chOff x="0" y="0"/>
            <a:chExt cx="3189224" cy="47985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89224" cy="4798568"/>
            </a:xfrm>
            <a:custGeom>
              <a:avLst/>
              <a:gdLst/>
              <a:ahLst/>
              <a:cxnLst/>
              <a:rect r="r" b="b" t="t" l="l"/>
              <a:pathLst>
                <a:path h="4798568" w="3189224">
                  <a:moveTo>
                    <a:pt x="0" y="0"/>
                  </a:moveTo>
                  <a:lnTo>
                    <a:pt x="3189224" y="0"/>
                  </a:lnTo>
                  <a:lnTo>
                    <a:pt x="3189224" y="4798568"/>
                  </a:lnTo>
                  <a:lnTo>
                    <a:pt x="0" y="4798568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747623" y="6697599"/>
            <a:ext cx="4549445" cy="3598926"/>
            <a:chOff x="0" y="0"/>
            <a:chExt cx="6065926" cy="47985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065901" cy="4798568"/>
            </a:xfrm>
            <a:custGeom>
              <a:avLst/>
              <a:gdLst/>
              <a:ahLst/>
              <a:cxnLst/>
              <a:rect r="r" b="b" t="t" l="l"/>
              <a:pathLst>
                <a:path h="4798568" w="6065901">
                  <a:moveTo>
                    <a:pt x="0" y="0"/>
                  </a:moveTo>
                  <a:lnTo>
                    <a:pt x="6065901" y="0"/>
                  </a:lnTo>
                  <a:lnTo>
                    <a:pt x="6065901" y="4798568"/>
                  </a:lnTo>
                  <a:lnTo>
                    <a:pt x="0" y="4798568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697081" y="4503039"/>
            <a:ext cx="1459230" cy="1459230"/>
            <a:chOff x="0" y="0"/>
            <a:chExt cx="1945640" cy="1945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45640" cy="1945640"/>
            </a:xfrm>
            <a:custGeom>
              <a:avLst/>
              <a:gdLst/>
              <a:ahLst/>
              <a:cxnLst/>
              <a:rect r="r" b="b" t="t" l="l"/>
              <a:pathLst>
                <a:path h="1945640" w="1945640">
                  <a:moveTo>
                    <a:pt x="0" y="389128"/>
                  </a:moveTo>
                  <a:cubicBezTo>
                    <a:pt x="0" y="174244"/>
                    <a:pt x="174244" y="0"/>
                    <a:pt x="389128" y="0"/>
                  </a:cubicBezTo>
                  <a:lnTo>
                    <a:pt x="1556512" y="0"/>
                  </a:lnTo>
                  <a:cubicBezTo>
                    <a:pt x="1771396" y="0"/>
                    <a:pt x="1945640" y="174244"/>
                    <a:pt x="1945640" y="389128"/>
                  </a:cubicBezTo>
                  <a:lnTo>
                    <a:pt x="1945640" y="1556512"/>
                  </a:lnTo>
                  <a:cubicBezTo>
                    <a:pt x="1945640" y="1771396"/>
                    <a:pt x="1771396" y="1945640"/>
                    <a:pt x="1556512" y="1945640"/>
                  </a:cubicBezTo>
                  <a:lnTo>
                    <a:pt x="389128" y="1945640"/>
                  </a:lnTo>
                  <a:cubicBezTo>
                    <a:pt x="174244" y="1945640"/>
                    <a:pt x="0" y="1771396"/>
                    <a:pt x="0" y="15565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932920" y="4759452"/>
            <a:ext cx="987552" cy="946404"/>
            <a:chOff x="0" y="0"/>
            <a:chExt cx="1316736" cy="126187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16736" cy="1261872"/>
            </a:xfrm>
            <a:custGeom>
              <a:avLst/>
              <a:gdLst/>
              <a:ahLst/>
              <a:cxnLst/>
              <a:rect r="r" b="b" t="t" l="l"/>
              <a:pathLst>
                <a:path h="1261872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261872"/>
                  </a:lnTo>
                  <a:lnTo>
                    <a:pt x="0" y="12618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2957" t="0" r="-72957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316736" cy="12618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171932" y="4876038"/>
            <a:ext cx="4087368" cy="713232"/>
            <a:chOff x="0" y="0"/>
            <a:chExt cx="5449824" cy="95097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449824" cy="950976"/>
            </a:xfrm>
            <a:custGeom>
              <a:avLst/>
              <a:gdLst/>
              <a:ahLst/>
              <a:cxnLst/>
              <a:rect r="r" b="b" t="t" l="l"/>
              <a:pathLst>
                <a:path h="950976" w="5449824">
                  <a:moveTo>
                    <a:pt x="0" y="0"/>
                  </a:moveTo>
                  <a:lnTo>
                    <a:pt x="5449824" y="0"/>
                  </a:lnTo>
                  <a:lnTo>
                    <a:pt x="5449824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664" r="0" b="-6166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5449824" cy="960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UniForecast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50392" y="1700784"/>
            <a:ext cx="9738360" cy="1069848"/>
            <a:chOff x="0" y="0"/>
            <a:chExt cx="12984480" cy="142646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984480" cy="1426464"/>
            </a:xfrm>
            <a:custGeom>
              <a:avLst/>
              <a:gdLst/>
              <a:ahLst/>
              <a:cxnLst/>
              <a:rect r="r" b="b" t="t" l="l"/>
              <a:pathLst>
                <a:path h="1426464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363" r="0" b="-12736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9525"/>
              <a:ext cx="12984480" cy="1416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460"/>
                </a:lnSpc>
              </a:pPr>
              <a:r>
                <a:rPr lang="en-US" sz="705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UNIFORECAST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864108" y="2962656"/>
            <a:ext cx="9848088" cy="2880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0"/>
              </a:lnSpc>
            </a:pPr>
            <a:r>
              <a:rPr lang="en-US" sz="4350" b="true">
                <a:solidFill>
                  <a:srgbClr val="19243A"/>
                </a:solidFill>
                <a:latin typeface="Inter Bold"/>
                <a:ea typeface="Inter Bold"/>
                <a:cs typeface="Inter Bold"/>
                <a:sym typeface="Inter Bold"/>
              </a:rPr>
              <a:t>Система прогнозирования</a:t>
            </a:r>
          </a:p>
          <a:p>
            <a:pPr algn="l">
              <a:lnSpc>
                <a:spcPts val="5220"/>
              </a:lnSpc>
            </a:pPr>
            <a:r>
              <a:rPr lang="en-US" sz="4350" b="true">
                <a:solidFill>
                  <a:srgbClr val="19243A"/>
                </a:solidFill>
                <a:latin typeface="Inter Bold"/>
                <a:ea typeface="Inter Bold"/>
                <a:cs typeface="Inter Bold"/>
                <a:sym typeface="Inter Bold"/>
              </a:rPr>
              <a:t>нагрузки на подразделения</a:t>
            </a:r>
          </a:p>
          <a:p>
            <a:pPr algn="l">
              <a:lnSpc>
                <a:spcPts val="5220"/>
              </a:lnSpc>
            </a:pPr>
            <a:r>
              <a:rPr lang="en-US" sz="4350" b="true">
                <a:solidFill>
                  <a:srgbClr val="19243A"/>
                </a:solidFill>
                <a:latin typeface="Inter Bold"/>
                <a:ea typeface="Inter Bold"/>
                <a:cs typeface="Inter Bold"/>
                <a:sym typeface="Inter Bold"/>
              </a:rPr>
              <a:t>университета</a:t>
            </a:r>
          </a:p>
        </p:txBody>
      </p:sp>
      <p:sp>
        <p:nvSpPr>
          <p:cNvPr name="AutoShape 32" id="32"/>
          <p:cNvSpPr/>
          <p:nvPr/>
        </p:nvSpPr>
        <p:spPr>
          <a:xfrm rot="8160">
            <a:off x="852668" y="6345746"/>
            <a:ext cx="9651521" cy="0"/>
          </a:xfrm>
          <a:prstGeom prst="line">
            <a:avLst/>
          </a:prstGeom>
          <a:ln cap="rnd" w="9525">
            <a:solidFill>
              <a:srgbClr val="E4E9F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891540" y="6611112"/>
            <a:ext cx="9738360" cy="480060"/>
            <a:chOff x="0" y="0"/>
            <a:chExt cx="12984480" cy="6400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984480" cy="640080"/>
            </a:xfrm>
            <a:custGeom>
              <a:avLst/>
              <a:gdLst/>
              <a:ahLst/>
              <a:cxnLst/>
              <a:rect r="r" b="b" t="t" l="l"/>
              <a:pathLst>
                <a:path h="640080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5267" r="0" b="-34526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1298448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64738C"/>
                  </a:solidFill>
                  <a:latin typeface="Inter"/>
                  <a:ea typeface="Inter"/>
                  <a:cs typeface="Inter"/>
                  <a:sym typeface="Inter"/>
                </a:rPr>
                <a:t>Учебный проект · нейронная сеть MLP · PyTorch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91540" y="7722108"/>
            <a:ext cx="9848088" cy="576072"/>
            <a:chOff x="0" y="0"/>
            <a:chExt cx="13130784" cy="76809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130785" cy="768096"/>
            </a:xfrm>
            <a:custGeom>
              <a:avLst/>
              <a:gdLst/>
              <a:ahLst/>
              <a:cxnLst/>
              <a:rect r="r" b="b" t="t" l="l"/>
              <a:pathLst>
                <a:path h="768096" w="13130785">
                  <a:moveTo>
                    <a:pt x="0" y="0"/>
                  </a:moveTo>
                  <a:lnTo>
                    <a:pt x="13130785" y="0"/>
                  </a:lnTo>
                  <a:lnTo>
                    <a:pt x="13130785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3101" r="0" b="-28310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3130784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Шереметов Мурат Олегович </a:t>
              </a:r>
              <a:r>
                <a:rPr lang="en-US" sz="255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·  Т.МО31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91540" y="8421624"/>
            <a:ext cx="9902952" cy="466344"/>
            <a:chOff x="0" y="0"/>
            <a:chExt cx="13203936" cy="6217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203937" cy="621792"/>
            </a:xfrm>
            <a:custGeom>
              <a:avLst/>
              <a:gdLst/>
              <a:ahLst/>
              <a:cxnLst/>
              <a:rect r="r" b="b" t="t" l="l"/>
              <a:pathLst>
                <a:path h="621792" w="13203937">
                  <a:moveTo>
                    <a:pt x="0" y="0"/>
                  </a:moveTo>
                  <a:lnTo>
                    <a:pt x="13203937" y="0"/>
                  </a:lnTo>
                  <a:lnTo>
                    <a:pt x="13203937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3770" r="0" b="-36377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13203936" cy="631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4738C"/>
                  </a:solidFill>
                  <a:latin typeface="Inter"/>
                  <a:ea typeface="Inter"/>
                  <a:cs typeface="Inter"/>
                  <a:sym typeface="Inter"/>
                </a:rPr>
                <a:t>ДГТУ</a:t>
              </a:r>
              <a:r>
                <a:rPr lang="en-US" sz="1950">
                  <a:solidFill>
                    <a:srgbClr val="64738C"/>
                  </a:solidFill>
                  <a:latin typeface="Inter"/>
                  <a:ea typeface="Inter"/>
                  <a:cs typeface="Inter"/>
                  <a:sym typeface="Inter"/>
                </a:rPr>
                <a:t>   ·   Кадомцев Максим Игоревич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91540" y="9491472"/>
            <a:ext cx="5486400" cy="356616"/>
            <a:chOff x="0" y="0"/>
            <a:chExt cx="7315200" cy="47548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315200" cy="475488"/>
            </a:xfrm>
            <a:custGeom>
              <a:avLst/>
              <a:gdLst/>
              <a:ahLst/>
              <a:cxnLst/>
              <a:rect r="r" b="b" t="t" l="l"/>
              <a:pathLst>
                <a:path h="47548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9769" r="0" b="-24976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7315200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38C"/>
                  </a:solidFill>
                  <a:latin typeface="Inter"/>
                  <a:ea typeface="Inter"/>
                  <a:cs typeface="Inter"/>
                  <a:sym typeface="Inter"/>
                </a:rPr>
                <a:t>Октябрь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0392" y="315468"/>
            <a:ext cx="10972800" cy="370332"/>
            <a:chOff x="0" y="0"/>
            <a:chExt cx="14630400" cy="4937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493776"/>
            </a:xfrm>
            <a:custGeom>
              <a:avLst/>
              <a:gdLst/>
              <a:ahLst/>
              <a:cxnLst/>
              <a:rect r="r" b="b" t="t" l="l"/>
              <a:pathLst>
                <a:path h="49377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7334" r="0" b="-52733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4630400" cy="49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94">
                  <a:solidFill>
                    <a:srgbClr val="64738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UNIFORECAST · ML-ПРОЕКТ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51224" y="315468"/>
            <a:ext cx="795528" cy="452628"/>
            <a:chOff x="0" y="0"/>
            <a:chExt cx="1060704" cy="6035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0704" cy="603504"/>
            </a:xfrm>
            <a:custGeom>
              <a:avLst/>
              <a:gdLst/>
              <a:ahLst/>
              <a:cxnLst/>
              <a:rect r="r" b="b" t="t" l="l"/>
              <a:pathLst>
                <a:path h="603504" w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000" t="0" r="-2300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060704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B9AB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0392" y="891540"/>
            <a:ext cx="16527780" cy="877824"/>
            <a:chOff x="0" y="0"/>
            <a:chExt cx="22037040" cy="11704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037039" cy="1170432"/>
            </a:xfrm>
            <a:custGeom>
              <a:avLst/>
              <a:gdLst/>
              <a:ahLst/>
              <a:cxnLst/>
              <a:rect r="r" b="b" t="t" l="l"/>
              <a:pathLst>
                <a:path h="1170432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6866" r="0" b="-31686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037040" cy="1170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ПРОБЛЕМА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40867" y="1896999"/>
            <a:ext cx="773430" cy="108204"/>
            <a:chOff x="0" y="0"/>
            <a:chExt cx="1031240" cy="1442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1240" cy="144272"/>
            </a:xfrm>
            <a:custGeom>
              <a:avLst/>
              <a:gdLst/>
              <a:ahLst/>
              <a:cxnLst/>
              <a:rect r="r" b="b" t="t" l="l"/>
              <a:pathLst>
                <a:path h="144272" w="1031240">
                  <a:moveTo>
                    <a:pt x="0" y="0"/>
                  </a:moveTo>
                  <a:lnTo>
                    <a:pt x="1031240" y="0"/>
                  </a:lnTo>
                  <a:lnTo>
                    <a:pt x="1031240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95247" y="1896999"/>
            <a:ext cx="773430" cy="108204"/>
            <a:chOff x="0" y="0"/>
            <a:chExt cx="1031240" cy="1442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31240" cy="144272"/>
            </a:xfrm>
            <a:custGeom>
              <a:avLst/>
              <a:gdLst/>
              <a:ahLst/>
              <a:cxnLst/>
              <a:rect r="r" b="b" t="t" l="l"/>
              <a:pathLst>
                <a:path h="144272" w="1031240">
                  <a:moveTo>
                    <a:pt x="0" y="0"/>
                  </a:moveTo>
                  <a:lnTo>
                    <a:pt x="1031240" y="0"/>
                  </a:lnTo>
                  <a:lnTo>
                    <a:pt x="1031240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8C14D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349627" y="1896999"/>
            <a:ext cx="457962" cy="108204"/>
            <a:chOff x="0" y="0"/>
            <a:chExt cx="610616" cy="1442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0616" cy="144272"/>
            </a:xfrm>
            <a:custGeom>
              <a:avLst/>
              <a:gdLst/>
              <a:ahLst/>
              <a:cxnLst/>
              <a:rect r="r" b="b" t="t" l="l"/>
              <a:pathLst>
                <a:path h="144272" w="610616">
                  <a:moveTo>
                    <a:pt x="0" y="0"/>
                  </a:moveTo>
                  <a:lnTo>
                    <a:pt x="610616" y="0"/>
                  </a:lnTo>
                  <a:lnTo>
                    <a:pt x="610616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788539" y="1896999"/>
            <a:ext cx="869442" cy="108204"/>
            <a:chOff x="0" y="0"/>
            <a:chExt cx="1159256" cy="1442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59256" cy="144272"/>
            </a:xfrm>
            <a:custGeom>
              <a:avLst/>
              <a:gdLst/>
              <a:ahLst/>
              <a:cxnLst/>
              <a:rect r="r" b="b" t="t" l="l"/>
              <a:pathLst>
                <a:path h="144272" w="1159256">
                  <a:moveTo>
                    <a:pt x="0" y="0"/>
                  </a:moveTo>
                  <a:lnTo>
                    <a:pt x="1159256" y="0"/>
                  </a:lnTo>
                  <a:lnTo>
                    <a:pt x="1159256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B4DAE2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-9525" y="10071735"/>
            <a:ext cx="1843278" cy="224790"/>
            <a:chOff x="0" y="0"/>
            <a:chExt cx="2457704" cy="2997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57704" cy="299720"/>
            </a:xfrm>
            <a:custGeom>
              <a:avLst/>
              <a:gdLst/>
              <a:ahLst/>
              <a:cxnLst/>
              <a:rect r="r" b="b" t="t" l="l"/>
              <a:pathLst>
                <a:path h="299720" w="2457704">
                  <a:moveTo>
                    <a:pt x="0" y="0"/>
                  </a:moveTo>
                  <a:lnTo>
                    <a:pt x="2457704" y="0"/>
                  </a:lnTo>
                  <a:lnTo>
                    <a:pt x="2457704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814703" y="10071735"/>
            <a:ext cx="3036570" cy="224790"/>
            <a:chOff x="0" y="0"/>
            <a:chExt cx="4048760" cy="299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48760" cy="299720"/>
            </a:xfrm>
            <a:custGeom>
              <a:avLst/>
              <a:gdLst/>
              <a:ahLst/>
              <a:cxnLst/>
              <a:rect r="r" b="b" t="t" l="l"/>
              <a:pathLst>
                <a:path h="299720" w="4048760">
                  <a:moveTo>
                    <a:pt x="0" y="0"/>
                  </a:moveTo>
                  <a:lnTo>
                    <a:pt x="4048760" y="0"/>
                  </a:lnTo>
                  <a:lnTo>
                    <a:pt x="404876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8C14D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832223" y="10071735"/>
            <a:ext cx="1843278" cy="224790"/>
            <a:chOff x="0" y="0"/>
            <a:chExt cx="2457704" cy="299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57704" cy="299720"/>
            </a:xfrm>
            <a:custGeom>
              <a:avLst/>
              <a:gdLst/>
              <a:ahLst/>
              <a:cxnLst/>
              <a:rect r="r" b="b" t="t" l="l"/>
              <a:pathLst>
                <a:path h="299720" w="2457704">
                  <a:moveTo>
                    <a:pt x="0" y="0"/>
                  </a:moveTo>
                  <a:lnTo>
                    <a:pt x="2457704" y="0"/>
                  </a:lnTo>
                  <a:lnTo>
                    <a:pt x="2457704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4B5C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656451" y="10071735"/>
            <a:ext cx="3036570" cy="224790"/>
            <a:chOff x="0" y="0"/>
            <a:chExt cx="4048760" cy="2997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48760" cy="299720"/>
            </a:xfrm>
            <a:custGeom>
              <a:avLst/>
              <a:gdLst/>
              <a:ahLst/>
              <a:cxnLst/>
              <a:rect r="r" b="b" t="t" l="l"/>
              <a:pathLst>
                <a:path h="299720" w="4048760">
                  <a:moveTo>
                    <a:pt x="0" y="0"/>
                  </a:moveTo>
                  <a:lnTo>
                    <a:pt x="4048760" y="0"/>
                  </a:lnTo>
                  <a:lnTo>
                    <a:pt x="404876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73971" y="10071735"/>
            <a:ext cx="1843278" cy="224790"/>
            <a:chOff x="0" y="0"/>
            <a:chExt cx="2457704" cy="2997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57704" cy="299720"/>
            </a:xfrm>
            <a:custGeom>
              <a:avLst/>
              <a:gdLst/>
              <a:ahLst/>
              <a:cxnLst/>
              <a:rect r="r" b="b" t="t" l="l"/>
              <a:pathLst>
                <a:path h="299720" w="2457704">
                  <a:moveTo>
                    <a:pt x="0" y="0"/>
                  </a:moveTo>
                  <a:lnTo>
                    <a:pt x="2457704" y="0"/>
                  </a:lnTo>
                  <a:lnTo>
                    <a:pt x="2457704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498199" y="10071735"/>
            <a:ext cx="1802130" cy="224790"/>
            <a:chOff x="0" y="0"/>
            <a:chExt cx="2402840" cy="299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02840" cy="299720"/>
            </a:xfrm>
            <a:custGeom>
              <a:avLst/>
              <a:gdLst/>
              <a:ahLst/>
              <a:cxnLst/>
              <a:rect r="r" b="b" t="t" l="l"/>
              <a:pathLst>
                <a:path h="299720" w="2402840">
                  <a:moveTo>
                    <a:pt x="0" y="0"/>
                  </a:moveTo>
                  <a:lnTo>
                    <a:pt x="2402840" y="0"/>
                  </a:lnTo>
                  <a:lnTo>
                    <a:pt x="240284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281279" y="10071735"/>
            <a:ext cx="1390650" cy="224790"/>
            <a:chOff x="0" y="0"/>
            <a:chExt cx="1854200" cy="299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54200" cy="299720"/>
            </a:xfrm>
            <a:custGeom>
              <a:avLst/>
              <a:gdLst/>
              <a:ahLst/>
              <a:cxnLst/>
              <a:rect r="r" b="b" t="t" l="l"/>
              <a:pathLst>
                <a:path h="299720" w="1854200">
                  <a:moveTo>
                    <a:pt x="0" y="0"/>
                  </a:moveTo>
                  <a:lnTo>
                    <a:pt x="1854200" y="0"/>
                  </a:lnTo>
                  <a:lnTo>
                    <a:pt x="185420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4B5C1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652879" y="10071735"/>
            <a:ext cx="3645560" cy="224790"/>
            <a:chOff x="0" y="0"/>
            <a:chExt cx="4860747" cy="2997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60798" cy="299720"/>
            </a:xfrm>
            <a:custGeom>
              <a:avLst/>
              <a:gdLst/>
              <a:ahLst/>
              <a:cxnLst/>
              <a:rect r="r" b="b" t="t" l="l"/>
              <a:pathLst>
                <a:path h="299720" w="4860798">
                  <a:moveTo>
                    <a:pt x="0" y="0"/>
                  </a:moveTo>
                  <a:lnTo>
                    <a:pt x="4860798" y="0"/>
                  </a:lnTo>
                  <a:lnTo>
                    <a:pt x="4860798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B4DAE2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973836" y="2510028"/>
            <a:ext cx="9601200" cy="157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19243A"/>
                </a:solidFill>
                <a:latin typeface="Inter Bold"/>
                <a:ea typeface="Inter Bold"/>
                <a:cs typeface="Inter Bold"/>
                <a:sym typeface="Inter Bold"/>
              </a:rPr>
              <a:t>Нагрузка университетских служб</a:t>
            </a:r>
          </a:p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19243A"/>
                </a:solidFill>
                <a:latin typeface="Inter Bold"/>
                <a:ea typeface="Inter Bold"/>
                <a:cs typeface="Inter Bold"/>
                <a:sym typeface="Inter Bold"/>
              </a:rPr>
              <a:t>меняется в течение года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019175" y="4571619"/>
            <a:ext cx="163068" cy="163068"/>
            <a:chOff x="0" y="0"/>
            <a:chExt cx="217424" cy="21742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7424" cy="217424"/>
            </a:xfrm>
            <a:custGeom>
              <a:avLst/>
              <a:gdLst/>
              <a:ahLst/>
              <a:cxnLst/>
              <a:rect r="r" b="b" t="t" l="l"/>
              <a:pathLst>
                <a:path h="217424" w="217424">
                  <a:moveTo>
                    <a:pt x="0" y="103505"/>
                  </a:moveTo>
                  <a:cubicBezTo>
                    <a:pt x="0" y="46355"/>
                    <a:pt x="46355" y="0"/>
                    <a:pt x="103505" y="0"/>
                  </a:cubicBezTo>
                  <a:lnTo>
                    <a:pt x="113919" y="0"/>
                  </a:lnTo>
                  <a:cubicBezTo>
                    <a:pt x="171069" y="0"/>
                    <a:pt x="217424" y="46355"/>
                    <a:pt x="217424" y="103505"/>
                  </a:cubicBezTo>
                  <a:lnTo>
                    <a:pt x="217424" y="113919"/>
                  </a:lnTo>
                  <a:cubicBezTo>
                    <a:pt x="217424" y="171069"/>
                    <a:pt x="171069" y="217424"/>
                    <a:pt x="113919" y="217424"/>
                  </a:cubicBezTo>
                  <a:lnTo>
                    <a:pt x="103505" y="217424"/>
                  </a:lnTo>
                  <a:cubicBezTo>
                    <a:pt x="46355" y="217424"/>
                    <a:pt x="0" y="171069"/>
                    <a:pt x="0" y="113919"/>
                  </a:cubicBezTo>
                  <a:close/>
                </a:path>
              </a:pathLst>
            </a:custGeom>
            <a:solidFill>
              <a:srgbClr val="8C14DB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385316" y="4416552"/>
            <a:ext cx="8558784" cy="932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9243A"/>
                </a:solidFill>
                <a:latin typeface="Inter"/>
                <a:ea typeface="Inter"/>
                <a:cs typeface="Inter"/>
                <a:sym typeface="Inter"/>
              </a:rPr>
              <a:t>В начале семестров и во время приёмной кампании обращений становится больше.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019175" y="6011799"/>
            <a:ext cx="163068" cy="163068"/>
            <a:chOff x="0" y="0"/>
            <a:chExt cx="217424" cy="21742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7424" cy="217424"/>
            </a:xfrm>
            <a:custGeom>
              <a:avLst/>
              <a:gdLst/>
              <a:ahLst/>
              <a:cxnLst/>
              <a:rect r="r" b="b" t="t" l="l"/>
              <a:pathLst>
                <a:path h="217424" w="217424">
                  <a:moveTo>
                    <a:pt x="0" y="103505"/>
                  </a:moveTo>
                  <a:cubicBezTo>
                    <a:pt x="0" y="46355"/>
                    <a:pt x="46355" y="0"/>
                    <a:pt x="103505" y="0"/>
                  </a:cubicBezTo>
                  <a:lnTo>
                    <a:pt x="113919" y="0"/>
                  </a:lnTo>
                  <a:cubicBezTo>
                    <a:pt x="171069" y="0"/>
                    <a:pt x="217424" y="46355"/>
                    <a:pt x="217424" y="103505"/>
                  </a:cubicBezTo>
                  <a:lnTo>
                    <a:pt x="217424" y="113919"/>
                  </a:lnTo>
                  <a:cubicBezTo>
                    <a:pt x="217424" y="171069"/>
                    <a:pt x="171069" y="217424"/>
                    <a:pt x="113919" y="217424"/>
                  </a:cubicBezTo>
                  <a:lnTo>
                    <a:pt x="103505" y="217424"/>
                  </a:lnTo>
                  <a:cubicBezTo>
                    <a:pt x="46355" y="217424"/>
                    <a:pt x="0" y="171069"/>
                    <a:pt x="0" y="113919"/>
                  </a:cubicBezTo>
                  <a:close/>
                </a:path>
              </a:pathLst>
            </a:custGeom>
            <a:solidFill>
              <a:srgbClr val="FB4E47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385316" y="5856732"/>
            <a:ext cx="8558784" cy="932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9243A"/>
                </a:solidFill>
                <a:latin typeface="Inter"/>
                <a:ea typeface="Inter"/>
                <a:cs typeface="Inter"/>
                <a:sym typeface="Inter"/>
              </a:rPr>
              <a:t>Разным подразделениям требуются разные объёмы ресурсов.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019175" y="7451979"/>
            <a:ext cx="163068" cy="163068"/>
            <a:chOff x="0" y="0"/>
            <a:chExt cx="217424" cy="21742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7424" cy="217424"/>
            </a:xfrm>
            <a:custGeom>
              <a:avLst/>
              <a:gdLst/>
              <a:ahLst/>
              <a:cxnLst/>
              <a:rect r="r" b="b" t="t" l="l"/>
              <a:pathLst>
                <a:path h="217424" w="217424">
                  <a:moveTo>
                    <a:pt x="0" y="103505"/>
                  </a:moveTo>
                  <a:cubicBezTo>
                    <a:pt x="0" y="46355"/>
                    <a:pt x="46355" y="0"/>
                    <a:pt x="103505" y="0"/>
                  </a:cubicBezTo>
                  <a:lnTo>
                    <a:pt x="113919" y="0"/>
                  </a:lnTo>
                  <a:cubicBezTo>
                    <a:pt x="171069" y="0"/>
                    <a:pt x="217424" y="46355"/>
                    <a:pt x="217424" y="103505"/>
                  </a:cubicBezTo>
                  <a:lnTo>
                    <a:pt x="217424" y="113919"/>
                  </a:lnTo>
                  <a:cubicBezTo>
                    <a:pt x="217424" y="171069"/>
                    <a:pt x="171069" y="217424"/>
                    <a:pt x="113919" y="217424"/>
                  </a:cubicBezTo>
                  <a:lnTo>
                    <a:pt x="103505" y="217424"/>
                  </a:lnTo>
                  <a:cubicBezTo>
                    <a:pt x="46355" y="217424"/>
                    <a:pt x="0" y="171069"/>
                    <a:pt x="0" y="113919"/>
                  </a:cubicBezTo>
                  <a:close/>
                </a:path>
              </a:pathLst>
            </a:custGeom>
            <a:solidFill>
              <a:srgbClr val="F9AA22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385316" y="7296912"/>
            <a:ext cx="8558784" cy="932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19243A"/>
                </a:solidFill>
                <a:latin typeface="Inter"/>
                <a:ea typeface="Inter"/>
                <a:cs typeface="Inter"/>
                <a:sym typeface="Inter"/>
              </a:rPr>
              <a:t>Без прогноза сложно заранее определить дни повышенной нагрузки.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0991660" y="2542604"/>
            <a:ext cx="6299073" cy="6381369"/>
            <a:chOff x="0" y="0"/>
            <a:chExt cx="8398764" cy="850849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398763" cy="8508492"/>
            </a:xfrm>
            <a:custGeom>
              <a:avLst/>
              <a:gdLst/>
              <a:ahLst/>
              <a:cxnLst/>
              <a:rect r="r" b="b" t="t" l="l"/>
              <a:pathLst>
                <a:path h="8508492" w="8398763">
                  <a:moveTo>
                    <a:pt x="0" y="293370"/>
                  </a:moveTo>
                  <a:cubicBezTo>
                    <a:pt x="0" y="131318"/>
                    <a:pt x="131318" y="0"/>
                    <a:pt x="293370" y="0"/>
                  </a:cubicBezTo>
                  <a:lnTo>
                    <a:pt x="8105394" y="0"/>
                  </a:lnTo>
                  <a:cubicBezTo>
                    <a:pt x="8267446" y="0"/>
                    <a:pt x="8398763" y="131318"/>
                    <a:pt x="8398763" y="293370"/>
                  </a:cubicBezTo>
                  <a:lnTo>
                    <a:pt x="8398763" y="8215122"/>
                  </a:lnTo>
                  <a:cubicBezTo>
                    <a:pt x="8398763" y="8377174"/>
                    <a:pt x="8267446" y="8508492"/>
                    <a:pt x="8105394" y="8508492"/>
                  </a:cubicBezTo>
                  <a:lnTo>
                    <a:pt x="293370" y="8508492"/>
                  </a:lnTo>
                  <a:cubicBezTo>
                    <a:pt x="131318" y="8508492"/>
                    <a:pt x="0" y="8377174"/>
                    <a:pt x="0" y="8215122"/>
                  </a:cubicBezTo>
                  <a:close/>
                </a:path>
              </a:pathLst>
            </a:custGeom>
            <a:solidFill>
              <a:srgbClr val="FCFAFF"/>
            </a:solidFill>
            <a:ln w="17145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1466576" y="2990088"/>
            <a:ext cx="5349240" cy="534924"/>
            <a:chOff x="0" y="0"/>
            <a:chExt cx="7132320" cy="71323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132320" cy="713232"/>
            </a:xfrm>
            <a:custGeom>
              <a:avLst/>
              <a:gdLst/>
              <a:ahLst/>
              <a:cxnLst/>
              <a:rect r="r" b="b" t="t" l="l"/>
              <a:pathLst>
                <a:path h="713232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713232"/>
                  </a:lnTo>
                  <a:lnTo>
                    <a:pt x="0" y="713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7132320" cy="7132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Пример сезонных факторов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470767" y="3858387"/>
            <a:ext cx="5354574" cy="1171194"/>
            <a:chOff x="0" y="0"/>
            <a:chExt cx="7139432" cy="15615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139432" cy="1561592"/>
            </a:xfrm>
            <a:custGeom>
              <a:avLst/>
              <a:gdLst/>
              <a:ahLst/>
              <a:cxnLst/>
              <a:rect r="r" b="b" t="t" l="l"/>
              <a:pathLst>
                <a:path h="1561592" w="7139432">
                  <a:moveTo>
                    <a:pt x="0" y="185928"/>
                  </a:moveTo>
                  <a:cubicBezTo>
                    <a:pt x="0" y="83185"/>
                    <a:pt x="83185" y="0"/>
                    <a:pt x="185928" y="0"/>
                  </a:cubicBezTo>
                  <a:lnTo>
                    <a:pt x="6953504" y="0"/>
                  </a:lnTo>
                  <a:cubicBezTo>
                    <a:pt x="7056120" y="0"/>
                    <a:pt x="7139432" y="83185"/>
                    <a:pt x="7139432" y="185928"/>
                  </a:cubicBezTo>
                  <a:lnTo>
                    <a:pt x="7139432" y="1375664"/>
                  </a:lnTo>
                  <a:cubicBezTo>
                    <a:pt x="7139432" y="1478280"/>
                    <a:pt x="7056248" y="1561592"/>
                    <a:pt x="6953504" y="1561592"/>
                  </a:cubicBezTo>
                  <a:lnTo>
                    <a:pt x="185928" y="1561592"/>
                  </a:lnTo>
                  <a:cubicBezTo>
                    <a:pt x="83185" y="1561592"/>
                    <a:pt x="0" y="1478407"/>
                    <a:pt x="0" y="1375664"/>
                  </a:cubicBezTo>
                  <a:close/>
                </a:path>
              </a:pathLst>
            </a:custGeom>
            <a:solidFill>
              <a:srgbClr val="EDE2FF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1727180" y="4046220"/>
            <a:ext cx="1495044" cy="329184"/>
            <a:chOff x="0" y="0"/>
            <a:chExt cx="1993392" cy="43891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993392" cy="438912"/>
            </a:xfrm>
            <a:custGeom>
              <a:avLst/>
              <a:gdLst/>
              <a:ahLst/>
              <a:cxnLst/>
              <a:rect r="r" b="b" t="t" l="l"/>
              <a:pathLst>
                <a:path h="438912" w="1993392">
                  <a:moveTo>
                    <a:pt x="0" y="0"/>
                  </a:moveTo>
                  <a:lnTo>
                    <a:pt x="1993392" y="0"/>
                  </a:lnTo>
                  <a:lnTo>
                    <a:pt x="199339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494" r="0" b="-3849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1993392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5D2DC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Февраль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181076" y="4018788"/>
            <a:ext cx="3387852" cy="658368"/>
            <a:chOff x="0" y="0"/>
            <a:chExt cx="4517136" cy="87782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517136" cy="877824"/>
            </a:xfrm>
            <a:custGeom>
              <a:avLst/>
              <a:gdLst/>
              <a:ahLst/>
              <a:cxnLst/>
              <a:rect r="r" b="b" t="t" l="l"/>
              <a:pathLst>
                <a:path h="877824" w="4517136">
                  <a:moveTo>
                    <a:pt x="0" y="0"/>
                  </a:moveTo>
                  <a:lnTo>
                    <a:pt x="4517136" y="0"/>
                  </a:lnTo>
                  <a:lnTo>
                    <a:pt x="4517136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266" r="0" b="-5026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4517136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9243A"/>
                  </a:solidFill>
                  <a:latin typeface="Inter"/>
                  <a:ea typeface="Inter"/>
                  <a:cs typeface="Inter"/>
                  <a:sym typeface="Inter"/>
                </a:rPr>
                <a:t>Начало семестра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470767" y="5284851"/>
            <a:ext cx="5354574" cy="1171194"/>
            <a:chOff x="0" y="0"/>
            <a:chExt cx="7139432" cy="156159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139432" cy="1561592"/>
            </a:xfrm>
            <a:custGeom>
              <a:avLst/>
              <a:gdLst/>
              <a:ahLst/>
              <a:cxnLst/>
              <a:rect r="r" b="b" t="t" l="l"/>
              <a:pathLst>
                <a:path h="1561592" w="7139432">
                  <a:moveTo>
                    <a:pt x="0" y="185928"/>
                  </a:moveTo>
                  <a:cubicBezTo>
                    <a:pt x="0" y="83185"/>
                    <a:pt x="83185" y="0"/>
                    <a:pt x="185928" y="0"/>
                  </a:cubicBezTo>
                  <a:lnTo>
                    <a:pt x="6953504" y="0"/>
                  </a:lnTo>
                  <a:cubicBezTo>
                    <a:pt x="7056120" y="0"/>
                    <a:pt x="7139432" y="83185"/>
                    <a:pt x="7139432" y="185928"/>
                  </a:cubicBezTo>
                  <a:lnTo>
                    <a:pt x="7139432" y="1375664"/>
                  </a:lnTo>
                  <a:cubicBezTo>
                    <a:pt x="7139432" y="1478280"/>
                    <a:pt x="7056248" y="1561592"/>
                    <a:pt x="6953504" y="1561592"/>
                  </a:cubicBezTo>
                  <a:lnTo>
                    <a:pt x="185928" y="1561592"/>
                  </a:lnTo>
                  <a:cubicBezTo>
                    <a:pt x="83185" y="1561592"/>
                    <a:pt x="0" y="1478407"/>
                    <a:pt x="0" y="1375664"/>
                  </a:cubicBezTo>
                  <a:close/>
                </a:path>
              </a:pathLst>
            </a:custGeom>
            <a:solidFill>
              <a:srgbClr val="FFF1D8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1727180" y="5472684"/>
            <a:ext cx="1495044" cy="329184"/>
            <a:chOff x="0" y="0"/>
            <a:chExt cx="1993392" cy="43891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993392" cy="438912"/>
            </a:xfrm>
            <a:custGeom>
              <a:avLst/>
              <a:gdLst/>
              <a:ahLst/>
              <a:cxnLst/>
              <a:rect r="r" b="b" t="t" l="l"/>
              <a:pathLst>
                <a:path h="438912" w="1993392">
                  <a:moveTo>
                    <a:pt x="0" y="0"/>
                  </a:moveTo>
                  <a:lnTo>
                    <a:pt x="1993392" y="0"/>
                  </a:lnTo>
                  <a:lnTo>
                    <a:pt x="199339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494" r="0" b="-38494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1993392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B06C1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Июль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3181076" y="5445252"/>
            <a:ext cx="3387852" cy="658368"/>
            <a:chOff x="0" y="0"/>
            <a:chExt cx="4517136" cy="87782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517136" cy="877824"/>
            </a:xfrm>
            <a:custGeom>
              <a:avLst/>
              <a:gdLst/>
              <a:ahLst/>
              <a:cxnLst/>
              <a:rect r="r" b="b" t="t" l="l"/>
              <a:pathLst>
                <a:path h="877824" w="4517136">
                  <a:moveTo>
                    <a:pt x="0" y="0"/>
                  </a:moveTo>
                  <a:lnTo>
                    <a:pt x="4517136" y="0"/>
                  </a:lnTo>
                  <a:lnTo>
                    <a:pt x="4517136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266" r="0" b="-50266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4517136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9243A"/>
                  </a:solidFill>
                  <a:latin typeface="Inter"/>
                  <a:ea typeface="Inter"/>
                  <a:cs typeface="Inter"/>
                  <a:sym typeface="Inter"/>
                </a:rPr>
                <a:t>Приём документов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1470767" y="6711315"/>
            <a:ext cx="5354574" cy="1171194"/>
            <a:chOff x="0" y="0"/>
            <a:chExt cx="7139432" cy="156159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139432" cy="1561592"/>
            </a:xfrm>
            <a:custGeom>
              <a:avLst/>
              <a:gdLst/>
              <a:ahLst/>
              <a:cxnLst/>
              <a:rect r="r" b="b" t="t" l="l"/>
              <a:pathLst>
                <a:path h="1561592" w="7139432">
                  <a:moveTo>
                    <a:pt x="0" y="185928"/>
                  </a:moveTo>
                  <a:cubicBezTo>
                    <a:pt x="0" y="83185"/>
                    <a:pt x="83185" y="0"/>
                    <a:pt x="185928" y="0"/>
                  </a:cubicBezTo>
                  <a:lnTo>
                    <a:pt x="6953504" y="0"/>
                  </a:lnTo>
                  <a:cubicBezTo>
                    <a:pt x="7056120" y="0"/>
                    <a:pt x="7139432" y="83185"/>
                    <a:pt x="7139432" y="185928"/>
                  </a:cubicBezTo>
                  <a:lnTo>
                    <a:pt x="7139432" y="1375664"/>
                  </a:lnTo>
                  <a:cubicBezTo>
                    <a:pt x="7139432" y="1478280"/>
                    <a:pt x="7056248" y="1561592"/>
                    <a:pt x="6953504" y="1561592"/>
                  </a:cubicBezTo>
                  <a:lnTo>
                    <a:pt x="185928" y="1561592"/>
                  </a:lnTo>
                  <a:cubicBezTo>
                    <a:pt x="83185" y="1561592"/>
                    <a:pt x="0" y="1478407"/>
                    <a:pt x="0" y="1375664"/>
                  </a:cubicBezTo>
                  <a:close/>
                </a:path>
              </a:pathLst>
            </a:custGeom>
            <a:solidFill>
              <a:srgbClr val="E8F0FF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1727180" y="6899148"/>
            <a:ext cx="1495044" cy="329184"/>
            <a:chOff x="0" y="0"/>
            <a:chExt cx="1993392" cy="43891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993392" cy="438912"/>
            </a:xfrm>
            <a:custGeom>
              <a:avLst/>
              <a:gdLst/>
              <a:ahLst/>
              <a:cxnLst/>
              <a:rect r="r" b="b" t="t" l="l"/>
              <a:pathLst>
                <a:path h="438912" w="1993392">
                  <a:moveTo>
                    <a:pt x="0" y="0"/>
                  </a:moveTo>
                  <a:lnTo>
                    <a:pt x="1993392" y="0"/>
                  </a:lnTo>
                  <a:lnTo>
                    <a:pt x="199339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494" r="0" b="-38494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1993392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3669E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Сентябрь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181076" y="6871716"/>
            <a:ext cx="3387852" cy="658368"/>
            <a:chOff x="0" y="0"/>
            <a:chExt cx="4517136" cy="87782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517136" cy="877824"/>
            </a:xfrm>
            <a:custGeom>
              <a:avLst/>
              <a:gdLst/>
              <a:ahLst/>
              <a:cxnLst/>
              <a:rect r="r" b="b" t="t" l="l"/>
              <a:pathLst>
                <a:path h="877824" w="4517136">
                  <a:moveTo>
                    <a:pt x="0" y="0"/>
                  </a:moveTo>
                  <a:lnTo>
                    <a:pt x="4517136" y="0"/>
                  </a:lnTo>
                  <a:lnTo>
                    <a:pt x="4517136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266" r="0" b="-50266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4517136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9243A"/>
                  </a:solidFill>
                  <a:latin typeface="Inter"/>
                  <a:ea typeface="Inter"/>
                  <a:cs typeface="Inter"/>
                  <a:sym typeface="Inter"/>
                </a:rPr>
                <a:t>Учебный старт и заселение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78027" y="8892159"/>
            <a:ext cx="16354806" cy="636270"/>
            <a:chOff x="0" y="0"/>
            <a:chExt cx="21806408" cy="84836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1806408" cy="848360"/>
            </a:xfrm>
            <a:custGeom>
              <a:avLst/>
              <a:gdLst/>
              <a:ahLst/>
              <a:cxnLst/>
              <a:rect r="r" b="b" t="t" l="l"/>
              <a:pathLst>
                <a:path h="848360" w="21806408">
                  <a:moveTo>
                    <a:pt x="0" y="226187"/>
                  </a:moveTo>
                  <a:cubicBezTo>
                    <a:pt x="0" y="101346"/>
                    <a:pt x="101346" y="0"/>
                    <a:pt x="226187" y="0"/>
                  </a:cubicBezTo>
                  <a:lnTo>
                    <a:pt x="21580221" y="0"/>
                  </a:lnTo>
                  <a:cubicBezTo>
                    <a:pt x="21705188" y="0"/>
                    <a:pt x="21806408" y="101346"/>
                    <a:pt x="21806408" y="226187"/>
                  </a:cubicBezTo>
                  <a:lnTo>
                    <a:pt x="21806408" y="622173"/>
                  </a:lnTo>
                  <a:cubicBezTo>
                    <a:pt x="21806408" y="747141"/>
                    <a:pt x="21705061" y="848360"/>
                    <a:pt x="21580221" y="848360"/>
                  </a:cubicBezTo>
                  <a:lnTo>
                    <a:pt x="226187" y="848360"/>
                  </a:lnTo>
                  <a:cubicBezTo>
                    <a:pt x="101346" y="848360"/>
                    <a:pt x="0" y="747014"/>
                    <a:pt x="0" y="622173"/>
                  </a:cubicBezTo>
                  <a:close/>
                </a:path>
              </a:pathLst>
            </a:custGeom>
            <a:solidFill>
              <a:srgbClr val="F5EAFF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261872" y="9066276"/>
            <a:ext cx="15787116" cy="288036"/>
            <a:chOff x="0" y="0"/>
            <a:chExt cx="21049488" cy="38404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1049489" cy="384048"/>
            </a:xfrm>
            <a:custGeom>
              <a:avLst/>
              <a:gdLst/>
              <a:ahLst/>
              <a:cxnLst/>
              <a:rect r="r" b="b" t="t" l="l"/>
              <a:pathLst>
                <a:path h="384048" w="21049489">
                  <a:moveTo>
                    <a:pt x="0" y="0"/>
                  </a:moveTo>
                  <a:lnTo>
                    <a:pt x="21049489" y="0"/>
                  </a:lnTo>
                  <a:lnTo>
                    <a:pt x="21049489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965" r="0" b="-1017965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21049488" cy="393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Цель: заранее оценивать число обращений по датам и службам.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0392" y="315468"/>
            <a:ext cx="10972800" cy="370332"/>
            <a:chOff x="0" y="0"/>
            <a:chExt cx="14630400" cy="4937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493776"/>
            </a:xfrm>
            <a:custGeom>
              <a:avLst/>
              <a:gdLst/>
              <a:ahLst/>
              <a:cxnLst/>
              <a:rect r="r" b="b" t="t" l="l"/>
              <a:pathLst>
                <a:path h="49377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7334" r="0" b="-52733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4630400" cy="49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94">
                  <a:solidFill>
                    <a:srgbClr val="64738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UNIFORECAST · ML-ПРОЕКТ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51224" y="315468"/>
            <a:ext cx="795528" cy="452628"/>
            <a:chOff x="0" y="0"/>
            <a:chExt cx="1060704" cy="6035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0704" cy="603504"/>
            </a:xfrm>
            <a:custGeom>
              <a:avLst/>
              <a:gdLst/>
              <a:ahLst/>
              <a:cxnLst/>
              <a:rect r="r" b="b" t="t" l="l"/>
              <a:pathLst>
                <a:path h="603504" w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000" t="0" r="-2300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060704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B9AB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03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0392" y="891540"/>
            <a:ext cx="16527780" cy="877824"/>
            <a:chOff x="0" y="0"/>
            <a:chExt cx="22037040" cy="11704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037039" cy="1170432"/>
            </a:xfrm>
            <a:custGeom>
              <a:avLst/>
              <a:gdLst/>
              <a:ahLst/>
              <a:cxnLst/>
              <a:rect r="r" b="b" t="t" l="l"/>
              <a:pathLst>
                <a:path h="1170432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6866" r="0" b="-31686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037040" cy="1170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РЕШЕНИЕ: UNIFORECAST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40867" y="1896999"/>
            <a:ext cx="773430" cy="108204"/>
            <a:chOff x="0" y="0"/>
            <a:chExt cx="1031240" cy="1442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1240" cy="144272"/>
            </a:xfrm>
            <a:custGeom>
              <a:avLst/>
              <a:gdLst/>
              <a:ahLst/>
              <a:cxnLst/>
              <a:rect r="r" b="b" t="t" l="l"/>
              <a:pathLst>
                <a:path h="144272" w="1031240">
                  <a:moveTo>
                    <a:pt x="0" y="0"/>
                  </a:moveTo>
                  <a:lnTo>
                    <a:pt x="1031240" y="0"/>
                  </a:lnTo>
                  <a:lnTo>
                    <a:pt x="1031240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95247" y="1896999"/>
            <a:ext cx="773430" cy="108204"/>
            <a:chOff x="0" y="0"/>
            <a:chExt cx="1031240" cy="1442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31240" cy="144272"/>
            </a:xfrm>
            <a:custGeom>
              <a:avLst/>
              <a:gdLst/>
              <a:ahLst/>
              <a:cxnLst/>
              <a:rect r="r" b="b" t="t" l="l"/>
              <a:pathLst>
                <a:path h="144272" w="1031240">
                  <a:moveTo>
                    <a:pt x="0" y="0"/>
                  </a:moveTo>
                  <a:lnTo>
                    <a:pt x="1031240" y="0"/>
                  </a:lnTo>
                  <a:lnTo>
                    <a:pt x="1031240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8C14D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349627" y="1896999"/>
            <a:ext cx="457962" cy="108204"/>
            <a:chOff x="0" y="0"/>
            <a:chExt cx="610616" cy="1442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0616" cy="144272"/>
            </a:xfrm>
            <a:custGeom>
              <a:avLst/>
              <a:gdLst/>
              <a:ahLst/>
              <a:cxnLst/>
              <a:rect r="r" b="b" t="t" l="l"/>
              <a:pathLst>
                <a:path h="144272" w="610616">
                  <a:moveTo>
                    <a:pt x="0" y="0"/>
                  </a:moveTo>
                  <a:lnTo>
                    <a:pt x="610616" y="0"/>
                  </a:lnTo>
                  <a:lnTo>
                    <a:pt x="610616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788539" y="1896999"/>
            <a:ext cx="869442" cy="108204"/>
            <a:chOff x="0" y="0"/>
            <a:chExt cx="1159256" cy="1442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59256" cy="144272"/>
            </a:xfrm>
            <a:custGeom>
              <a:avLst/>
              <a:gdLst/>
              <a:ahLst/>
              <a:cxnLst/>
              <a:rect r="r" b="b" t="t" l="l"/>
              <a:pathLst>
                <a:path h="144272" w="1159256">
                  <a:moveTo>
                    <a:pt x="0" y="0"/>
                  </a:moveTo>
                  <a:lnTo>
                    <a:pt x="1159256" y="0"/>
                  </a:lnTo>
                  <a:lnTo>
                    <a:pt x="1159256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B4DAE2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-9525" y="10071735"/>
            <a:ext cx="1843278" cy="224790"/>
            <a:chOff x="0" y="0"/>
            <a:chExt cx="2457704" cy="2997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57704" cy="299720"/>
            </a:xfrm>
            <a:custGeom>
              <a:avLst/>
              <a:gdLst/>
              <a:ahLst/>
              <a:cxnLst/>
              <a:rect r="r" b="b" t="t" l="l"/>
              <a:pathLst>
                <a:path h="299720" w="2457704">
                  <a:moveTo>
                    <a:pt x="0" y="0"/>
                  </a:moveTo>
                  <a:lnTo>
                    <a:pt x="2457704" y="0"/>
                  </a:lnTo>
                  <a:lnTo>
                    <a:pt x="2457704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814703" y="10071735"/>
            <a:ext cx="3036570" cy="224790"/>
            <a:chOff x="0" y="0"/>
            <a:chExt cx="4048760" cy="299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48760" cy="299720"/>
            </a:xfrm>
            <a:custGeom>
              <a:avLst/>
              <a:gdLst/>
              <a:ahLst/>
              <a:cxnLst/>
              <a:rect r="r" b="b" t="t" l="l"/>
              <a:pathLst>
                <a:path h="299720" w="4048760">
                  <a:moveTo>
                    <a:pt x="0" y="0"/>
                  </a:moveTo>
                  <a:lnTo>
                    <a:pt x="4048760" y="0"/>
                  </a:lnTo>
                  <a:lnTo>
                    <a:pt x="404876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8C14D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832223" y="10071735"/>
            <a:ext cx="1843278" cy="224790"/>
            <a:chOff x="0" y="0"/>
            <a:chExt cx="2457704" cy="299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57704" cy="299720"/>
            </a:xfrm>
            <a:custGeom>
              <a:avLst/>
              <a:gdLst/>
              <a:ahLst/>
              <a:cxnLst/>
              <a:rect r="r" b="b" t="t" l="l"/>
              <a:pathLst>
                <a:path h="299720" w="2457704">
                  <a:moveTo>
                    <a:pt x="0" y="0"/>
                  </a:moveTo>
                  <a:lnTo>
                    <a:pt x="2457704" y="0"/>
                  </a:lnTo>
                  <a:lnTo>
                    <a:pt x="2457704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4B5C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656451" y="10071735"/>
            <a:ext cx="3036570" cy="224790"/>
            <a:chOff x="0" y="0"/>
            <a:chExt cx="4048760" cy="2997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48760" cy="299720"/>
            </a:xfrm>
            <a:custGeom>
              <a:avLst/>
              <a:gdLst/>
              <a:ahLst/>
              <a:cxnLst/>
              <a:rect r="r" b="b" t="t" l="l"/>
              <a:pathLst>
                <a:path h="299720" w="4048760">
                  <a:moveTo>
                    <a:pt x="0" y="0"/>
                  </a:moveTo>
                  <a:lnTo>
                    <a:pt x="4048760" y="0"/>
                  </a:lnTo>
                  <a:lnTo>
                    <a:pt x="404876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73971" y="10071735"/>
            <a:ext cx="1843278" cy="224790"/>
            <a:chOff x="0" y="0"/>
            <a:chExt cx="2457704" cy="2997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57704" cy="299720"/>
            </a:xfrm>
            <a:custGeom>
              <a:avLst/>
              <a:gdLst/>
              <a:ahLst/>
              <a:cxnLst/>
              <a:rect r="r" b="b" t="t" l="l"/>
              <a:pathLst>
                <a:path h="299720" w="2457704">
                  <a:moveTo>
                    <a:pt x="0" y="0"/>
                  </a:moveTo>
                  <a:lnTo>
                    <a:pt x="2457704" y="0"/>
                  </a:lnTo>
                  <a:lnTo>
                    <a:pt x="2457704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498199" y="10071735"/>
            <a:ext cx="1802130" cy="224790"/>
            <a:chOff x="0" y="0"/>
            <a:chExt cx="2402840" cy="299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02840" cy="299720"/>
            </a:xfrm>
            <a:custGeom>
              <a:avLst/>
              <a:gdLst/>
              <a:ahLst/>
              <a:cxnLst/>
              <a:rect r="r" b="b" t="t" l="l"/>
              <a:pathLst>
                <a:path h="299720" w="2402840">
                  <a:moveTo>
                    <a:pt x="0" y="0"/>
                  </a:moveTo>
                  <a:lnTo>
                    <a:pt x="2402840" y="0"/>
                  </a:lnTo>
                  <a:lnTo>
                    <a:pt x="240284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281279" y="10071735"/>
            <a:ext cx="1390650" cy="224790"/>
            <a:chOff x="0" y="0"/>
            <a:chExt cx="1854200" cy="299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54200" cy="299720"/>
            </a:xfrm>
            <a:custGeom>
              <a:avLst/>
              <a:gdLst/>
              <a:ahLst/>
              <a:cxnLst/>
              <a:rect r="r" b="b" t="t" l="l"/>
              <a:pathLst>
                <a:path h="299720" w="1854200">
                  <a:moveTo>
                    <a:pt x="0" y="0"/>
                  </a:moveTo>
                  <a:lnTo>
                    <a:pt x="1854200" y="0"/>
                  </a:lnTo>
                  <a:lnTo>
                    <a:pt x="185420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4B5C1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652879" y="10071735"/>
            <a:ext cx="3645560" cy="224790"/>
            <a:chOff x="0" y="0"/>
            <a:chExt cx="4860747" cy="2997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60798" cy="299720"/>
            </a:xfrm>
            <a:custGeom>
              <a:avLst/>
              <a:gdLst/>
              <a:ahLst/>
              <a:cxnLst/>
              <a:rect r="r" b="b" t="t" l="l"/>
              <a:pathLst>
                <a:path h="299720" w="4860798">
                  <a:moveTo>
                    <a:pt x="0" y="0"/>
                  </a:moveTo>
                  <a:lnTo>
                    <a:pt x="4860798" y="0"/>
                  </a:lnTo>
                  <a:lnTo>
                    <a:pt x="4860798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B4DAE2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987552" y="2523744"/>
            <a:ext cx="16390620" cy="1220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450" b="true">
                <a:solidFill>
                  <a:srgbClr val="19243A"/>
                </a:solidFill>
                <a:latin typeface="Inter Bold"/>
                <a:ea typeface="Inter Bold"/>
                <a:cs typeface="Inter Bold"/>
                <a:sym typeface="Inter Bold"/>
              </a:rPr>
              <a:t>Веб-система для анализа истории и прогнозирования</a:t>
            </a:r>
          </a:p>
          <a:p>
            <a:pPr algn="l">
              <a:lnSpc>
                <a:spcPts val="4140"/>
              </a:lnSpc>
            </a:pPr>
            <a:r>
              <a:rPr lang="en-US" sz="3450" b="true">
                <a:solidFill>
                  <a:srgbClr val="19243A"/>
                </a:solidFill>
                <a:latin typeface="Inter Bold"/>
                <a:ea typeface="Inter Bold"/>
                <a:cs typeface="Inter Bold"/>
                <a:sym typeface="Inter Bold"/>
              </a:rPr>
              <a:t>числа обращений по выбранному подразделению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088708" y="4161092"/>
            <a:ext cx="4913757" cy="2143125"/>
            <a:chOff x="0" y="0"/>
            <a:chExt cx="6551676" cy="28575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551676" cy="2857500"/>
            </a:xfrm>
            <a:custGeom>
              <a:avLst/>
              <a:gdLst/>
              <a:ahLst/>
              <a:cxnLst/>
              <a:rect r="r" b="b" t="t" l="l"/>
              <a:pathLst>
                <a:path h="2857500" w="6551676">
                  <a:moveTo>
                    <a:pt x="0" y="295021"/>
                  </a:moveTo>
                  <a:cubicBezTo>
                    <a:pt x="0" y="132080"/>
                    <a:pt x="132080" y="0"/>
                    <a:pt x="295021" y="0"/>
                  </a:cubicBezTo>
                  <a:lnTo>
                    <a:pt x="6256655" y="0"/>
                  </a:lnTo>
                  <a:cubicBezTo>
                    <a:pt x="6419596" y="0"/>
                    <a:pt x="6551676" y="132080"/>
                    <a:pt x="6551676" y="295021"/>
                  </a:cubicBezTo>
                  <a:lnTo>
                    <a:pt x="6551676" y="2562479"/>
                  </a:lnTo>
                  <a:cubicBezTo>
                    <a:pt x="6551676" y="2725420"/>
                    <a:pt x="6419596" y="2857500"/>
                    <a:pt x="6256655" y="2857500"/>
                  </a:cubicBezTo>
                  <a:lnTo>
                    <a:pt x="295021" y="2857500"/>
                  </a:lnTo>
                  <a:cubicBezTo>
                    <a:pt x="132080" y="2857500"/>
                    <a:pt x="0" y="2725420"/>
                    <a:pt x="0" y="2562479"/>
                  </a:cubicBezTo>
                  <a:close/>
                </a:path>
              </a:pathLst>
            </a:custGeom>
            <a:solidFill>
              <a:srgbClr val="F8F9FE"/>
            </a:solidFill>
            <a:ln w="17145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426464" y="4457700"/>
            <a:ext cx="960120" cy="726948"/>
            <a:chOff x="0" y="0"/>
            <a:chExt cx="1280160" cy="96926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80160" cy="969264"/>
            </a:xfrm>
            <a:custGeom>
              <a:avLst/>
              <a:gdLst/>
              <a:ahLst/>
              <a:cxnLst/>
              <a:rect r="r" b="b" t="t" l="l"/>
              <a:pathLst>
                <a:path h="969264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969264"/>
                  </a:lnTo>
                  <a:lnTo>
                    <a:pt x="0" y="9692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7144" t="0" r="-47144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1280160" cy="969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01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441448" y="4526280"/>
            <a:ext cx="3086100" cy="576072"/>
            <a:chOff x="0" y="0"/>
            <a:chExt cx="4114800" cy="76809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114800" cy="768096"/>
            </a:xfrm>
            <a:custGeom>
              <a:avLst/>
              <a:gdLst/>
              <a:ahLst/>
              <a:cxnLst/>
              <a:rect r="r" b="b" t="t" l="l"/>
              <a:pathLst>
                <a:path h="768096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411480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Выбрать службу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158484" y="4786884"/>
            <a:ext cx="548640" cy="658368"/>
            <a:chOff x="0" y="0"/>
            <a:chExt cx="731520" cy="87782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31520" cy="877824"/>
            </a:xfrm>
            <a:custGeom>
              <a:avLst/>
              <a:gdLst/>
              <a:ahLst/>
              <a:cxnLst/>
              <a:rect r="r" b="b" t="t" l="l"/>
              <a:pathLst>
                <a:path h="87782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3964" t="0" r="-103964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731520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→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780847" y="4161092"/>
            <a:ext cx="4913757" cy="2143125"/>
            <a:chOff x="0" y="0"/>
            <a:chExt cx="6551676" cy="28575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551676" cy="2857500"/>
            </a:xfrm>
            <a:custGeom>
              <a:avLst/>
              <a:gdLst/>
              <a:ahLst/>
              <a:cxnLst/>
              <a:rect r="r" b="b" t="t" l="l"/>
              <a:pathLst>
                <a:path h="2857500" w="6551676">
                  <a:moveTo>
                    <a:pt x="0" y="295021"/>
                  </a:moveTo>
                  <a:cubicBezTo>
                    <a:pt x="0" y="132080"/>
                    <a:pt x="132080" y="0"/>
                    <a:pt x="295021" y="0"/>
                  </a:cubicBezTo>
                  <a:lnTo>
                    <a:pt x="6256655" y="0"/>
                  </a:lnTo>
                  <a:cubicBezTo>
                    <a:pt x="6419596" y="0"/>
                    <a:pt x="6551676" y="132080"/>
                    <a:pt x="6551676" y="295021"/>
                  </a:cubicBezTo>
                  <a:lnTo>
                    <a:pt x="6551676" y="2562479"/>
                  </a:lnTo>
                  <a:cubicBezTo>
                    <a:pt x="6551676" y="2725420"/>
                    <a:pt x="6419596" y="2857500"/>
                    <a:pt x="6256655" y="2857500"/>
                  </a:cubicBezTo>
                  <a:lnTo>
                    <a:pt x="295021" y="2857500"/>
                  </a:lnTo>
                  <a:cubicBezTo>
                    <a:pt x="132080" y="2857500"/>
                    <a:pt x="0" y="2725420"/>
                    <a:pt x="0" y="2562479"/>
                  </a:cubicBezTo>
                  <a:close/>
                </a:path>
              </a:pathLst>
            </a:custGeom>
            <a:solidFill>
              <a:srgbClr val="F8F9FE"/>
            </a:solidFill>
            <a:ln w="17145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7118604" y="4457700"/>
            <a:ext cx="960120" cy="726948"/>
            <a:chOff x="0" y="0"/>
            <a:chExt cx="1280160" cy="96926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80160" cy="969264"/>
            </a:xfrm>
            <a:custGeom>
              <a:avLst/>
              <a:gdLst/>
              <a:ahLst/>
              <a:cxnLst/>
              <a:rect r="r" b="b" t="t" l="l"/>
              <a:pathLst>
                <a:path h="969264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969264"/>
                  </a:lnTo>
                  <a:lnTo>
                    <a:pt x="0" y="9692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7144" t="0" r="-47144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1280160" cy="969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02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133588" y="4526280"/>
            <a:ext cx="3086100" cy="576072"/>
            <a:chOff x="0" y="0"/>
            <a:chExt cx="4114800" cy="76809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114800" cy="768096"/>
            </a:xfrm>
            <a:custGeom>
              <a:avLst/>
              <a:gdLst/>
              <a:ahLst/>
              <a:cxnLst/>
              <a:rect r="r" b="b" t="t" l="l"/>
              <a:pathLst>
                <a:path h="768096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411480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Указать дату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850624" y="4786884"/>
            <a:ext cx="548640" cy="658368"/>
            <a:chOff x="0" y="0"/>
            <a:chExt cx="731520" cy="87782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31520" cy="877824"/>
            </a:xfrm>
            <a:custGeom>
              <a:avLst/>
              <a:gdLst/>
              <a:ahLst/>
              <a:cxnLst/>
              <a:rect r="r" b="b" t="t" l="l"/>
              <a:pathLst>
                <a:path h="87782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3964" t="0" r="-103964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731520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→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472988" y="4161092"/>
            <a:ext cx="4913757" cy="2143125"/>
            <a:chOff x="0" y="0"/>
            <a:chExt cx="6551676" cy="28575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551676" cy="2857500"/>
            </a:xfrm>
            <a:custGeom>
              <a:avLst/>
              <a:gdLst/>
              <a:ahLst/>
              <a:cxnLst/>
              <a:rect r="r" b="b" t="t" l="l"/>
              <a:pathLst>
                <a:path h="2857500" w="6551676">
                  <a:moveTo>
                    <a:pt x="0" y="295021"/>
                  </a:moveTo>
                  <a:cubicBezTo>
                    <a:pt x="0" y="132080"/>
                    <a:pt x="132080" y="0"/>
                    <a:pt x="295021" y="0"/>
                  </a:cubicBezTo>
                  <a:lnTo>
                    <a:pt x="6256655" y="0"/>
                  </a:lnTo>
                  <a:cubicBezTo>
                    <a:pt x="6419596" y="0"/>
                    <a:pt x="6551676" y="132080"/>
                    <a:pt x="6551676" y="295021"/>
                  </a:cubicBezTo>
                  <a:lnTo>
                    <a:pt x="6551676" y="2562479"/>
                  </a:lnTo>
                  <a:cubicBezTo>
                    <a:pt x="6551676" y="2725420"/>
                    <a:pt x="6419596" y="2857500"/>
                    <a:pt x="6256655" y="2857500"/>
                  </a:cubicBezTo>
                  <a:lnTo>
                    <a:pt x="295021" y="2857500"/>
                  </a:lnTo>
                  <a:cubicBezTo>
                    <a:pt x="132080" y="2857500"/>
                    <a:pt x="0" y="2725420"/>
                    <a:pt x="0" y="2562479"/>
                  </a:cubicBezTo>
                  <a:close/>
                </a:path>
              </a:pathLst>
            </a:custGeom>
            <a:solidFill>
              <a:srgbClr val="F8F9FE"/>
            </a:solidFill>
            <a:ln w="17145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2810744" y="4457700"/>
            <a:ext cx="960120" cy="726948"/>
            <a:chOff x="0" y="0"/>
            <a:chExt cx="1280160" cy="96926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280160" cy="969264"/>
            </a:xfrm>
            <a:custGeom>
              <a:avLst/>
              <a:gdLst/>
              <a:ahLst/>
              <a:cxnLst/>
              <a:rect r="r" b="b" t="t" l="l"/>
              <a:pathLst>
                <a:path h="969264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969264"/>
                  </a:lnTo>
                  <a:lnTo>
                    <a:pt x="0" y="9692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7144" t="0" r="-47144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1280160" cy="969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03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3825728" y="4526280"/>
            <a:ext cx="3086100" cy="576072"/>
            <a:chOff x="0" y="0"/>
            <a:chExt cx="4114800" cy="76809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114800" cy="768096"/>
            </a:xfrm>
            <a:custGeom>
              <a:avLst/>
              <a:gdLst/>
              <a:ahLst/>
              <a:cxnLst/>
              <a:rect r="r" b="b" t="t" l="l"/>
              <a:pathLst>
                <a:path h="768096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411480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Получить прогноз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97280" y="6926580"/>
            <a:ext cx="13716000" cy="425196"/>
            <a:chOff x="0" y="0"/>
            <a:chExt cx="18288000" cy="56692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8288000" cy="566928"/>
            </a:xfrm>
            <a:custGeom>
              <a:avLst/>
              <a:gdLst/>
              <a:ahLst/>
              <a:cxnLst/>
              <a:rect r="r" b="b" t="t" l="l"/>
              <a:pathLst>
                <a:path h="566928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66928"/>
                  </a:lnTo>
                  <a:lnTo>
                    <a:pt x="0" y="5669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8549" r="0" b="-578549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18288000" cy="5764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64738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Поддерживаемые подразделения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074039" y="7575423"/>
            <a:ext cx="3009138" cy="704850"/>
            <a:chOff x="0" y="0"/>
            <a:chExt cx="4012184" cy="9398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012184" cy="939800"/>
            </a:xfrm>
            <a:custGeom>
              <a:avLst/>
              <a:gdLst/>
              <a:ahLst/>
              <a:cxnLst/>
              <a:rect r="r" b="b" t="t" l="l"/>
              <a:pathLst>
                <a:path h="939800" w="4012184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3542284" y="0"/>
                  </a:lnTo>
                  <a:cubicBezTo>
                    <a:pt x="3801745" y="0"/>
                    <a:pt x="4012184" y="210439"/>
                    <a:pt x="4012184" y="469900"/>
                  </a:cubicBezTo>
                  <a:cubicBezTo>
                    <a:pt x="4012184" y="729361"/>
                    <a:pt x="3801745" y="939800"/>
                    <a:pt x="3542284" y="939800"/>
                  </a:cubicBez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F5EAFF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61872" y="7598664"/>
            <a:ext cx="2633472" cy="658368"/>
            <a:chOff x="0" y="0"/>
            <a:chExt cx="3511296" cy="87782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511296" cy="877824"/>
            </a:xfrm>
            <a:custGeom>
              <a:avLst/>
              <a:gdLst/>
              <a:ahLst/>
              <a:cxnLst/>
              <a:rect r="r" b="b" t="t" l="l"/>
              <a:pathLst>
                <a:path h="877824" w="3511296">
                  <a:moveTo>
                    <a:pt x="0" y="0"/>
                  </a:moveTo>
                  <a:lnTo>
                    <a:pt x="3511296" y="0"/>
                  </a:lnTo>
                  <a:lnTo>
                    <a:pt x="3511296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3511296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5D2DC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Учебный отдел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4338447" y="7575423"/>
            <a:ext cx="2871978" cy="704850"/>
            <a:chOff x="0" y="0"/>
            <a:chExt cx="3829304" cy="9398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829304" cy="939800"/>
            </a:xfrm>
            <a:custGeom>
              <a:avLst/>
              <a:gdLst/>
              <a:ahLst/>
              <a:cxnLst/>
              <a:rect r="r" b="b" t="t" l="l"/>
              <a:pathLst>
                <a:path h="939800" w="3829304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3359404" y="0"/>
                  </a:lnTo>
                  <a:cubicBezTo>
                    <a:pt x="3618865" y="0"/>
                    <a:pt x="3829304" y="210439"/>
                    <a:pt x="3829304" y="469900"/>
                  </a:cubicBezTo>
                  <a:cubicBezTo>
                    <a:pt x="3829304" y="729361"/>
                    <a:pt x="3618865" y="939800"/>
                    <a:pt x="3359404" y="939800"/>
                  </a:cubicBez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EAF0FD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4526280" y="7598664"/>
            <a:ext cx="2496312" cy="658368"/>
            <a:chOff x="0" y="0"/>
            <a:chExt cx="3328416" cy="87782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328416" cy="877824"/>
            </a:xfrm>
            <a:custGeom>
              <a:avLst/>
              <a:gdLst/>
              <a:ahLst/>
              <a:cxnLst/>
              <a:rect r="r" b="b" t="t" l="l"/>
              <a:pathLst>
                <a:path h="877824" w="3328416">
                  <a:moveTo>
                    <a:pt x="0" y="0"/>
                  </a:moveTo>
                  <a:lnTo>
                    <a:pt x="3328416" y="0"/>
                  </a:lnTo>
                  <a:lnTo>
                    <a:pt x="3328416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880" r="0" b="-2388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3328416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3669E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Бухгалтерия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7451979" y="7575423"/>
            <a:ext cx="3653790" cy="704850"/>
            <a:chOff x="0" y="0"/>
            <a:chExt cx="4871720" cy="9398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871720" cy="939800"/>
            </a:xfrm>
            <a:custGeom>
              <a:avLst/>
              <a:gdLst/>
              <a:ahLst/>
              <a:cxnLst/>
              <a:rect r="r" b="b" t="t" l="l"/>
              <a:pathLst>
                <a:path h="939800" w="487172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4401820" y="0"/>
                  </a:lnTo>
                  <a:cubicBezTo>
                    <a:pt x="4661281" y="0"/>
                    <a:pt x="4871720" y="210439"/>
                    <a:pt x="4871720" y="469900"/>
                  </a:cubicBezTo>
                  <a:cubicBezTo>
                    <a:pt x="4871720" y="729361"/>
                    <a:pt x="4661281" y="939800"/>
                    <a:pt x="4401820" y="939800"/>
                  </a:cubicBez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F5EAFF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7639812" y="7598664"/>
            <a:ext cx="3278124" cy="658368"/>
            <a:chOff x="0" y="0"/>
            <a:chExt cx="4370832" cy="87782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370832" cy="877824"/>
            </a:xfrm>
            <a:custGeom>
              <a:avLst/>
              <a:gdLst/>
              <a:ahLst/>
              <a:cxnLst/>
              <a:rect r="r" b="b" t="t" l="l"/>
              <a:pathLst>
                <a:path h="877824" w="4370832">
                  <a:moveTo>
                    <a:pt x="0" y="0"/>
                  </a:moveTo>
                  <a:lnTo>
                    <a:pt x="4370832" y="0"/>
                  </a:lnTo>
                  <a:lnTo>
                    <a:pt x="4370832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019" r="0" b="-47019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9525"/>
              <a:ext cx="4370832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5D2DC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Приёмная комиссия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1347323" y="7575423"/>
            <a:ext cx="2707386" cy="704850"/>
            <a:chOff x="0" y="0"/>
            <a:chExt cx="3609848" cy="9398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609848" cy="939800"/>
            </a:xfrm>
            <a:custGeom>
              <a:avLst/>
              <a:gdLst/>
              <a:ahLst/>
              <a:cxnLst/>
              <a:rect r="r" b="b" t="t" l="l"/>
              <a:pathLst>
                <a:path h="939800" w="3609848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3139948" y="0"/>
                  </a:lnTo>
                  <a:cubicBezTo>
                    <a:pt x="3399409" y="0"/>
                    <a:pt x="3609848" y="210439"/>
                    <a:pt x="3609848" y="469900"/>
                  </a:cubicBezTo>
                  <a:cubicBezTo>
                    <a:pt x="3609848" y="729361"/>
                    <a:pt x="3399409" y="939800"/>
                    <a:pt x="3139948" y="939800"/>
                  </a:cubicBez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EAF0FD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1535156" y="7598664"/>
            <a:ext cx="2331720" cy="658368"/>
            <a:chOff x="0" y="0"/>
            <a:chExt cx="3108960" cy="87782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108960" cy="877824"/>
            </a:xfrm>
            <a:custGeom>
              <a:avLst/>
              <a:gdLst/>
              <a:ahLst/>
              <a:cxnLst/>
              <a:rect r="r" b="b" t="t" l="l"/>
              <a:pathLst>
                <a:path h="877824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009" r="0" b="-19009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9525"/>
              <a:ext cx="310896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3669E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Общежития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4323695" y="7575423"/>
            <a:ext cx="2844546" cy="704850"/>
            <a:chOff x="0" y="0"/>
            <a:chExt cx="3792728" cy="9398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792728" cy="939800"/>
            </a:xfrm>
            <a:custGeom>
              <a:avLst/>
              <a:gdLst/>
              <a:ahLst/>
              <a:cxnLst/>
              <a:rect r="r" b="b" t="t" l="l"/>
              <a:pathLst>
                <a:path h="939800" w="3792728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3322828" y="0"/>
                  </a:lnTo>
                  <a:cubicBezTo>
                    <a:pt x="3582289" y="0"/>
                    <a:pt x="3792728" y="210439"/>
                    <a:pt x="3792728" y="469900"/>
                  </a:cubicBezTo>
                  <a:cubicBezTo>
                    <a:pt x="3792728" y="729361"/>
                    <a:pt x="3582289" y="939800"/>
                    <a:pt x="3322828" y="939800"/>
                  </a:cubicBez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F5EAFF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4511528" y="7598664"/>
            <a:ext cx="2468880" cy="658368"/>
            <a:chOff x="0" y="0"/>
            <a:chExt cx="3291840" cy="87782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291840" cy="877824"/>
            </a:xfrm>
            <a:custGeom>
              <a:avLst/>
              <a:gdLst/>
              <a:ahLst/>
              <a:cxnLst/>
              <a:rect r="r" b="b" t="t" l="l"/>
              <a:pathLst>
                <a:path h="877824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9525"/>
              <a:ext cx="329184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5D2DC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IT-поддержка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087755" y="8837295"/>
            <a:ext cx="16121634" cy="608838"/>
            <a:chOff x="0" y="0"/>
            <a:chExt cx="21495512" cy="81178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1495511" cy="811784"/>
            </a:xfrm>
            <a:custGeom>
              <a:avLst/>
              <a:gdLst/>
              <a:ahLst/>
              <a:cxnLst/>
              <a:rect r="r" b="b" t="t" l="l"/>
              <a:pathLst>
                <a:path h="811784" w="21495511">
                  <a:moveTo>
                    <a:pt x="0" y="226568"/>
                  </a:moveTo>
                  <a:cubicBezTo>
                    <a:pt x="0" y="101473"/>
                    <a:pt x="101473" y="0"/>
                    <a:pt x="226568" y="0"/>
                  </a:cubicBezTo>
                  <a:lnTo>
                    <a:pt x="21268944" y="0"/>
                  </a:lnTo>
                  <a:cubicBezTo>
                    <a:pt x="21394038" y="0"/>
                    <a:pt x="21495511" y="101473"/>
                    <a:pt x="21495511" y="226568"/>
                  </a:cubicBezTo>
                  <a:lnTo>
                    <a:pt x="21495511" y="585216"/>
                  </a:lnTo>
                  <a:cubicBezTo>
                    <a:pt x="21495511" y="710311"/>
                    <a:pt x="21394038" y="811784"/>
                    <a:pt x="21268944" y="811784"/>
                  </a:cubicBezTo>
                  <a:lnTo>
                    <a:pt x="226568" y="811784"/>
                  </a:lnTo>
                  <a:cubicBezTo>
                    <a:pt x="101473" y="811784"/>
                    <a:pt x="0" y="710311"/>
                    <a:pt x="0" y="585216"/>
                  </a:cubicBezTo>
                  <a:close/>
                </a:path>
              </a:pathLst>
            </a:custGeom>
            <a:solidFill>
              <a:srgbClr val="E9F5FF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371600" y="9011412"/>
            <a:ext cx="15553944" cy="260604"/>
            <a:chOff x="0" y="0"/>
            <a:chExt cx="20738592" cy="34747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0738592" cy="347472"/>
            </a:xfrm>
            <a:custGeom>
              <a:avLst/>
              <a:gdLst/>
              <a:ahLst/>
              <a:cxnLst/>
              <a:rect r="r" b="b" t="t" l="l"/>
              <a:pathLst>
                <a:path h="347472" w="20738592">
                  <a:moveTo>
                    <a:pt x="0" y="0"/>
                  </a:moveTo>
                  <a:lnTo>
                    <a:pt x="20738592" y="0"/>
                  </a:lnTo>
                  <a:lnTo>
                    <a:pt x="20738592" y="347472"/>
                  </a:lnTo>
                  <a:lnTo>
                    <a:pt x="0" y="3474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12949" r="0" b="-1112949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9525"/>
              <a:ext cx="20738592" cy="3569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669E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Режимы: конкретный день · календарная неделя · полный месяц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0392" y="315468"/>
            <a:ext cx="10972800" cy="370332"/>
            <a:chOff x="0" y="0"/>
            <a:chExt cx="14630400" cy="4937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493776"/>
            </a:xfrm>
            <a:custGeom>
              <a:avLst/>
              <a:gdLst/>
              <a:ahLst/>
              <a:cxnLst/>
              <a:rect r="r" b="b" t="t" l="l"/>
              <a:pathLst>
                <a:path h="49377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7334" r="0" b="-52733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4630400" cy="49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94">
                  <a:solidFill>
                    <a:srgbClr val="64738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UNIFORECAST · ML-ПРОЕКТ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51224" y="315468"/>
            <a:ext cx="795528" cy="452628"/>
            <a:chOff x="0" y="0"/>
            <a:chExt cx="1060704" cy="6035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0704" cy="603504"/>
            </a:xfrm>
            <a:custGeom>
              <a:avLst/>
              <a:gdLst/>
              <a:ahLst/>
              <a:cxnLst/>
              <a:rect r="r" b="b" t="t" l="l"/>
              <a:pathLst>
                <a:path h="603504" w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000" t="0" r="-2300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060704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B9AB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04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0392" y="891540"/>
            <a:ext cx="16527780" cy="877824"/>
            <a:chOff x="0" y="0"/>
            <a:chExt cx="22037040" cy="11704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037039" cy="1170432"/>
            </a:xfrm>
            <a:custGeom>
              <a:avLst/>
              <a:gdLst/>
              <a:ahLst/>
              <a:cxnLst/>
              <a:rect r="r" b="b" t="t" l="l"/>
              <a:pathLst>
                <a:path h="1170432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6866" r="0" b="-31686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037040" cy="1170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ДАННЫЕ ДЛЯ ИССЛЕДОВАНИЯ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40867" y="1896999"/>
            <a:ext cx="773430" cy="108204"/>
            <a:chOff x="0" y="0"/>
            <a:chExt cx="1031240" cy="1442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1240" cy="144272"/>
            </a:xfrm>
            <a:custGeom>
              <a:avLst/>
              <a:gdLst/>
              <a:ahLst/>
              <a:cxnLst/>
              <a:rect r="r" b="b" t="t" l="l"/>
              <a:pathLst>
                <a:path h="144272" w="1031240">
                  <a:moveTo>
                    <a:pt x="0" y="0"/>
                  </a:moveTo>
                  <a:lnTo>
                    <a:pt x="1031240" y="0"/>
                  </a:lnTo>
                  <a:lnTo>
                    <a:pt x="1031240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95247" y="1896999"/>
            <a:ext cx="773430" cy="108204"/>
            <a:chOff x="0" y="0"/>
            <a:chExt cx="1031240" cy="1442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31240" cy="144272"/>
            </a:xfrm>
            <a:custGeom>
              <a:avLst/>
              <a:gdLst/>
              <a:ahLst/>
              <a:cxnLst/>
              <a:rect r="r" b="b" t="t" l="l"/>
              <a:pathLst>
                <a:path h="144272" w="1031240">
                  <a:moveTo>
                    <a:pt x="0" y="0"/>
                  </a:moveTo>
                  <a:lnTo>
                    <a:pt x="1031240" y="0"/>
                  </a:lnTo>
                  <a:lnTo>
                    <a:pt x="1031240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8C14D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349627" y="1896999"/>
            <a:ext cx="457962" cy="108204"/>
            <a:chOff x="0" y="0"/>
            <a:chExt cx="610616" cy="1442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0616" cy="144272"/>
            </a:xfrm>
            <a:custGeom>
              <a:avLst/>
              <a:gdLst/>
              <a:ahLst/>
              <a:cxnLst/>
              <a:rect r="r" b="b" t="t" l="l"/>
              <a:pathLst>
                <a:path h="144272" w="610616">
                  <a:moveTo>
                    <a:pt x="0" y="0"/>
                  </a:moveTo>
                  <a:lnTo>
                    <a:pt x="610616" y="0"/>
                  </a:lnTo>
                  <a:lnTo>
                    <a:pt x="610616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788539" y="1896999"/>
            <a:ext cx="869442" cy="108204"/>
            <a:chOff x="0" y="0"/>
            <a:chExt cx="1159256" cy="1442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59256" cy="144272"/>
            </a:xfrm>
            <a:custGeom>
              <a:avLst/>
              <a:gdLst/>
              <a:ahLst/>
              <a:cxnLst/>
              <a:rect r="r" b="b" t="t" l="l"/>
              <a:pathLst>
                <a:path h="144272" w="1159256">
                  <a:moveTo>
                    <a:pt x="0" y="0"/>
                  </a:moveTo>
                  <a:lnTo>
                    <a:pt x="1159256" y="0"/>
                  </a:lnTo>
                  <a:lnTo>
                    <a:pt x="1159256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B4DAE2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-9525" y="10071735"/>
            <a:ext cx="1843278" cy="224790"/>
            <a:chOff x="0" y="0"/>
            <a:chExt cx="2457704" cy="2997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57704" cy="299720"/>
            </a:xfrm>
            <a:custGeom>
              <a:avLst/>
              <a:gdLst/>
              <a:ahLst/>
              <a:cxnLst/>
              <a:rect r="r" b="b" t="t" l="l"/>
              <a:pathLst>
                <a:path h="299720" w="2457704">
                  <a:moveTo>
                    <a:pt x="0" y="0"/>
                  </a:moveTo>
                  <a:lnTo>
                    <a:pt x="2457704" y="0"/>
                  </a:lnTo>
                  <a:lnTo>
                    <a:pt x="2457704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814703" y="10071735"/>
            <a:ext cx="3036570" cy="224790"/>
            <a:chOff x="0" y="0"/>
            <a:chExt cx="4048760" cy="299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48760" cy="299720"/>
            </a:xfrm>
            <a:custGeom>
              <a:avLst/>
              <a:gdLst/>
              <a:ahLst/>
              <a:cxnLst/>
              <a:rect r="r" b="b" t="t" l="l"/>
              <a:pathLst>
                <a:path h="299720" w="4048760">
                  <a:moveTo>
                    <a:pt x="0" y="0"/>
                  </a:moveTo>
                  <a:lnTo>
                    <a:pt x="4048760" y="0"/>
                  </a:lnTo>
                  <a:lnTo>
                    <a:pt x="404876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8C14D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832223" y="10071735"/>
            <a:ext cx="1843278" cy="224790"/>
            <a:chOff x="0" y="0"/>
            <a:chExt cx="2457704" cy="299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57704" cy="299720"/>
            </a:xfrm>
            <a:custGeom>
              <a:avLst/>
              <a:gdLst/>
              <a:ahLst/>
              <a:cxnLst/>
              <a:rect r="r" b="b" t="t" l="l"/>
              <a:pathLst>
                <a:path h="299720" w="2457704">
                  <a:moveTo>
                    <a:pt x="0" y="0"/>
                  </a:moveTo>
                  <a:lnTo>
                    <a:pt x="2457704" y="0"/>
                  </a:lnTo>
                  <a:lnTo>
                    <a:pt x="2457704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4B5C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656451" y="10071735"/>
            <a:ext cx="3036570" cy="224790"/>
            <a:chOff x="0" y="0"/>
            <a:chExt cx="4048760" cy="2997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48760" cy="299720"/>
            </a:xfrm>
            <a:custGeom>
              <a:avLst/>
              <a:gdLst/>
              <a:ahLst/>
              <a:cxnLst/>
              <a:rect r="r" b="b" t="t" l="l"/>
              <a:pathLst>
                <a:path h="299720" w="4048760">
                  <a:moveTo>
                    <a:pt x="0" y="0"/>
                  </a:moveTo>
                  <a:lnTo>
                    <a:pt x="4048760" y="0"/>
                  </a:lnTo>
                  <a:lnTo>
                    <a:pt x="404876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73971" y="10071735"/>
            <a:ext cx="1843278" cy="224790"/>
            <a:chOff x="0" y="0"/>
            <a:chExt cx="2457704" cy="2997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57704" cy="299720"/>
            </a:xfrm>
            <a:custGeom>
              <a:avLst/>
              <a:gdLst/>
              <a:ahLst/>
              <a:cxnLst/>
              <a:rect r="r" b="b" t="t" l="l"/>
              <a:pathLst>
                <a:path h="299720" w="2457704">
                  <a:moveTo>
                    <a:pt x="0" y="0"/>
                  </a:moveTo>
                  <a:lnTo>
                    <a:pt x="2457704" y="0"/>
                  </a:lnTo>
                  <a:lnTo>
                    <a:pt x="2457704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498199" y="10071735"/>
            <a:ext cx="1802130" cy="224790"/>
            <a:chOff x="0" y="0"/>
            <a:chExt cx="2402840" cy="299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02840" cy="299720"/>
            </a:xfrm>
            <a:custGeom>
              <a:avLst/>
              <a:gdLst/>
              <a:ahLst/>
              <a:cxnLst/>
              <a:rect r="r" b="b" t="t" l="l"/>
              <a:pathLst>
                <a:path h="299720" w="2402840">
                  <a:moveTo>
                    <a:pt x="0" y="0"/>
                  </a:moveTo>
                  <a:lnTo>
                    <a:pt x="2402840" y="0"/>
                  </a:lnTo>
                  <a:lnTo>
                    <a:pt x="240284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281279" y="10071735"/>
            <a:ext cx="1390650" cy="224790"/>
            <a:chOff x="0" y="0"/>
            <a:chExt cx="1854200" cy="299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54200" cy="299720"/>
            </a:xfrm>
            <a:custGeom>
              <a:avLst/>
              <a:gdLst/>
              <a:ahLst/>
              <a:cxnLst/>
              <a:rect r="r" b="b" t="t" l="l"/>
              <a:pathLst>
                <a:path h="299720" w="1854200">
                  <a:moveTo>
                    <a:pt x="0" y="0"/>
                  </a:moveTo>
                  <a:lnTo>
                    <a:pt x="1854200" y="0"/>
                  </a:lnTo>
                  <a:lnTo>
                    <a:pt x="185420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4B5C1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652879" y="10071735"/>
            <a:ext cx="3645560" cy="224790"/>
            <a:chOff x="0" y="0"/>
            <a:chExt cx="4860747" cy="2997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60798" cy="299720"/>
            </a:xfrm>
            <a:custGeom>
              <a:avLst/>
              <a:gdLst/>
              <a:ahLst/>
              <a:cxnLst/>
              <a:rect r="r" b="b" t="t" l="l"/>
              <a:pathLst>
                <a:path h="299720" w="4860798">
                  <a:moveTo>
                    <a:pt x="0" y="0"/>
                  </a:moveTo>
                  <a:lnTo>
                    <a:pt x="4860798" y="0"/>
                  </a:lnTo>
                  <a:lnTo>
                    <a:pt x="4860798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B4DAE2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92695" y="2391728"/>
            <a:ext cx="5215509" cy="2033397"/>
            <a:chOff x="0" y="0"/>
            <a:chExt cx="6954012" cy="271119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954012" cy="2711196"/>
            </a:xfrm>
            <a:custGeom>
              <a:avLst/>
              <a:gdLst/>
              <a:ahLst/>
              <a:cxnLst/>
              <a:rect r="r" b="b" t="t" l="l"/>
              <a:pathLst>
                <a:path h="2711196" w="6954012">
                  <a:moveTo>
                    <a:pt x="0" y="295148"/>
                  </a:moveTo>
                  <a:cubicBezTo>
                    <a:pt x="0" y="132080"/>
                    <a:pt x="132080" y="0"/>
                    <a:pt x="295148" y="0"/>
                  </a:cubicBezTo>
                  <a:lnTo>
                    <a:pt x="6658864" y="0"/>
                  </a:lnTo>
                  <a:cubicBezTo>
                    <a:pt x="6821805" y="0"/>
                    <a:pt x="6954012" y="132080"/>
                    <a:pt x="6954012" y="295148"/>
                  </a:cubicBezTo>
                  <a:lnTo>
                    <a:pt x="6954012" y="2416048"/>
                  </a:lnTo>
                  <a:cubicBezTo>
                    <a:pt x="6954012" y="2578989"/>
                    <a:pt x="6821932" y="2711196"/>
                    <a:pt x="6658864" y="2711196"/>
                  </a:cubicBezTo>
                  <a:lnTo>
                    <a:pt x="295148" y="2711196"/>
                  </a:lnTo>
                  <a:cubicBezTo>
                    <a:pt x="132080" y="2711196"/>
                    <a:pt x="0" y="2579116"/>
                    <a:pt x="0" y="2416048"/>
                  </a:cubicBezTo>
                  <a:close/>
                </a:path>
              </a:pathLst>
            </a:custGeom>
            <a:solidFill>
              <a:srgbClr val="F6F8FD"/>
            </a:solidFill>
            <a:ln w="17145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316736" y="2647188"/>
            <a:ext cx="4567428" cy="768096"/>
            <a:chOff x="0" y="0"/>
            <a:chExt cx="6089904" cy="102412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089904" cy="1024128"/>
            </a:xfrm>
            <a:custGeom>
              <a:avLst/>
              <a:gdLst/>
              <a:ahLst/>
              <a:cxnLst/>
              <a:rect r="r" b="b" t="t" l="l"/>
              <a:pathLst>
                <a:path h="1024128" w="6089904">
                  <a:moveTo>
                    <a:pt x="0" y="0"/>
                  </a:moveTo>
                  <a:lnTo>
                    <a:pt x="6089904" y="0"/>
                  </a:lnTo>
                  <a:lnTo>
                    <a:pt x="608990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866" r="0" b="-6586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6089904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 года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316736" y="3529203"/>
            <a:ext cx="4567428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4738C"/>
                </a:solidFill>
                <a:latin typeface="Inter"/>
                <a:ea typeface="Inter"/>
                <a:cs typeface="Inter"/>
                <a:sym typeface="Inter"/>
              </a:rPr>
              <a:t>сентябрь 2023 — сентябрь 2026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6533960" y="2391728"/>
            <a:ext cx="5215509" cy="2033397"/>
            <a:chOff x="0" y="0"/>
            <a:chExt cx="6954012" cy="271119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954012" cy="2711196"/>
            </a:xfrm>
            <a:custGeom>
              <a:avLst/>
              <a:gdLst/>
              <a:ahLst/>
              <a:cxnLst/>
              <a:rect r="r" b="b" t="t" l="l"/>
              <a:pathLst>
                <a:path h="2711196" w="6954012">
                  <a:moveTo>
                    <a:pt x="0" y="295148"/>
                  </a:moveTo>
                  <a:cubicBezTo>
                    <a:pt x="0" y="132080"/>
                    <a:pt x="132080" y="0"/>
                    <a:pt x="295148" y="0"/>
                  </a:cubicBezTo>
                  <a:lnTo>
                    <a:pt x="6658864" y="0"/>
                  </a:lnTo>
                  <a:cubicBezTo>
                    <a:pt x="6821805" y="0"/>
                    <a:pt x="6954012" y="132080"/>
                    <a:pt x="6954012" y="295148"/>
                  </a:cubicBezTo>
                  <a:lnTo>
                    <a:pt x="6954012" y="2416048"/>
                  </a:lnTo>
                  <a:cubicBezTo>
                    <a:pt x="6954012" y="2578989"/>
                    <a:pt x="6821932" y="2711196"/>
                    <a:pt x="6658864" y="2711196"/>
                  </a:cubicBezTo>
                  <a:lnTo>
                    <a:pt x="295148" y="2711196"/>
                  </a:lnTo>
                  <a:cubicBezTo>
                    <a:pt x="132080" y="2711196"/>
                    <a:pt x="0" y="2579116"/>
                    <a:pt x="0" y="2416048"/>
                  </a:cubicBezTo>
                  <a:close/>
                </a:path>
              </a:pathLst>
            </a:custGeom>
            <a:solidFill>
              <a:srgbClr val="F6F8FD"/>
            </a:solidFill>
            <a:ln w="17145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6858000" y="2647188"/>
            <a:ext cx="4567428" cy="768096"/>
            <a:chOff x="0" y="0"/>
            <a:chExt cx="6089904" cy="102412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089904" cy="1024128"/>
            </a:xfrm>
            <a:custGeom>
              <a:avLst/>
              <a:gdLst/>
              <a:ahLst/>
              <a:cxnLst/>
              <a:rect r="r" b="b" t="t" l="l"/>
              <a:pathLst>
                <a:path h="1024128" w="6089904">
                  <a:moveTo>
                    <a:pt x="0" y="0"/>
                  </a:moveTo>
                  <a:lnTo>
                    <a:pt x="6089904" y="0"/>
                  </a:lnTo>
                  <a:lnTo>
                    <a:pt x="608990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866" r="0" b="-6586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6089904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3669E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5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6858000" y="3529203"/>
            <a:ext cx="4567428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4738C"/>
                </a:solidFill>
                <a:latin typeface="Inter"/>
                <a:ea typeface="Inter"/>
                <a:cs typeface="Inter"/>
                <a:sym typeface="Inter"/>
              </a:rPr>
              <a:t>подразделений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2088940" y="2391728"/>
            <a:ext cx="5215509" cy="2033397"/>
            <a:chOff x="0" y="0"/>
            <a:chExt cx="6954012" cy="271119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954012" cy="2711196"/>
            </a:xfrm>
            <a:custGeom>
              <a:avLst/>
              <a:gdLst/>
              <a:ahLst/>
              <a:cxnLst/>
              <a:rect r="r" b="b" t="t" l="l"/>
              <a:pathLst>
                <a:path h="2711196" w="6954012">
                  <a:moveTo>
                    <a:pt x="0" y="295148"/>
                  </a:moveTo>
                  <a:cubicBezTo>
                    <a:pt x="0" y="132080"/>
                    <a:pt x="132080" y="0"/>
                    <a:pt x="295148" y="0"/>
                  </a:cubicBezTo>
                  <a:lnTo>
                    <a:pt x="6658864" y="0"/>
                  </a:lnTo>
                  <a:cubicBezTo>
                    <a:pt x="6821805" y="0"/>
                    <a:pt x="6954012" y="132080"/>
                    <a:pt x="6954012" y="295148"/>
                  </a:cubicBezTo>
                  <a:lnTo>
                    <a:pt x="6954012" y="2416048"/>
                  </a:lnTo>
                  <a:cubicBezTo>
                    <a:pt x="6954012" y="2578989"/>
                    <a:pt x="6821932" y="2711196"/>
                    <a:pt x="6658864" y="2711196"/>
                  </a:cubicBezTo>
                  <a:lnTo>
                    <a:pt x="295148" y="2711196"/>
                  </a:lnTo>
                  <a:cubicBezTo>
                    <a:pt x="132080" y="2711196"/>
                    <a:pt x="0" y="2579116"/>
                    <a:pt x="0" y="2416048"/>
                  </a:cubicBezTo>
                  <a:close/>
                </a:path>
              </a:pathLst>
            </a:custGeom>
            <a:solidFill>
              <a:srgbClr val="F6F8FD"/>
            </a:solidFill>
            <a:ln w="17145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2412980" y="2647188"/>
            <a:ext cx="4567428" cy="768096"/>
            <a:chOff x="0" y="0"/>
            <a:chExt cx="6089904" cy="102412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089904" cy="1024128"/>
            </a:xfrm>
            <a:custGeom>
              <a:avLst/>
              <a:gdLst/>
              <a:ahLst/>
              <a:cxnLst/>
              <a:rect r="r" b="b" t="t" l="l"/>
              <a:pathLst>
                <a:path h="1024128" w="6089904">
                  <a:moveTo>
                    <a:pt x="0" y="0"/>
                  </a:moveTo>
                  <a:lnTo>
                    <a:pt x="6089904" y="0"/>
                  </a:lnTo>
                  <a:lnTo>
                    <a:pt x="608990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866" r="0" b="-6586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6089904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0F986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5 630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2412980" y="3529203"/>
            <a:ext cx="4567428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4738C"/>
                </a:solidFill>
                <a:latin typeface="Inter"/>
                <a:ea typeface="Inter"/>
                <a:cs typeface="Inter"/>
                <a:sym typeface="Inter"/>
              </a:rPr>
              <a:t>строк ежедневной нагрузки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014984" y="5061204"/>
            <a:ext cx="8229600" cy="548640"/>
            <a:chOff x="0" y="0"/>
            <a:chExt cx="1097280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109728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Откуда взялись данные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19175" y="6011799"/>
            <a:ext cx="163068" cy="163068"/>
            <a:chOff x="0" y="0"/>
            <a:chExt cx="217424" cy="21742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7424" cy="217424"/>
            </a:xfrm>
            <a:custGeom>
              <a:avLst/>
              <a:gdLst/>
              <a:ahLst/>
              <a:cxnLst/>
              <a:rect r="r" b="b" t="t" l="l"/>
              <a:pathLst>
                <a:path h="217424" w="217424">
                  <a:moveTo>
                    <a:pt x="0" y="103505"/>
                  </a:moveTo>
                  <a:cubicBezTo>
                    <a:pt x="0" y="46355"/>
                    <a:pt x="46355" y="0"/>
                    <a:pt x="103505" y="0"/>
                  </a:cubicBezTo>
                  <a:lnTo>
                    <a:pt x="113919" y="0"/>
                  </a:lnTo>
                  <a:cubicBezTo>
                    <a:pt x="171069" y="0"/>
                    <a:pt x="217424" y="46355"/>
                    <a:pt x="217424" y="103505"/>
                  </a:cubicBezTo>
                  <a:lnTo>
                    <a:pt x="217424" y="113919"/>
                  </a:lnTo>
                  <a:cubicBezTo>
                    <a:pt x="217424" y="171069"/>
                    <a:pt x="171069" y="217424"/>
                    <a:pt x="113919" y="217424"/>
                  </a:cubicBezTo>
                  <a:lnTo>
                    <a:pt x="103505" y="217424"/>
                  </a:lnTo>
                  <a:cubicBezTo>
                    <a:pt x="46355" y="217424"/>
                    <a:pt x="0" y="171069"/>
                    <a:pt x="0" y="113919"/>
                  </a:cubicBezTo>
                  <a:close/>
                </a:path>
              </a:pathLst>
            </a:custGeom>
            <a:solidFill>
              <a:srgbClr val="8C14DB"/>
            </a:solid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1385316" y="5847207"/>
            <a:ext cx="7461504" cy="942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9243A"/>
                </a:solidFill>
                <a:latin typeface="Inter"/>
                <a:ea typeface="Inter"/>
                <a:cs typeface="Inter"/>
                <a:sym typeface="Inter"/>
              </a:rPr>
              <a:t>Исходные обращения сгенерированы программой generate_data.py.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019175" y="7122795"/>
            <a:ext cx="163068" cy="163068"/>
            <a:chOff x="0" y="0"/>
            <a:chExt cx="217424" cy="21742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7424" cy="217424"/>
            </a:xfrm>
            <a:custGeom>
              <a:avLst/>
              <a:gdLst/>
              <a:ahLst/>
              <a:cxnLst/>
              <a:rect r="r" b="b" t="t" l="l"/>
              <a:pathLst>
                <a:path h="217424" w="217424">
                  <a:moveTo>
                    <a:pt x="0" y="103505"/>
                  </a:moveTo>
                  <a:cubicBezTo>
                    <a:pt x="0" y="46355"/>
                    <a:pt x="46355" y="0"/>
                    <a:pt x="103505" y="0"/>
                  </a:cubicBezTo>
                  <a:lnTo>
                    <a:pt x="113919" y="0"/>
                  </a:lnTo>
                  <a:cubicBezTo>
                    <a:pt x="171069" y="0"/>
                    <a:pt x="217424" y="46355"/>
                    <a:pt x="217424" y="103505"/>
                  </a:cubicBezTo>
                  <a:lnTo>
                    <a:pt x="217424" y="113919"/>
                  </a:lnTo>
                  <a:cubicBezTo>
                    <a:pt x="217424" y="171069"/>
                    <a:pt x="171069" y="217424"/>
                    <a:pt x="113919" y="217424"/>
                  </a:cubicBezTo>
                  <a:lnTo>
                    <a:pt x="103505" y="217424"/>
                  </a:lnTo>
                  <a:cubicBezTo>
                    <a:pt x="46355" y="217424"/>
                    <a:pt x="0" y="171069"/>
                    <a:pt x="0" y="113919"/>
                  </a:cubicBezTo>
                  <a:close/>
                </a:path>
              </a:pathLst>
            </a:custGeom>
            <a:solidFill>
              <a:srgbClr val="8C14DB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1385316" y="6958203"/>
            <a:ext cx="7461504" cy="942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9243A"/>
                </a:solidFill>
                <a:latin typeface="Inter"/>
                <a:ea typeface="Inter"/>
                <a:cs typeface="Inter"/>
                <a:sym typeface="Inter"/>
              </a:rPr>
              <a:t>У каждой заявки есть дата, подразделение и категория.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019175" y="8233791"/>
            <a:ext cx="163068" cy="163068"/>
            <a:chOff x="0" y="0"/>
            <a:chExt cx="217424" cy="21742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17424" cy="217424"/>
            </a:xfrm>
            <a:custGeom>
              <a:avLst/>
              <a:gdLst/>
              <a:ahLst/>
              <a:cxnLst/>
              <a:rect r="r" b="b" t="t" l="l"/>
              <a:pathLst>
                <a:path h="217424" w="217424">
                  <a:moveTo>
                    <a:pt x="0" y="103505"/>
                  </a:moveTo>
                  <a:cubicBezTo>
                    <a:pt x="0" y="46355"/>
                    <a:pt x="46355" y="0"/>
                    <a:pt x="103505" y="0"/>
                  </a:cubicBezTo>
                  <a:lnTo>
                    <a:pt x="113919" y="0"/>
                  </a:lnTo>
                  <a:cubicBezTo>
                    <a:pt x="171069" y="0"/>
                    <a:pt x="217424" y="46355"/>
                    <a:pt x="217424" y="103505"/>
                  </a:cubicBezTo>
                  <a:lnTo>
                    <a:pt x="217424" y="113919"/>
                  </a:lnTo>
                  <a:cubicBezTo>
                    <a:pt x="217424" y="171069"/>
                    <a:pt x="171069" y="217424"/>
                    <a:pt x="113919" y="217424"/>
                  </a:cubicBezTo>
                  <a:lnTo>
                    <a:pt x="103505" y="217424"/>
                  </a:lnTo>
                  <a:cubicBezTo>
                    <a:pt x="46355" y="217424"/>
                    <a:pt x="0" y="171069"/>
                    <a:pt x="0" y="113919"/>
                  </a:cubicBezTo>
                  <a:close/>
                </a:path>
              </a:pathLst>
            </a:custGeom>
            <a:solidFill>
              <a:srgbClr val="8C14DB"/>
            </a:solid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1385316" y="8069199"/>
            <a:ext cx="7461504" cy="942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9243A"/>
                </a:solidFill>
                <a:latin typeface="Inter"/>
                <a:ea typeface="Inter"/>
                <a:cs typeface="Inter"/>
                <a:sym typeface="Inter"/>
              </a:rPr>
              <a:t>Обращения объединены в число заявок за сутки.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9496616" y="5107496"/>
            <a:ext cx="7752969" cy="3747897"/>
            <a:chOff x="0" y="0"/>
            <a:chExt cx="10337292" cy="499719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337292" cy="4997196"/>
            </a:xfrm>
            <a:custGeom>
              <a:avLst/>
              <a:gdLst/>
              <a:ahLst/>
              <a:cxnLst/>
              <a:rect r="r" b="b" t="t" l="l"/>
              <a:pathLst>
                <a:path h="4997196" w="10337292">
                  <a:moveTo>
                    <a:pt x="0" y="293878"/>
                  </a:moveTo>
                  <a:cubicBezTo>
                    <a:pt x="0" y="131572"/>
                    <a:pt x="131572" y="0"/>
                    <a:pt x="293878" y="0"/>
                  </a:cubicBezTo>
                  <a:lnTo>
                    <a:pt x="10043414" y="0"/>
                  </a:lnTo>
                  <a:cubicBezTo>
                    <a:pt x="10205720" y="0"/>
                    <a:pt x="10337292" y="131572"/>
                    <a:pt x="10337292" y="293878"/>
                  </a:cubicBezTo>
                  <a:lnTo>
                    <a:pt x="10337292" y="4703318"/>
                  </a:lnTo>
                  <a:cubicBezTo>
                    <a:pt x="10337292" y="4865624"/>
                    <a:pt x="10205720" y="4997196"/>
                    <a:pt x="10043414" y="4997196"/>
                  </a:cubicBezTo>
                  <a:lnTo>
                    <a:pt x="293878" y="4997196"/>
                  </a:lnTo>
                  <a:cubicBezTo>
                    <a:pt x="131572" y="4997196"/>
                    <a:pt x="0" y="4865624"/>
                    <a:pt x="0" y="4703318"/>
                  </a:cubicBezTo>
                  <a:close/>
                </a:path>
              </a:pathLst>
            </a:custGeom>
            <a:solidFill>
              <a:srgbClr val="FFFFFF"/>
            </a:solidFill>
            <a:ln w="17145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9806940" y="5458968"/>
            <a:ext cx="6720840" cy="480060"/>
            <a:chOff x="0" y="0"/>
            <a:chExt cx="8961120" cy="6400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961120" cy="640080"/>
            </a:xfrm>
            <a:custGeom>
              <a:avLst/>
              <a:gdLst/>
              <a:ahLst/>
              <a:cxnLst/>
              <a:rect r="r" b="b" t="t" l="l"/>
              <a:pathLst>
                <a:path h="6400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896112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Как меняется формат данных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797415" y="6190107"/>
            <a:ext cx="6822186" cy="773430"/>
            <a:chOff x="0" y="0"/>
            <a:chExt cx="9096248" cy="10312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096248" cy="1031240"/>
            </a:xfrm>
            <a:custGeom>
              <a:avLst/>
              <a:gdLst/>
              <a:ahLst/>
              <a:cxnLst/>
              <a:rect r="r" b="b" t="t" l="l"/>
              <a:pathLst>
                <a:path h="1031240" w="9096248">
                  <a:moveTo>
                    <a:pt x="0" y="149987"/>
                  </a:moveTo>
                  <a:cubicBezTo>
                    <a:pt x="0" y="67183"/>
                    <a:pt x="67183" y="0"/>
                    <a:pt x="149987" y="0"/>
                  </a:cubicBezTo>
                  <a:lnTo>
                    <a:pt x="8946261" y="0"/>
                  </a:lnTo>
                  <a:cubicBezTo>
                    <a:pt x="9029065" y="0"/>
                    <a:pt x="9096248" y="67183"/>
                    <a:pt x="9096248" y="149987"/>
                  </a:cubicBezTo>
                  <a:lnTo>
                    <a:pt x="9096248" y="881253"/>
                  </a:lnTo>
                  <a:cubicBezTo>
                    <a:pt x="9096248" y="964057"/>
                    <a:pt x="9029065" y="1031240"/>
                    <a:pt x="8946261" y="1031240"/>
                  </a:cubicBezTo>
                  <a:lnTo>
                    <a:pt x="149987" y="1031240"/>
                  </a:lnTo>
                  <a:cubicBezTo>
                    <a:pt x="67183" y="1031240"/>
                    <a:pt x="0" y="964057"/>
                    <a:pt x="0" y="881253"/>
                  </a:cubicBezTo>
                  <a:close/>
                </a:path>
              </a:pathLst>
            </a:custGeom>
            <a:solidFill>
              <a:srgbClr val="F7EEFF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0067544" y="6377940"/>
            <a:ext cx="6336792" cy="397764"/>
            <a:chOff x="0" y="0"/>
            <a:chExt cx="8449056" cy="53035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449056" cy="530352"/>
            </a:xfrm>
            <a:custGeom>
              <a:avLst/>
              <a:gdLst/>
              <a:ahLst/>
              <a:cxnLst/>
              <a:rect r="r" b="b" t="t" l="l"/>
              <a:pathLst>
                <a:path h="530352" w="8449056">
                  <a:moveTo>
                    <a:pt x="0" y="0"/>
                  </a:moveTo>
                  <a:lnTo>
                    <a:pt x="8449056" y="0"/>
                  </a:lnTo>
                  <a:lnTo>
                    <a:pt x="8449056" y="530352"/>
                  </a:lnTo>
                  <a:lnTo>
                    <a:pt x="0" y="5303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0416" r="0" b="-260416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8449056" cy="5398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5D2DC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request_id · created_at · department · category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0108692" y="7118604"/>
            <a:ext cx="6446520" cy="397764"/>
            <a:chOff x="0" y="0"/>
            <a:chExt cx="8595360" cy="53035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595360" cy="530352"/>
            </a:xfrm>
            <a:custGeom>
              <a:avLst/>
              <a:gdLst/>
              <a:ahLst/>
              <a:cxnLst/>
              <a:rect r="r" b="b" t="t" l="l"/>
              <a:pathLst>
                <a:path h="530352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530352"/>
                  </a:lnTo>
                  <a:lnTo>
                    <a:pt x="0" y="5303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5792" r="0" b="-265792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8595360" cy="5398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4738C"/>
                  </a:solidFill>
                  <a:latin typeface="Inter"/>
                  <a:ea typeface="Inter"/>
                  <a:cs typeface="Inter"/>
                  <a:sym typeface="Inter"/>
                </a:rPr>
                <a:t>↓  группировка по дате и подразделению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797415" y="7794879"/>
            <a:ext cx="6822186" cy="732282"/>
            <a:chOff x="0" y="0"/>
            <a:chExt cx="9096248" cy="97637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096248" cy="976376"/>
            </a:xfrm>
            <a:custGeom>
              <a:avLst/>
              <a:gdLst/>
              <a:ahLst/>
              <a:cxnLst/>
              <a:rect r="r" b="b" t="t" l="l"/>
              <a:pathLst>
                <a:path h="976376" w="9096248">
                  <a:moveTo>
                    <a:pt x="0" y="150241"/>
                  </a:moveTo>
                  <a:cubicBezTo>
                    <a:pt x="0" y="67310"/>
                    <a:pt x="67310" y="0"/>
                    <a:pt x="150241" y="0"/>
                  </a:cubicBezTo>
                  <a:lnTo>
                    <a:pt x="8946007" y="0"/>
                  </a:lnTo>
                  <a:cubicBezTo>
                    <a:pt x="9028938" y="0"/>
                    <a:pt x="9096248" y="67310"/>
                    <a:pt x="9096248" y="150241"/>
                  </a:cubicBezTo>
                  <a:lnTo>
                    <a:pt x="9096248" y="826135"/>
                  </a:lnTo>
                  <a:cubicBezTo>
                    <a:pt x="9096248" y="909066"/>
                    <a:pt x="9028938" y="976376"/>
                    <a:pt x="8946007" y="976376"/>
                  </a:cubicBezTo>
                  <a:lnTo>
                    <a:pt x="150241" y="976376"/>
                  </a:lnTo>
                  <a:cubicBezTo>
                    <a:pt x="67310" y="976376"/>
                    <a:pt x="0" y="909066"/>
                    <a:pt x="0" y="826135"/>
                  </a:cubicBezTo>
                  <a:close/>
                </a:path>
              </a:pathLst>
            </a:custGeom>
            <a:solidFill>
              <a:srgbClr val="EAF2FF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0094976" y="7968996"/>
            <a:ext cx="6309360" cy="315468"/>
            <a:chOff x="0" y="0"/>
            <a:chExt cx="8412480" cy="42062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8412480" cy="420624"/>
            </a:xfrm>
            <a:custGeom>
              <a:avLst/>
              <a:gdLst/>
              <a:ahLst/>
              <a:cxnLst/>
              <a:rect r="r" b="b" t="t" l="l"/>
              <a:pathLst>
                <a:path h="420624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8412480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669E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date · department · requests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0392" y="315468"/>
            <a:ext cx="10972800" cy="370332"/>
            <a:chOff x="0" y="0"/>
            <a:chExt cx="14630400" cy="4937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493776"/>
            </a:xfrm>
            <a:custGeom>
              <a:avLst/>
              <a:gdLst/>
              <a:ahLst/>
              <a:cxnLst/>
              <a:rect r="r" b="b" t="t" l="l"/>
              <a:pathLst>
                <a:path h="49377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7334" r="0" b="-52733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4630400" cy="49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94">
                  <a:solidFill>
                    <a:srgbClr val="64738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UNIFORECAST · ML-ПРОЕКТ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51224" y="315468"/>
            <a:ext cx="795528" cy="452628"/>
            <a:chOff x="0" y="0"/>
            <a:chExt cx="1060704" cy="6035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0704" cy="603504"/>
            </a:xfrm>
            <a:custGeom>
              <a:avLst/>
              <a:gdLst/>
              <a:ahLst/>
              <a:cxnLst/>
              <a:rect r="r" b="b" t="t" l="l"/>
              <a:pathLst>
                <a:path h="603504" w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000" t="0" r="-2300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060704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B9AB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05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0392" y="891540"/>
            <a:ext cx="16527780" cy="877824"/>
            <a:chOff x="0" y="0"/>
            <a:chExt cx="22037040" cy="11704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037039" cy="1170432"/>
            </a:xfrm>
            <a:custGeom>
              <a:avLst/>
              <a:gdLst/>
              <a:ahLst/>
              <a:cxnLst/>
              <a:rect r="r" b="b" t="t" l="l"/>
              <a:pathLst>
                <a:path h="1170432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6866" r="0" b="-31686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037040" cy="1170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ИССЛЕДОВАНИЕ НАГРУЗКИ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40867" y="1896999"/>
            <a:ext cx="773430" cy="108204"/>
            <a:chOff x="0" y="0"/>
            <a:chExt cx="1031240" cy="1442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1240" cy="144272"/>
            </a:xfrm>
            <a:custGeom>
              <a:avLst/>
              <a:gdLst/>
              <a:ahLst/>
              <a:cxnLst/>
              <a:rect r="r" b="b" t="t" l="l"/>
              <a:pathLst>
                <a:path h="144272" w="1031240">
                  <a:moveTo>
                    <a:pt x="0" y="0"/>
                  </a:moveTo>
                  <a:lnTo>
                    <a:pt x="1031240" y="0"/>
                  </a:lnTo>
                  <a:lnTo>
                    <a:pt x="1031240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95247" y="1896999"/>
            <a:ext cx="773430" cy="108204"/>
            <a:chOff x="0" y="0"/>
            <a:chExt cx="1031240" cy="1442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31240" cy="144272"/>
            </a:xfrm>
            <a:custGeom>
              <a:avLst/>
              <a:gdLst/>
              <a:ahLst/>
              <a:cxnLst/>
              <a:rect r="r" b="b" t="t" l="l"/>
              <a:pathLst>
                <a:path h="144272" w="1031240">
                  <a:moveTo>
                    <a:pt x="0" y="0"/>
                  </a:moveTo>
                  <a:lnTo>
                    <a:pt x="1031240" y="0"/>
                  </a:lnTo>
                  <a:lnTo>
                    <a:pt x="1031240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8C14D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349627" y="1896999"/>
            <a:ext cx="457962" cy="108204"/>
            <a:chOff x="0" y="0"/>
            <a:chExt cx="610616" cy="1442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0616" cy="144272"/>
            </a:xfrm>
            <a:custGeom>
              <a:avLst/>
              <a:gdLst/>
              <a:ahLst/>
              <a:cxnLst/>
              <a:rect r="r" b="b" t="t" l="l"/>
              <a:pathLst>
                <a:path h="144272" w="610616">
                  <a:moveTo>
                    <a:pt x="0" y="0"/>
                  </a:moveTo>
                  <a:lnTo>
                    <a:pt x="610616" y="0"/>
                  </a:lnTo>
                  <a:lnTo>
                    <a:pt x="610616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788539" y="1896999"/>
            <a:ext cx="869442" cy="108204"/>
            <a:chOff x="0" y="0"/>
            <a:chExt cx="1159256" cy="1442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59256" cy="144272"/>
            </a:xfrm>
            <a:custGeom>
              <a:avLst/>
              <a:gdLst/>
              <a:ahLst/>
              <a:cxnLst/>
              <a:rect r="r" b="b" t="t" l="l"/>
              <a:pathLst>
                <a:path h="144272" w="1159256">
                  <a:moveTo>
                    <a:pt x="0" y="0"/>
                  </a:moveTo>
                  <a:lnTo>
                    <a:pt x="1159256" y="0"/>
                  </a:lnTo>
                  <a:lnTo>
                    <a:pt x="1159256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B4DAE2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-9525" y="10071735"/>
            <a:ext cx="1843278" cy="224790"/>
            <a:chOff x="0" y="0"/>
            <a:chExt cx="2457704" cy="2997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57704" cy="299720"/>
            </a:xfrm>
            <a:custGeom>
              <a:avLst/>
              <a:gdLst/>
              <a:ahLst/>
              <a:cxnLst/>
              <a:rect r="r" b="b" t="t" l="l"/>
              <a:pathLst>
                <a:path h="299720" w="2457704">
                  <a:moveTo>
                    <a:pt x="0" y="0"/>
                  </a:moveTo>
                  <a:lnTo>
                    <a:pt x="2457704" y="0"/>
                  </a:lnTo>
                  <a:lnTo>
                    <a:pt x="2457704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814703" y="10071735"/>
            <a:ext cx="3036570" cy="224790"/>
            <a:chOff x="0" y="0"/>
            <a:chExt cx="4048760" cy="299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48760" cy="299720"/>
            </a:xfrm>
            <a:custGeom>
              <a:avLst/>
              <a:gdLst/>
              <a:ahLst/>
              <a:cxnLst/>
              <a:rect r="r" b="b" t="t" l="l"/>
              <a:pathLst>
                <a:path h="299720" w="4048760">
                  <a:moveTo>
                    <a:pt x="0" y="0"/>
                  </a:moveTo>
                  <a:lnTo>
                    <a:pt x="4048760" y="0"/>
                  </a:lnTo>
                  <a:lnTo>
                    <a:pt x="404876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8C14D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832223" y="10071735"/>
            <a:ext cx="1843278" cy="224790"/>
            <a:chOff x="0" y="0"/>
            <a:chExt cx="2457704" cy="299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57704" cy="299720"/>
            </a:xfrm>
            <a:custGeom>
              <a:avLst/>
              <a:gdLst/>
              <a:ahLst/>
              <a:cxnLst/>
              <a:rect r="r" b="b" t="t" l="l"/>
              <a:pathLst>
                <a:path h="299720" w="2457704">
                  <a:moveTo>
                    <a:pt x="0" y="0"/>
                  </a:moveTo>
                  <a:lnTo>
                    <a:pt x="2457704" y="0"/>
                  </a:lnTo>
                  <a:lnTo>
                    <a:pt x="2457704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4B5C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656451" y="10071735"/>
            <a:ext cx="3036570" cy="224790"/>
            <a:chOff x="0" y="0"/>
            <a:chExt cx="4048760" cy="2997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48760" cy="299720"/>
            </a:xfrm>
            <a:custGeom>
              <a:avLst/>
              <a:gdLst/>
              <a:ahLst/>
              <a:cxnLst/>
              <a:rect r="r" b="b" t="t" l="l"/>
              <a:pathLst>
                <a:path h="299720" w="4048760">
                  <a:moveTo>
                    <a:pt x="0" y="0"/>
                  </a:moveTo>
                  <a:lnTo>
                    <a:pt x="4048760" y="0"/>
                  </a:lnTo>
                  <a:lnTo>
                    <a:pt x="404876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73971" y="10071735"/>
            <a:ext cx="1843278" cy="224790"/>
            <a:chOff x="0" y="0"/>
            <a:chExt cx="2457704" cy="2997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57704" cy="299720"/>
            </a:xfrm>
            <a:custGeom>
              <a:avLst/>
              <a:gdLst/>
              <a:ahLst/>
              <a:cxnLst/>
              <a:rect r="r" b="b" t="t" l="l"/>
              <a:pathLst>
                <a:path h="299720" w="2457704">
                  <a:moveTo>
                    <a:pt x="0" y="0"/>
                  </a:moveTo>
                  <a:lnTo>
                    <a:pt x="2457704" y="0"/>
                  </a:lnTo>
                  <a:lnTo>
                    <a:pt x="2457704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498199" y="10071735"/>
            <a:ext cx="1802130" cy="224790"/>
            <a:chOff x="0" y="0"/>
            <a:chExt cx="2402840" cy="299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02840" cy="299720"/>
            </a:xfrm>
            <a:custGeom>
              <a:avLst/>
              <a:gdLst/>
              <a:ahLst/>
              <a:cxnLst/>
              <a:rect r="r" b="b" t="t" l="l"/>
              <a:pathLst>
                <a:path h="299720" w="2402840">
                  <a:moveTo>
                    <a:pt x="0" y="0"/>
                  </a:moveTo>
                  <a:lnTo>
                    <a:pt x="2402840" y="0"/>
                  </a:lnTo>
                  <a:lnTo>
                    <a:pt x="240284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281279" y="10071735"/>
            <a:ext cx="1390650" cy="224790"/>
            <a:chOff x="0" y="0"/>
            <a:chExt cx="1854200" cy="299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54200" cy="299720"/>
            </a:xfrm>
            <a:custGeom>
              <a:avLst/>
              <a:gdLst/>
              <a:ahLst/>
              <a:cxnLst/>
              <a:rect r="r" b="b" t="t" l="l"/>
              <a:pathLst>
                <a:path h="299720" w="1854200">
                  <a:moveTo>
                    <a:pt x="0" y="0"/>
                  </a:moveTo>
                  <a:lnTo>
                    <a:pt x="1854200" y="0"/>
                  </a:lnTo>
                  <a:lnTo>
                    <a:pt x="185420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4B5C1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652879" y="10071735"/>
            <a:ext cx="3645560" cy="224790"/>
            <a:chOff x="0" y="0"/>
            <a:chExt cx="4860747" cy="2997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60798" cy="299720"/>
            </a:xfrm>
            <a:custGeom>
              <a:avLst/>
              <a:gdLst/>
              <a:ahLst/>
              <a:cxnLst/>
              <a:rect r="r" b="b" t="t" l="l"/>
              <a:pathLst>
                <a:path h="299720" w="4860798">
                  <a:moveTo>
                    <a:pt x="0" y="0"/>
                  </a:moveTo>
                  <a:lnTo>
                    <a:pt x="4860798" y="0"/>
                  </a:lnTo>
                  <a:lnTo>
                    <a:pt x="4860798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B4DAE2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4984" y="2331720"/>
            <a:ext cx="16322040" cy="630936"/>
            <a:chOff x="0" y="0"/>
            <a:chExt cx="21762720" cy="84124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762720" cy="841248"/>
            </a:xfrm>
            <a:custGeom>
              <a:avLst/>
              <a:gdLst/>
              <a:ahLst/>
              <a:cxnLst/>
              <a:rect r="r" b="b" t="t" l="l"/>
              <a:pathLst>
                <a:path h="841248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4069" r="0" b="-45406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21762720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В данных видны закономерности, которые модель должна учитывать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92695" y="3173540"/>
            <a:ext cx="9878949" cy="4708017"/>
            <a:chOff x="0" y="0"/>
            <a:chExt cx="13171932" cy="627735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171932" cy="6277356"/>
            </a:xfrm>
            <a:custGeom>
              <a:avLst/>
              <a:gdLst/>
              <a:ahLst/>
              <a:cxnLst/>
              <a:rect r="r" b="b" t="t" l="l"/>
              <a:pathLst>
                <a:path h="6277356" w="13171932">
                  <a:moveTo>
                    <a:pt x="0" y="293624"/>
                  </a:moveTo>
                  <a:cubicBezTo>
                    <a:pt x="0" y="131445"/>
                    <a:pt x="131445" y="0"/>
                    <a:pt x="293624" y="0"/>
                  </a:cubicBezTo>
                  <a:lnTo>
                    <a:pt x="12878308" y="0"/>
                  </a:lnTo>
                  <a:cubicBezTo>
                    <a:pt x="13040486" y="0"/>
                    <a:pt x="13171932" y="131445"/>
                    <a:pt x="13171932" y="293624"/>
                  </a:cubicBezTo>
                  <a:lnTo>
                    <a:pt x="13171932" y="5983732"/>
                  </a:lnTo>
                  <a:cubicBezTo>
                    <a:pt x="13171932" y="6145911"/>
                    <a:pt x="13040486" y="6277356"/>
                    <a:pt x="12878308" y="6277356"/>
                  </a:cubicBezTo>
                  <a:lnTo>
                    <a:pt x="293624" y="6277356"/>
                  </a:lnTo>
                  <a:cubicBezTo>
                    <a:pt x="131445" y="6277356"/>
                    <a:pt x="0" y="6145911"/>
                    <a:pt x="0" y="5983732"/>
                  </a:cubicBezTo>
                  <a:close/>
                </a:path>
              </a:pathLst>
            </a:custGeom>
            <a:solidFill>
              <a:srgbClr val="FFFFFF"/>
            </a:solidFill>
            <a:ln w="17145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248156" y="3483864"/>
            <a:ext cx="9368028" cy="3840480"/>
            <a:chOff x="0" y="0"/>
            <a:chExt cx="12490704" cy="5120640"/>
          </a:xfrm>
        </p:grpSpPr>
        <p:sp>
          <p:nvSpPr>
            <p:cNvPr name="Freeform 41" id="41" descr="/mnt/data/uf_slide_assets/monthly.png"/>
            <p:cNvSpPr/>
            <p:nvPr/>
          </p:nvSpPr>
          <p:spPr>
            <a:xfrm flipH="false" flipV="false" rot="0">
              <a:off x="0" y="0"/>
              <a:ext cx="12490704" cy="5120640"/>
            </a:xfrm>
            <a:custGeom>
              <a:avLst/>
              <a:gdLst/>
              <a:ahLst/>
              <a:cxnLst/>
              <a:rect r="r" b="b" t="t" l="l"/>
              <a:pathLst>
                <a:path h="5120640" w="12490704">
                  <a:moveTo>
                    <a:pt x="0" y="0"/>
                  </a:moveTo>
                  <a:lnTo>
                    <a:pt x="12490704" y="0"/>
                  </a:lnTo>
                  <a:lnTo>
                    <a:pt x="12490704" y="5120640"/>
                  </a:lnTo>
                  <a:lnTo>
                    <a:pt x="0" y="512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7" r="0" b="-87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1101388" y="3173540"/>
            <a:ext cx="6230493" cy="4708017"/>
            <a:chOff x="0" y="0"/>
            <a:chExt cx="8307324" cy="62773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307324" cy="6277356"/>
            </a:xfrm>
            <a:custGeom>
              <a:avLst/>
              <a:gdLst/>
              <a:ahLst/>
              <a:cxnLst/>
              <a:rect r="r" b="b" t="t" l="l"/>
              <a:pathLst>
                <a:path h="6277356" w="8307324">
                  <a:moveTo>
                    <a:pt x="0" y="293624"/>
                  </a:moveTo>
                  <a:cubicBezTo>
                    <a:pt x="0" y="131445"/>
                    <a:pt x="131445" y="0"/>
                    <a:pt x="293624" y="0"/>
                  </a:cubicBezTo>
                  <a:lnTo>
                    <a:pt x="8013700" y="0"/>
                  </a:lnTo>
                  <a:cubicBezTo>
                    <a:pt x="8175879" y="0"/>
                    <a:pt x="8307324" y="131445"/>
                    <a:pt x="8307324" y="293624"/>
                  </a:cubicBezTo>
                  <a:lnTo>
                    <a:pt x="8307324" y="5983732"/>
                  </a:lnTo>
                  <a:cubicBezTo>
                    <a:pt x="8307324" y="6145911"/>
                    <a:pt x="8175879" y="6277356"/>
                    <a:pt x="8013700" y="6277356"/>
                  </a:cubicBezTo>
                  <a:lnTo>
                    <a:pt x="293624" y="6277356"/>
                  </a:lnTo>
                  <a:cubicBezTo>
                    <a:pt x="131445" y="6277356"/>
                    <a:pt x="0" y="6145911"/>
                    <a:pt x="0" y="5983732"/>
                  </a:cubicBezTo>
                  <a:close/>
                </a:path>
              </a:pathLst>
            </a:custGeom>
            <a:solidFill>
              <a:srgbClr val="FFFFFF"/>
            </a:solidFill>
            <a:ln w="17145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1329416" y="3744468"/>
            <a:ext cx="5788152" cy="3223260"/>
            <a:chOff x="0" y="0"/>
            <a:chExt cx="7717536" cy="4297680"/>
          </a:xfrm>
        </p:grpSpPr>
        <p:sp>
          <p:nvSpPr>
            <p:cNvPr name="Freeform 45" id="45" descr="/mnt/data/uf_slide_assets/weekday.png"/>
            <p:cNvSpPr/>
            <p:nvPr/>
          </p:nvSpPr>
          <p:spPr>
            <a:xfrm flipH="false" flipV="false" rot="0">
              <a:off x="0" y="0"/>
              <a:ext cx="7717536" cy="4297680"/>
            </a:xfrm>
            <a:custGeom>
              <a:avLst/>
              <a:gdLst/>
              <a:ahLst/>
              <a:cxnLst/>
              <a:rect r="r" b="b" t="t" l="l"/>
              <a:pathLst>
                <a:path h="4297680" w="7717536">
                  <a:moveTo>
                    <a:pt x="0" y="0"/>
                  </a:moveTo>
                  <a:lnTo>
                    <a:pt x="7717536" y="0"/>
                  </a:lnTo>
                  <a:lnTo>
                    <a:pt x="7717536" y="4297680"/>
                  </a:lnTo>
                  <a:lnTo>
                    <a:pt x="0" y="4297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25" t="0" r="-5825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165860" y="8065008"/>
            <a:ext cx="9642348" cy="699516"/>
            <a:chOff x="0" y="0"/>
            <a:chExt cx="12856464" cy="93268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2856464" cy="932688"/>
            </a:xfrm>
            <a:custGeom>
              <a:avLst/>
              <a:gdLst/>
              <a:ahLst/>
              <a:cxnLst/>
              <a:rect r="r" b="b" t="t" l="l"/>
              <a:pathLst>
                <a:path h="932688" w="12856464">
                  <a:moveTo>
                    <a:pt x="0" y="0"/>
                  </a:moveTo>
                  <a:lnTo>
                    <a:pt x="12856464" y="0"/>
                  </a:lnTo>
                  <a:lnTo>
                    <a:pt x="12856464" y="932688"/>
                  </a:lnTo>
                  <a:lnTo>
                    <a:pt x="0" y="9326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8587" r="0" b="-21858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12856464" cy="9326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4738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Нагрузка по месяцам: пики зависят от подразделения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343132" y="8065008"/>
            <a:ext cx="5733288" cy="699516"/>
            <a:chOff x="0" y="0"/>
            <a:chExt cx="7644384" cy="93268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644384" cy="932688"/>
            </a:xfrm>
            <a:custGeom>
              <a:avLst/>
              <a:gdLst/>
              <a:ahLst/>
              <a:cxnLst/>
              <a:rect r="r" b="b" t="t" l="l"/>
              <a:pathLst>
                <a:path h="932688" w="7644384">
                  <a:moveTo>
                    <a:pt x="0" y="0"/>
                  </a:moveTo>
                  <a:lnTo>
                    <a:pt x="7644384" y="0"/>
                  </a:lnTo>
                  <a:lnTo>
                    <a:pt x="7644384" y="932688"/>
                  </a:lnTo>
                  <a:lnTo>
                    <a:pt x="0" y="9326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700" r="0" b="-10970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7644384" cy="9326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4738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По выходным обращений заметно меньше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05459" y="9029319"/>
            <a:ext cx="16272510" cy="540258"/>
            <a:chOff x="0" y="0"/>
            <a:chExt cx="21696680" cy="72034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1696680" cy="720344"/>
            </a:xfrm>
            <a:custGeom>
              <a:avLst/>
              <a:gdLst/>
              <a:ahLst/>
              <a:cxnLst/>
              <a:rect r="r" b="b" t="t" l="l"/>
              <a:pathLst>
                <a:path h="720344" w="21696680">
                  <a:moveTo>
                    <a:pt x="0" y="227457"/>
                  </a:moveTo>
                  <a:cubicBezTo>
                    <a:pt x="0" y="101854"/>
                    <a:pt x="101854" y="0"/>
                    <a:pt x="227457" y="0"/>
                  </a:cubicBezTo>
                  <a:lnTo>
                    <a:pt x="21469223" y="0"/>
                  </a:lnTo>
                  <a:cubicBezTo>
                    <a:pt x="21594826" y="0"/>
                    <a:pt x="21696680" y="101854"/>
                    <a:pt x="21696680" y="227457"/>
                  </a:cubicBezTo>
                  <a:lnTo>
                    <a:pt x="21696680" y="492887"/>
                  </a:lnTo>
                  <a:cubicBezTo>
                    <a:pt x="21696680" y="618490"/>
                    <a:pt x="21594826" y="720344"/>
                    <a:pt x="21469223" y="720344"/>
                  </a:cubicBezTo>
                  <a:lnTo>
                    <a:pt x="227457" y="720344"/>
                  </a:lnTo>
                  <a:cubicBezTo>
                    <a:pt x="101854" y="720344"/>
                    <a:pt x="0" y="618490"/>
                    <a:pt x="0" y="492887"/>
                  </a:cubicBezTo>
                  <a:close/>
                </a:path>
              </a:pathLst>
            </a:custGeom>
            <a:solidFill>
              <a:srgbClr val="F5EAFF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289304" y="9203436"/>
            <a:ext cx="15704820" cy="192024"/>
            <a:chOff x="0" y="0"/>
            <a:chExt cx="20939760" cy="25603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0939761" cy="256032"/>
            </a:xfrm>
            <a:custGeom>
              <a:avLst/>
              <a:gdLst/>
              <a:ahLst/>
              <a:cxnLst/>
              <a:rect r="r" b="b" t="t" l="l"/>
              <a:pathLst>
                <a:path h="256032" w="20939761">
                  <a:moveTo>
                    <a:pt x="0" y="0"/>
                  </a:moveTo>
                  <a:lnTo>
                    <a:pt x="20939761" y="0"/>
                  </a:lnTo>
                  <a:lnTo>
                    <a:pt x="20939761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3597" r="0" b="-154359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2093976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Вывод: календарные признаки должны входить в модель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0392" y="315468"/>
            <a:ext cx="10972800" cy="370332"/>
            <a:chOff x="0" y="0"/>
            <a:chExt cx="14630400" cy="4937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493776"/>
            </a:xfrm>
            <a:custGeom>
              <a:avLst/>
              <a:gdLst/>
              <a:ahLst/>
              <a:cxnLst/>
              <a:rect r="r" b="b" t="t" l="l"/>
              <a:pathLst>
                <a:path h="49377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7334" r="0" b="-52733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4630400" cy="49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94">
                  <a:solidFill>
                    <a:srgbClr val="64738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UNIFORECAST · ML-ПРОЕКТ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51224" y="315468"/>
            <a:ext cx="795528" cy="452628"/>
            <a:chOff x="0" y="0"/>
            <a:chExt cx="1060704" cy="6035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0704" cy="603504"/>
            </a:xfrm>
            <a:custGeom>
              <a:avLst/>
              <a:gdLst/>
              <a:ahLst/>
              <a:cxnLst/>
              <a:rect r="r" b="b" t="t" l="l"/>
              <a:pathLst>
                <a:path h="603504" w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000" t="0" r="-2300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060704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B9AB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06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0392" y="891540"/>
            <a:ext cx="16527780" cy="877824"/>
            <a:chOff x="0" y="0"/>
            <a:chExt cx="22037040" cy="11704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037039" cy="1170432"/>
            </a:xfrm>
            <a:custGeom>
              <a:avLst/>
              <a:gdLst/>
              <a:ahLst/>
              <a:cxnLst/>
              <a:rect r="r" b="b" t="t" l="l"/>
              <a:pathLst>
                <a:path h="1170432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6866" r="0" b="-31686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037040" cy="1170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ТЕХНОЛОГИЧЕСКОЕ ЯДРО ПРОЕКТА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40867" y="1896999"/>
            <a:ext cx="773430" cy="108204"/>
            <a:chOff x="0" y="0"/>
            <a:chExt cx="1031240" cy="1442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1240" cy="144272"/>
            </a:xfrm>
            <a:custGeom>
              <a:avLst/>
              <a:gdLst/>
              <a:ahLst/>
              <a:cxnLst/>
              <a:rect r="r" b="b" t="t" l="l"/>
              <a:pathLst>
                <a:path h="144272" w="1031240">
                  <a:moveTo>
                    <a:pt x="0" y="0"/>
                  </a:moveTo>
                  <a:lnTo>
                    <a:pt x="1031240" y="0"/>
                  </a:lnTo>
                  <a:lnTo>
                    <a:pt x="1031240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95247" y="1896999"/>
            <a:ext cx="773430" cy="108204"/>
            <a:chOff x="0" y="0"/>
            <a:chExt cx="1031240" cy="1442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31240" cy="144272"/>
            </a:xfrm>
            <a:custGeom>
              <a:avLst/>
              <a:gdLst/>
              <a:ahLst/>
              <a:cxnLst/>
              <a:rect r="r" b="b" t="t" l="l"/>
              <a:pathLst>
                <a:path h="144272" w="1031240">
                  <a:moveTo>
                    <a:pt x="0" y="0"/>
                  </a:moveTo>
                  <a:lnTo>
                    <a:pt x="1031240" y="0"/>
                  </a:lnTo>
                  <a:lnTo>
                    <a:pt x="1031240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8C14D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349627" y="1896999"/>
            <a:ext cx="457962" cy="108204"/>
            <a:chOff x="0" y="0"/>
            <a:chExt cx="610616" cy="1442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0616" cy="144272"/>
            </a:xfrm>
            <a:custGeom>
              <a:avLst/>
              <a:gdLst/>
              <a:ahLst/>
              <a:cxnLst/>
              <a:rect r="r" b="b" t="t" l="l"/>
              <a:pathLst>
                <a:path h="144272" w="610616">
                  <a:moveTo>
                    <a:pt x="0" y="0"/>
                  </a:moveTo>
                  <a:lnTo>
                    <a:pt x="610616" y="0"/>
                  </a:lnTo>
                  <a:lnTo>
                    <a:pt x="610616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788539" y="1896999"/>
            <a:ext cx="869442" cy="108204"/>
            <a:chOff x="0" y="0"/>
            <a:chExt cx="1159256" cy="1442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59256" cy="144272"/>
            </a:xfrm>
            <a:custGeom>
              <a:avLst/>
              <a:gdLst/>
              <a:ahLst/>
              <a:cxnLst/>
              <a:rect r="r" b="b" t="t" l="l"/>
              <a:pathLst>
                <a:path h="144272" w="1159256">
                  <a:moveTo>
                    <a:pt x="0" y="0"/>
                  </a:moveTo>
                  <a:lnTo>
                    <a:pt x="1159256" y="0"/>
                  </a:lnTo>
                  <a:lnTo>
                    <a:pt x="1159256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B4DAE2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-9525" y="10071735"/>
            <a:ext cx="1843278" cy="224790"/>
            <a:chOff x="0" y="0"/>
            <a:chExt cx="2457704" cy="2997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57704" cy="299720"/>
            </a:xfrm>
            <a:custGeom>
              <a:avLst/>
              <a:gdLst/>
              <a:ahLst/>
              <a:cxnLst/>
              <a:rect r="r" b="b" t="t" l="l"/>
              <a:pathLst>
                <a:path h="299720" w="2457704">
                  <a:moveTo>
                    <a:pt x="0" y="0"/>
                  </a:moveTo>
                  <a:lnTo>
                    <a:pt x="2457704" y="0"/>
                  </a:lnTo>
                  <a:lnTo>
                    <a:pt x="2457704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814703" y="10071735"/>
            <a:ext cx="3036570" cy="224790"/>
            <a:chOff x="0" y="0"/>
            <a:chExt cx="4048760" cy="299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48760" cy="299720"/>
            </a:xfrm>
            <a:custGeom>
              <a:avLst/>
              <a:gdLst/>
              <a:ahLst/>
              <a:cxnLst/>
              <a:rect r="r" b="b" t="t" l="l"/>
              <a:pathLst>
                <a:path h="299720" w="4048760">
                  <a:moveTo>
                    <a:pt x="0" y="0"/>
                  </a:moveTo>
                  <a:lnTo>
                    <a:pt x="4048760" y="0"/>
                  </a:lnTo>
                  <a:lnTo>
                    <a:pt x="404876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8C14D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832223" y="10071735"/>
            <a:ext cx="1843278" cy="224790"/>
            <a:chOff x="0" y="0"/>
            <a:chExt cx="2457704" cy="299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57704" cy="299720"/>
            </a:xfrm>
            <a:custGeom>
              <a:avLst/>
              <a:gdLst/>
              <a:ahLst/>
              <a:cxnLst/>
              <a:rect r="r" b="b" t="t" l="l"/>
              <a:pathLst>
                <a:path h="299720" w="2457704">
                  <a:moveTo>
                    <a:pt x="0" y="0"/>
                  </a:moveTo>
                  <a:lnTo>
                    <a:pt x="2457704" y="0"/>
                  </a:lnTo>
                  <a:lnTo>
                    <a:pt x="2457704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4B5C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656451" y="10071735"/>
            <a:ext cx="3036570" cy="224790"/>
            <a:chOff x="0" y="0"/>
            <a:chExt cx="4048760" cy="2997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48760" cy="299720"/>
            </a:xfrm>
            <a:custGeom>
              <a:avLst/>
              <a:gdLst/>
              <a:ahLst/>
              <a:cxnLst/>
              <a:rect r="r" b="b" t="t" l="l"/>
              <a:pathLst>
                <a:path h="299720" w="4048760">
                  <a:moveTo>
                    <a:pt x="0" y="0"/>
                  </a:moveTo>
                  <a:lnTo>
                    <a:pt x="4048760" y="0"/>
                  </a:lnTo>
                  <a:lnTo>
                    <a:pt x="404876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73971" y="10071735"/>
            <a:ext cx="1843278" cy="224790"/>
            <a:chOff x="0" y="0"/>
            <a:chExt cx="2457704" cy="2997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57704" cy="299720"/>
            </a:xfrm>
            <a:custGeom>
              <a:avLst/>
              <a:gdLst/>
              <a:ahLst/>
              <a:cxnLst/>
              <a:rect r="r" b="b" t="t" l="l"/>
              <a:pathLst>
                <a:path h="299720" w="2457704">
                  <a:moveTo>
                    <a:pt x="0" y="0"/>
                  </a:moveTo>
                  <a:lnTo>
                    <a:pt x="2457704" y="0"/>
                  </a:lnTo>
                  <a:lnTo>
                    <a:pt x="2457704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498199" y="10071735"/>
            <a:ext cx="1802130" cy="224790"/>
            <a:chOff x="0" y="0"/>
            <a:chExt cx="2402840" cy="299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02840" cy="299720"/>
            </a:xfrm>
            <a:custGeom>
              <a:avLst/>
              <a:gdLst/>
              <a:ahLst/>
              <a:cxnLst/>
              <a:rect r="r" b="b" t="t" l="l"/>
              <a:pathLst>
                <a:path h="299720" w="2402840">
                  <a:moveTo>
                    <a:pt x="0" y="0"/>
                  </a:moveTo>
                  <a:lnTo>
                    <a:pt x="2402840" y="0"/>
                  </a:lnTo>
                  <a:lnTo>
                    <a:pt x="240284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281279" y="10071735"/>
            <a:ext cx="1390650" cy="224790"/>
            <a:chOff x="0" y="0"/>
            <a:chExt cx="1854200" cy="299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54200" cy="299720"/>
            </a:xfrm>
            <a:custGeom>
              <a:avLst/>
              <a:gdLst/>
              <a:ahLst/>
              <a:cxnLst/>
              <a:rect r="r" b="b" t="t" l="l"/>
              <a:pathLst>
                <a:path h="299720" w="1854200">
                  <a:moveTo>
                    <a:pt x="0" y="0"/>
                  </a:moveTo>
                  <a:lnTo>
                    <a:pt x="1854200" y="0"/>
                  </a:lnTo>
                  <a:lnTo>
                    <a:pt x="185420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4B5C1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652879" y="10071735"/>
            <a:ext cx="3645560" cy="224790"/>
            <a:chOff x="0" y="0"/>
            <a:chExt cx="4860747" cy="2997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60798" cy="299720"/>
            </a:xfrm>
            <a:custGeom>
              <a:avLst/>
              <a:gdLst/>
              <a:ahLst/>
              <a:cxnLst/>
              <a:rect r="r" b="b" t="t" l="l"/>
              <a:pathLst>
                <a:path h="299720" w="4860798">
                  <a:moveTo>
                    <a:pt x="0" y="0"/>
                  </a:moveTo>
                  <a:lnTo>
                    <a:pt x="4860798" y="0"/>
                  </a:lnTo>
                  <a:lnTo>
                    <a:pt x="4860798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B4DAE2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42416" y="2331720"/>
            <a:ext cx="13716000" cy="589788"/>
            <a:chOff x="0" y="0"/>
            <a:chExt cx="18288000" cy="78638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8288000" cy="786384"/>
            </a:xfrm>
            <a:custGeom>
              <a:avLst/>
              <a:gdLst/>
              <a:ahLst/>
              <a:cxnLst/>
              <a:rect r="r" b="b" t="t" l="l"/>
              <a:pathLst>
                <a:path h="786384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86384"/>
                  </a:lnTo>
                  <a:lnTo>
                    <a:pt x="0" y="7863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3140" r="0" b="-40314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18288000" cy="7863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Путь данных от CSV до веб-страницы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51548" y="3722179"/>
            <a:ext cx="2966085" cy="2966085"/>
            <a:chOff x="0" y="0"/>
            <a:chExt cx="3954780" cy="39547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954780" cy="3954780"/>
            </a:xfrm>
            <a:custGeom>
              <a:avLst/>
              <a:gdLst/>
              <a:ahLst/>
              <a:cxnLst/>
              <a:rect r="r" b="b" t="t" l="l"/>
              <a:pathLst>
                <a:path h="3954780" w="3954780">
                  <a:moveTo>
                    <a:pt x="0" y="294259"/>
                  </a:moveTo>
                  <a:cubicBezTo>
                    <a:pt x="0" y="131826"/>
                    <a:pt x="131826" y="0"/>
                    <a:pt x="294259" y="0"/>
                  </a:cubicBezTo>
                  <a:lnTo>
                    <a:pt x="3660521" y="0"/>
                  </a:lnTo>
                  <a:cubicBezTo>
                    <a:pt x="3823081" y="0"/>
                    <a:pt x="3954780" y="131826"/>
                    <a:pt x="3954780" y="294259"/>
                  </a:cubicBezTo>
                  <a:lnTo>
                    <a:pt x="3954780" y="3660521"/>
                  </a:lnTo>
                  <a:cubicBezTo>
                    <a:pt x="3954780" y="3823081"/>
                    <a:pt x="3822954" y="3954780"/>
                    <a:pt x="3660521" y="3954780"/>
                  </a:cubicBezTo>
                  <a:lnTo>
                    <a:pt x="294259" y="3954780"/>
                  </a:lnTo>
                  <a:cubicBezTo>
                    <a:pt x="131826" y="3954780"/>
                    <a:pt x="0" y="3822954"/>
                    <a:pt x="0" y="3660521"/>
                  </a:cubicBezTo>
                  <a:close/>
                </a:path>
              </a:pathLst>
            </a:custGeom>
            <a:solidFill>
              <a:srgbClr val="F7F9FD"/>
            </a:solidFill>
            <a:ln w="17145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234440" y="4101084"/>
            <a:ext cx="685800" cy="480060"/>
            <a:chOff x="0" y="0"/>
            <a:chExt cx="914400" cy="6400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44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914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01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34440" y="4786884"/>
            <a:ext cx="2400300" cy="603504"/>
            <a:chOff x="0" y="0"/>
            <a:chExt cx="3200400" cy="80467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200400" cy="804672"/>
            </a:xfrm>
            <a:custGeom>
              <a:avLst/>
              <a:gdLst/>
              <a:ahLst/>
              <a:cxnLst/>
              <a:rect r="r" b="b" t="t" l="l"/>
              <a:pathLst>
                <a:path h="804672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97" r="0" b="-2749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320040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Данные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34440" y="5623560"/>
            <a:ext cx="2400300" cy="480060"/>
            <a:chOff x="0" y="0"/>
            <a:chExt cx="3200400" cy="6400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20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320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4738C"/>
                  </a:solidFill>
                  <a:latin typeface="Inter"/>
                  <a:ea typeface="Inter"/>
                  <a:cs typeface="Inter"/>
                  <a:sym typeface="Inter"/>
                </a:rPr>
                <a:t>CSV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3998214" y="4896612"/>
            <a:ext cx="315468" cy="466344"/>
            <a:chOff x="0" y="0"/>
            <a:chExt cx="420624" cy="62179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20624" cy="621792"/>
            </a:xfrm>
            <a:custGeom>
              <a:avLst/>
              <a:gdLst/>
              <a:ahLst/>
              <a:cxnLst/>
              <a:rect r="r" b="b" t="t" l="l"/>
              <a:pathLst>
                <a:path h="621792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9666" t="0" r="-139666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420624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→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4353116" y="3722179"/>
            <a:ext cx="2966085" cy="2966085"/>
            <a:chOff x="0" y="0"/>
            <a:chExt cx="3954780" cy="39547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954780" cy="3954780"/>
            </a:xfrm>
            <a:custGeom>
              <a:avLst/>
              <a:gdLst/>
              <a:ahLst/>
              <a:cxnLst/>
              <a:rect r="r" b="b" t="t" l="l"/>
              <a:pathLst>
                <a:path h="3954780" w="3954780">
                  <a:moveTo>
                    <a:pt x="0" y="294259"/>
                  </a:moveTo>
                  <a:cubicBezTo>
                    <a:pt x="0" y="131826"/>
                    <a:pt x="131826" y="0"/>
                    <a:pt x="294259" y="0"/>
                  </a:cubicBezTo>
                  <a:lnTo>
                    <a:pt x="3660521" y="0"/>
                  </a:lnTo>
                  <a:cubicBezTo>
                    <a:pt x="3823081" y="0"/>
                    <a:pt x="3954780" y="131826"/>
                    <a:pt x="3954780" y="294259"/>
                  </a:cubicBezTo>
                  <a:lnTo>
                    <a:pt x="3954780" y="3660521"/>
                  </a:lnTo>
                  <a:cubicBezTo>
                    <a:pt x="3954780" y="3823081"/>
                    <a:pt x="3822954" y="3954780"/>
                    <a:pt x="3660521" y="3954780"/>
                  </a:cubicBezTo>
                  <a:lnTo>
                    <a:pt x="294259" y="3954780"/>
                  </a:lnTo>
                  <a:cubicBezTo>
                    <a:pt x="131826" y="3954780"/>
                    <a:pt x="0" y="3822954"/>
                    <a:pt x="0" y="3660521"/>
                  </a:cubicBezTo>
                  <a:close/>
                </a:path>
              </a:pathLst>
            </a:custGeom>
            <a:solidFill>
              <a:srgbClr val="F7F9FD"/>
            </a:solidFill>
            <a:ln w="17145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4636008" y="4101084"/>
            <a:ext cx="685800" cy="480060"/>
            <a:chOff x="0" y="0"/>
            <a:chExt cx="914400" cy="6400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144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914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02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4636008" y="4786884"/>
            <a:ext cx="2400300" cy="603504"/>
            <a:chOff x="0" y="0"/>
            <a:chExt cx="3200400" cy="80467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200400" cy="804672"/>
            </a:xfrm>
            <a:custGeom>
              <a:avLst/>
              <a:gdLst/>
              <a:ahLst/>
              <a:cxnLst/>
              <a:rect r="r" b="b" t="t" l="l"/>
              <a:pathLst>
                <a:path h="804672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97" r="0" b="-2749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320040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Обработка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4636008" y="5623560"/>
            <a:ext cx="2400300" cy="480060"/>
            <a:chOff x="0" y="0"/>
            <a:chExt cx="3200400" cy="6400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20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320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4738C"/>
                  </a:solidFill>
                  <a:latin typeface="Inter"/>
                  <a:ea typeface="Inter"/>
                  <a:cs typeface="Inter"/>
                  <a:sym typeface="Inter"/>
                </a:rPr>
                <a:t>Pandas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7399782" y="4896612"/>
            <a:ext cx="315468" cy="466344"/>
            <a:chOff x="0" y="0"/>
            <a:chExt cx="420624" cy="62179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20624" cy="621792"/>
            </a:xfrm>
            <a:custGeom>
              <a:avLst/>
              <a:gdLst/>
              <a:ahLst/>
              <a:cxnLst/>
              <a:rect r="r" b="b" t="t" l="l"/>
              <a:pathLst>
                <a:path h="621792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9666" t="0" r="-139666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420624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→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7754684" y="3722179"/>
            <a:ext cx="2966085" cy="2966085"/>
            <a:chOff x="0" y="0"/>
            <a:chExt cx="3954780" cy="39547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954780" cy="3954780"/>
            </a:xfrm>
            <a:custGeom>
              <a:avLst/>
              <a:gdLst/>
              <a:ahLst/>
              <a:cxnLst/>
              <a:rect r="r" b="b" t="t" l="l"/>
              <a:pathLst>
                <a:path h="3954780" w="3954780">
                  <a:moveTo>
                    <a:pt x="0" y="294259"/>
                  </a:moveTo>
                  <a:cubicBezTo>
                    <a:pt x="0" y="131826"/>
                    <a:pt x="131826" y="0"/>
                    <a:pt x="294259" y="0"/>
                  </a:cubicBezTo>
                  <a:lnTo>
                    <a:pt x="3660521" y="0"/>
                  </a:lnTo>
                  <a:cubicBezTo>
                    <a:pt x="3823081" y="0"/>
                    <a:pt x="3954780" y="131826"/>
                    <a:pt x="3954780" y="294259"/>
                  </a:cubicBezTo>
                  <a:lnTo>
                    <a:pt x="3954780" y="3660521"/>
                  </a:lnTo>
                  <a:cubicBezTo>
                    <a:pt x="3954780" y="3823081"/>
                    <a:pt x="3822954" y="3954780"/>
                    <a:pt x="3660521" y="3954780"/>
                  </a:cubicBezTo>
                  <a:lnTo>
                    <a:pt x="294259" y="3954780"/>
                  </a:lnTo>
                  <a:cubicBezTo>
                    <a:pt x="131826" y="3954780"/>
                    <a:pt x="0" y="3822954"/>
                    <a:pt x="0" y="3660521"/>
                  </a:cubicBezTo>
                  <a:close/>
                </a:path>
              </a:pathLst>
            </a:custGeom>
            <a:solidFill>
              <a:srgbClr val="F2ECFF"/>
            </a:solidFill>
            <a:ln w="17145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8037576" y="4101084"/>
            <a:ext cx="685800" cy="480060"/>
            <a:chOff x="0" y="0"/>
            <a:chExt cx="914400" cy="6400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144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914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03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8037576" y="4786884"/>
            <a:ext cx="2400300" cy="603504"/>
            <a:chOff x="0" y="0"/>
            <a:chExt cx="3200400" cy="80467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200400" cy="804672"/>
            </a:xfrm>
            <a:custGeom>
              <a:avLst/>
              <a:gdLst/>
              <a:ahLst/>
              <a:cxnLst/>
              <a:rect r="r" b="b" t="t" l="l"/>
              <a:pathLst>
                <a:path h="804672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97" r="0" b="-2749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320040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Нейросеть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8037576" y="5623560"/>
            <a:ext cx="2400300" cy="480060"/>
            <a:chOff x="0" y="0"/>
            <a:chExt cx="3200400" cy="6400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20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"/>
              <a:ext cx="320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4738C"/>
                  </a:solidFill>
                  <a:latin typeface="Inter"/>
                  <a:ea typeface="Inter"/>
                  <a:cs typeface="Inter"/>
                  <a:sym typeface="Inter"/>
                </a:rPr>
                <a:t>PyTorch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801350" y="4896612"/>
            <a:ext cx="315468" cy="466344"/>
            <a:chOff x="0" y="0"/>
            <a:chExt cx="420624" cy="62179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20624" cy="621792"/>
            </a:xfrm>
            <a:custGeom>
              <a:avLst/>
              <a:gdLst/>
              <a:ahLst/>
              <a:cxnLst/>
              <a:rect r="r" b="b" t="t" l="l"/>
              <a:pathLst>
                <a:path h="621792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9666" t="0" r="-139666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420624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→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1156252" y="3722179"/>
            <a:ext cx="2966085" cy="2966085"/>
            <a:chOff x="0" y="0"/>
            <a:chExt cx="3954780" cy="39547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954780" cy="3954780"/>
            </a:xfrm>
            <a:custGeom>
              <a:avLst/>
              <a:gdLst/>
              <a:ahLst/>
              <a:cxnLst/>
              <a:rect r="r" b="b" t="t" l="l"/>
              <a:pathLst>
                <a:path h="3954780" w="3954780">
                  <a:moveTo>
                    <a:pt x="0" y="294259"/>
                  </a:moveTo>
                  <a:cubicBezTo>
                    <a:pt x="0" y="131826"/>
                    <a:pt x="131826" y="0"/>
                    <a:pt x="294259" y="0"/>
                  </a:cubicBezTo>
                  <a:lnTo>
                    <a:pt x="3660521" y="0"/>
                  </a:lnTo>
                  <a:cubicBezTo>
                    <a:pt x="3823081" y="0"/>
                    <a:pt x="3954780" y="131826"/>
                    <a:pt x="3954780" y="294259"/>
                  </a:cubicBezTo>
                  <a:lnTo>
                    <a:pt x="3954780" y="3660521"/>
                  </a:lnTo>
                  <a:cubicBezTo>
                    <a:pt x="3954780" y="3823081"/>
                    <a:pt x="3822954" y="3954780"/>
                    <a:pt x="3660521" y="3954780"/>
                  </a:cubicBezTo>
                  <a:lnTo>
                    <a:pt x="294259" y="3954780"/>
                  </a:lnTo>
                  <a:cubicBezTo>
                    <a:pt x="131826" y="3954780"/>
                    <a:pt x="0" y="3822954"/>
                    <a:pt x="0" y="3660521"/>
                  </a:cubicBezTo>
                  <a:close/>
                </a:path>
              </a:pathLst>
            </a:custGeom>
            <a:solidFill>
              <a:srgbClr val="F7F9FD"/>
            </a:solidFill>
            <a:ln w="17145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1439144" y="4101084"/>
            <a:ext cx="685800" cy="480060"/>
            <a:chOff x="0" y="0"/>
            <a:chExt cx="914400" cy="64008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144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9525"/>
              <a:ext cx="914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04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1439144" y="4786884"/>
            <a:ext cx="2400300" cy="603504"/>
            <a:chOff x="0" y="0"/>
            <a:chExt cx="3200400" cy="80467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200400" cy="804672"/>
            </a:xfrm>
            <a:custGeom>
              <a:avLst/>
              <a:gdLst/>
              <a:ahLst/>
              <a:cxnLst/>
              <a:rect r="r" b="b" t="t" l="l"/>
              <a:pathLst>
                <a:path h="804672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97" r="0" b="-27497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320040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Сервер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1439144" y="5623560"/>
            <a:ext cx="2400300" cy="480060"/>
            <a:chOff x="0" y="0"/>
            <a:chExt cx="3200400" cy="64008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20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320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4738C"/>
                  </a:solidFill>
                  <a:latin typeface="Inter"/>
                  <a:ea typeface="Inter"/>
                  <a:cs typeface="Inter"/>
                  <a:sym typeface="Inter"/>
                </a:rPr>
                <a:t>FastAPI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4202918" y="4896612"/>
            <a:ext cx="315468" cy="466344"/>
            <a:chOff x="0" y="0"/>
            <a:chExt cx="420624" cy="62179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20624" cy="621792"/>
            </a:xfrm>
            <a:custGeom>
              <a:avLst/>
              <a:gdLst/>
              <a:ahLst/>
              <a:cxnLst/>
              <a:rect r="r" b="b" t="t" l="l"/>
              <a:pathLst>
                <a:path h="621792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9666" t="0" r="-139666" b="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0"/>
              <a:ext cx="420624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→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4557820" y="3722179"/>
            <a:ext cx="2966085" cy="2966085"/>
            <a:chOff x="0" y="0"/>
            <a:chExt cx="3954780" cy="395478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954780" cy="3954780"/>
            </a:xfrm>
            <a:custGeom>
              <a:avLst/>
              <a:gdLst/>
              <a:ahLst/>
              <a:cxnLst/>
              <a:rect r="r" b="b" t="t" l="l"/>
              <a:pathLst>
                <a:path h="3954780" w="3954780">
                  <a:moveTo>
                    <a:pt x="0" y="294259"/>
                  </a:moveTo>
                  <a:cubicBezTo>
                    <a:pt x="0" y="131826"/>
                    <a:pt x="131826" y="0"/>
                    <a:pt x="294259" y="0"/>
                  </a:cubicBezTo>
                  <a:lnTo>
                    <a:pt x="3660521" y="0"/>
                  </a:lnTo>
                  <a:cubicBezTo>
                    <a:pt x="3823081" y="0"/>
                    <a:pt x="3954780" y="131826"/>
                    <a:pt x="3954780" y="294259"/>
                  </a:cubicBezTo>
                  <a:lnTo>
                    <a:pt x="3954780" y="3660521"/>
                  </a:lnTo>
                  <a:cubicBezTo>
                    <a:pt x="3954780" y="3823081"/>
                    <a:pt x="3822954" y="3954780"/>
                    <a:pt x="3660521" y="3954780"/>
                  </a:cubicBezTo>
                  <a:lnTo>
                    <a:pt x="294259" y="3954780"/>
                  </a:lnTo>
                  <a:cubicBezTo>
                    <a:pt x="131826" y="3954780"/>
                    <a:pt x="0" y="3822954"/>
                    <a:pt x="0" y="3660521"/>
                  </a:cubicBezTo>
                  <a:close/>
                </a:path>
              </a:pathLst>
            </a:custGeom>
            <a:solidFill>
              <a:srgbClr val="F7F9FD"/>
            </a:solidFill>
            <a:ln w="17145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14840712" y="4101084"/>
            <a:ext cx="685800" cy="480060"/>
            <a:chOff x="0" y="0"/>
            <a:chExt cx="914400" cy="64008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9144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9525"/>
              <a:ext cx="914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05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4840712" y="4786884"/>
            <a:ext cx="2400300" cy="603504"/>
            <a:chOff x="0" y="0"/>
            <a:chExt cx="3200400" cy="80467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200400" cy="804672"/>
            </a:xfrm>
            <a:custGeom>
              <a:avLst/>
              <a:gdLst/>
              <a:ahLst/>
              <a:cxnLst/>
              <a:rect r="r" b="b" t="t" l="l"/>
              <a:pathLst>
                <a:path h="804672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97" r="0" b="-27497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320040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Интерфейс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4840712" y="5623560"/>
            <a:ext cx="2400300" cy="480060"/>
            <a:chOff x="0" y="0"/>
            <a:chExt cx="3200400" cy="64008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20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9525"/>
              <a:ext cx="320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4738C"/>
                  </a:solidFill>
                  <a:latin typeface="Inter"/>
                  <a:ea typeface="Inter"/>
                  <a:cs typeface="Inter"/>
                  <a:sym typeface="Inter"/>
                </a:rPr>
                <a:t>HTML · CSS · JS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019175" y="7355967"/>
            <a:ext cx="16176498" cy="1157478"/>
            <a:chOff x="0" y="0"/>
            <a:chExt cx="21568664" cy="1543304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1568665" cy="1543177"/>
            </a:xfrm>
            <a:custGeom>
              <a:avLst/>
              <a:gdLst/>
              <a:ahLst/>
              <a:cxnLst/>
              <a:rect r="r" b="b" t="t" l="l"/>
              <a:pathLst>
                <a:path h="1543177" w="21568665">
                  <a:moveTo>
                    <a:pt x="0" y="241681"/>
                  </a:moveTo>
                  <a:cubicBezTo>
                    <a:pt x="0" y="108204"/>
                    <a:pt x="108204" y="0"/>
                    <a:pt x="241681" y="0"/>
                  </a:cubicBezTo>
                  <a:lnTo>
                    <a:pt x="21326983" y="0"/>
                  </a:lnTo>
                  <a:cubicBezTo>
                    <a:pt x="21460461" y="0"/>
                    <a:pt x="21568665" y="108204"/>
                    <a:pt x="21568665" y="241681"/>
                  </a:cubicBezTo>
                  <a:lnTo>
                    <a:pt x="21568665" y="1301496"/>
                  </a:lnTo>
                  <a:cubicBezTo>
                    <a:pt x="21568665" y="1434973"/>
                    <a:pt x="21460461" y="1543177"/>
                    <a:pt x="21326983" y="1543177"/>
                  </a:cubicBezTo>
                  <a:lnTo>
                    <a:pt x="241681" y="1543177"/>
                  </a:lnTo>
                  <a:cubicBezTo>
                    <a:pt x="108204" y="1543304"/>
                    <a:pt x="0" y="1435100"/>
                    <a:pt x="0" y="1301623"/>
                  </a:cubicBezTo>
                  <a:close/>
                </a:path>
              </a:pathLst>
            </a:custGeom>
            <a:solidFill>
              <a:srgbClr val="EAF2FF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399032" y="7680960"/>
            <a:ext cx="4347972" cy="356616"/>
            <a:chOff x="0" y="0"/>
            <a:chExt cx="5797296" cy="475488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5797296" cy="475488"/>
            </a:xfrm>
            <a:custGeom>
              <a:avLst/>
              <a:gdLst/>
              <a:ahLst/>
              <a:cxnLst/>
              <a:rect r="r" b="b" t="t" l="l"/>
              <a:pathLst>
                <a:path h="475488" w="5797296">
                  <a:moveTo>
                    <a:pt x="0" y="0"/>
                  </a:moveTo>
                  <a:lnTo>
                    <a:pt x="5797296" y="0"/>
                  </a:lnTo>
                  <a:lnTo>
                    <a:pt x="579729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7567" r="0" b="-187567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0"/>
              <a:ext cx="5797296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3669E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Что запускается на сервере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843016" y="7639812"/>
            <a:ext cx="10671048" cy="480060"/>
            <a:chOff x="0" y="0"/>
            <a:chExt cx="14228064" cy="64008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4228065" cy="640080"/>
            </a:xfrm>
            <a:custGeom>
              <a:avLst/>
              <a:gdLst/>
              <a:ahLst/>
              <a:cxnLst/>
              <a:rect r="r" b="b" t="t" l="l"/>
              <a:pathLst>
                <a:path h="640080" w="14228065">
                  <a:moveTo>
                    <a:pt x="0" y="0"/>
                  </a:moveTo>
                  <a:lnTo>
                    <a:pt x="14228065" y="0"/>
                  </a:lnTo>
                  <a:lnTo>
                    <a:pt x="14228065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3124" r="0" b="-383124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0"/>
              <a:ext cx="14228064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calendar_mlp.pt + calendar_config.json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0392" y="315468"/>
            <a:ext cx="10972800" cy="370332"/>
            <a:chOff x="0" y="0"/>
            <a:chExt cx="14630400" cy="4937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493776"/>
            </a:xfrm>
            <a:custGeom>
              <a:avLst/>
              <a:gdLst/>
              <a:ahLst/>
              <a:cxnLst/>
              <a:rect r="r" b="b" t="t" l="l"/>
              <a:pathLst>
                <a:path h="49377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7334" r="0" b="-52733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4630400" cy="49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94">
                  <a:solidFill>
                    <a:srgbClr val="64738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UNIFORECAST · ML-ПРОЕКТ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51224" y="315468"/>
            <a:ext cx="795528" cy="452628"/>
            <a:chOff x="0" y="0"/>
            <a:chExt cx="1060704" cy="6035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0704" cy="603504"/>
            </a:xfrm>
            <a:custGeom>
              <a:avLst/>
              <a:gdLst/>
              <a:ahLst/>
              <a:cxnLst/>
              <a:rect r="r" b="b" t="t" l="l"/>
              <a:pathLst>
                <a:path h="603504" w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000" t="0" r="-2300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060704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B9AB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07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0392" y="891540"/>
            <a:ext cx="16527780" cy="877824"/>
            <a:chOff x="0" y="0"/>
            <a:chExt cx="22037040" cy="11704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037039" cy="1170432"/>
            </a:xfrm>
            <a:custGeom>
              <a:avLst/>
              <a:gdLst/>
              <a:ahLst/>
              <a:cxnLst/>
              <a:rect r="r" b="b" t="t" l="l"/>
              <a:pathLst>
                <a:path h="1170432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6866" r="0" b="-31686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037040" cy="1170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КАК УСТРОЕНА НЕЙРОСЕТЬ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40867" y="1896999"/>
            <a:ext cx="773430" cy="108204"/>
            <a:chOff x="0" y="0"/>
            <a:chExt cx="1031240" cy="1442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1240" cy="144272"/>
            </a:xfrm>
            <a:custGeom>
              <a:avLst/>
              <a:gdLst/>
              <a:ahLst/>
              <a:cxnLst/>
              <a:rect r="r" b="b" t="t" l="l"/>
              <a:pathLst>
                <a:path h="144272" w="1031240">
                  <a:moveTo>
                    <a:pt x="0" y="0"/>
                  </a:moveTo>
                  <a:lnTo>
                    <a:pt x="1031240" y="0"/>
                  </a:lnTo>
                  <a:lnTo>
                    <a:pt x="1031240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95247" y="1896999"/>
            <a:ext cx="773430" cy="108204"/>
            <a:chOff x="0" y="0"/>
            <a:chExt cx="1031240" cy="1442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31240" cy="144272"/>
            </a:xfrm>
            <a:custGeom>
              <a:avLst/>
              <a:gdLst/>
              <a:ahLst/>
              <a:cxnLst/>
              <a:rect r="r" b="b" t="t" l="l"/>
              <a:pathLst>
                <a:path h="144272" w="1031240">
                  <a:moveTo>
                    <a:pt x="0" y="0"/>
                  </a:moveTo>
                  <a:lnTo>
                    <a:pt x="1031240" y="0"/>
                  </a:lnTo>
                  <a:lnTo>
                    <a:pt x="1031240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8C14D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349627" y="1896999"/>
            <a:ext cx="457962" cy="108204"/>
            <a:chOff x="0" y="0"/>
            <a:chExt cx="610616" cy="1442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0616" cy="144272"/>
            </a:xfrm>
            <a:custGeom>
              <a:avLst/>
              <a:gdLst/>
              <a:ahLst/>
              <a:cxnLst/>
              <a:rect r="r" b="b" t="t" l="l"/>
              <a:pathLst>
                <a:path h="144272" w="610616">
                  <a:moveTo>
                    <a:pt x="0" y="0"/>
                  </a:moveTo>
                  <a:lnTo>
                    <a:pt x="610616" y="0"/>
                  </a:lnTo>
                  <a:lnTo>
                    <a:pt x="610616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788539" y="1896999"/>
            <a:ext cx="869442" cy="108204"/>
            <a:chOff x="0" y="0"/>
            <a:chExt cx="1159256" cy="1442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59256" cy="144272"/>
            </a:xfrm>
            <a:custGeom>
              <a:avLst/>
              <a:gdLst/>
              <a:ahLst/>
              <a:cxnLst/>
              <a:rect r="r" b="b" t="t" l="l"/>
              <a:pathLst>
                <a:path h="144272" w="1159256">
                  <a:moveTo>
                    <a:pt x="0" y="0"/>
                  </a:moveTo>
                  <a:lnTo>
                    <a:pt x="1159256" y="0"/>
                  </a:lnTo>
                  <a:lnTo>
                    <a:pt x="1159256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B4DAE2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-9525" y="10071735"/>
            <a:ext cx="1843278" cy="224790"/>
            <a:chOff x="0" y="0"/>
            <a:chExt cx="2457704" cy="2997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57704" cy="299720"/>
            </a:xfrm>
            <a:custGeom>
              <a:avLst/>
              <a:gdLst/>
              <a:ahLst/>
              <a:cxnLst/>
              <a:rect r="r" b="b" t="t" l="l"/>
              <a:pathLst>
                <a:path h="299720" w="2457704">
                  <a:moveTo>
                    <a:pt x="0" y="0"/>
                  </a:moveTo>
                  <a:lnTo>
                    <a:pt x="2457704" y="0"/>
                  </a:lnTo>
                  <a:lnTo>
                    <a:pt x="2457704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814703" y="10071735"/>
            <a:ext cx="3036570" cy="224790"/>
            <a:chOff x="0" y="0"/>
            <a:chExt cx="4048760" cy="299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48760" cy="299720"/>
            </a:xfrm>
            <a:custGeom>
              <a:avLst/>
              <a:gdLst/>
              <a:ahLst/>
              <a:cxnLst/>
              <a:rect r="r" b="b" t="t" l="l"/>
              <a:pathLst>
                <a:path h="299720" w="4048760">
                  <a:moveTo>
                    <a:pt x="0" y="0"/>
                  </a:moveTo>
                  <a:lnTo>
                    <a:pt x="4048760" y="0"/>
                  </a:lnTo>
                  <a:lnTo>
                    <a:pt x="404876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8C14D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832223" y="10071735"/>
            <a:ext cx="1843278" cy="224790"/>
            <a:chOff x="0" y="0"/>
            <a:chExt cx="2457704" cy="299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57704" cy="299720"/>
            </a:xfrm>
            <a:custGeom>
              <a:avLst/>
              <a:gdLst/>
              <a:ahLst/>
              <a:cxnLst/>
              <a:rect r="r" b="b" t="t" l="l"/>
              <a:pathLst>
                <a:path h="299720" w="2457704">
                  <a:moveTo>
                    <a:pt x="0" y="0"/>
                  </a:moveTo>
                  <a:lnTo>
                    <a:pt x="2457704" y="0"/>
                  </a:lnTo>
                  <a:lnTo>
                    <a:pt x="2457704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4B5C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656451" y="10071735"/>
            <a:ext cx="3036570" cy="224790"/>
            <a:chOff x="0" y="0"/>
            <a:chExt cx="4048760" cy="2997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48760" cy="299720"/>
            </a:xfrm>
            <a:custGeom>
              <a:avLst/>
              <a:gdLst/>
              <a:ahLst/>
              <a:cxnLst/>
              <a:rect r="r" b="b" t="t" l="l"/>
              <a:pathLst>
                <a:path h="299720" w="4048760">
                  <a:moveTo>
                    <a:pt x="0" y="0"/>
                  </a:moveTo>
                  <a:lnTo>
                    <a:pt x="4048760" y="0"/>
                  </a:lnTo>
                  <a:lnTo>
                    <a:pt x="404876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73971" y="10071735"/>
            <a:ext cx="1843278" cy="224790"/>
            <a:chOff x="0" y="0"/>
            <a:chExt cx="2457704" cy="2997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57704" cy="299720"/>
            </a:xfrm>
            <a:custGeom>
              <a:avLst/>
              <a:gdLst/>
              <a:ahLst/>
              <a:cxnLst/>
              <a:rect r="r" b="b" t="t" l="l"/>
              <a:pathLst>
                <a:path h="299720" w="2457704">
                  <a:moveTo>
                    <a:pt x="0" y="0"/>
                  </a:moveTo>
                  <a:lnTo>
                    <a:pt x="2457704" y="0"/>
                  </a:lnTo>
                  <a:lnTo>
                    <a:pt x="2457704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498199" y="10071735"/>
            <a:ext cx="1802130" cy="224790"/>
            <a:chOff x="0" y="0"/>
            <a:chExt cx="2402840" cy="299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02840" cy="299720"/>
            </a:xfrm>
            <a:custGeom>
              <a:avLst/>
              <a:gdLst/>
              <a:ahLst/>
              <a:cxnLst/>
              <a:rect r="r" b="b" t="t" l="l"/>
              <a:pathLst>
                <a:path h="299720" w="2402840">
                  <a:moveTo>
                    <a:pt x="0" y="0"/>
                  </a:moveTo>
                  <a:lnTo>
                    <a:pt x="2402840" y="0"/>
                  </a:lnTo>
                  <a:lnTo>
                    <a:pt x="240284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281279" y="10071735"/>
            <a:ext cx="1390650" cy="224790"/>
            <a:chOff x="0" y="0"/>
            <a:chExt cx="1854200" cy="299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54200" cy="299720"/>
            </a:xfrm>
            <a:custGeom>
              <a:avLst/>
              <a:gdLst/>
              <a:ahLst/>
              <a:cxnLst/>
              <a:rect r="r" b="b" t="t" l="l"/>
              <a:pathLst>
                <a:path h="299720" w="1854200">
                  <a:moveTo>
                    <a:pt x="0" y="0"/>
                  </a:moveTo>
                  <a:lnTo>
                    <a:pt x="1854200" y="0"/>
                  </a:lnTo>
                  <a:lnTo>
                    <a:pt x="185420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4B5C1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652879" y="10071735"/>
            <a:ext cx="3645560" cy="224790"/>
            <a:chOff x="0" y="0"/>
            <a:chExt cx="4860747" cy="2997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60798" cy="299720"/>
            </a:xfrm>
            <a:custGeom>
              <a:avLst/>
              <a:gdLst/>
              <a:ahLst/>
              <a:cxnLst/>
              <a:rect r="r" b="b" t="t" l="l"/>
              <a:pathLst>
                <a:path h="299720" w="4860798">
                  <a:moveTo>
                    <a:pt x="0" y="0"/>
                  </a:moveTo>
                  <a:lnTo>
                    <a:pt x="4860798" y="0"/>
                  </a:lnTo>
                  <a:lnTo>
                    <a:pt x="4860798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B4DAE2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42416" y="2331720"/>
            <a:ext cx="16322040" cy="658368"/>
            <a:chOff x="0" y="0"/>
            <a:chExt cx="21762720" cy="87782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762720" cy="877824"/>
            </a:xfrm>
            <a:custGeom>
              <a:avLst/>
              <a:gdLst/>
              <a:ahLst/>
              <a:cxnLst/>
              <a:rect r="r" b="b" t="t" l="l"/>
              <a:pathLst>
                <a:path h="877824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3066" r="0" b="-43306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2176272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26 календарных признаков → 2 скрытых слоя → 1 прогноз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15187" y="3227451"/>
            <a:ext cx="5848350" cy="1034034"/>
            <a:chOff x="0" y="0"/>
            <a:chExt cx="7797800" cy="137871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797800" cy="1378712"/>
            </a:xfrm>
            <a:custGeom>
              <a:avLst/>
              <a:gdLst/>
              <a:ahLst/>
              <a:cxnLst/>
              <a:rect r="r" b="b" t="t" l="l"/>
              <a:pathLst>
                <a:path h="1378712" w="7797800">
                  <a:moveTo>
                    <a:pt x="0" y="223520"/>
                  </a:moveTo>
                  <a:cubicBezTo>
                    <a:pt x="0" y="100076"/>
                    <a:pt x="100076" y="0"/>
                    <a:pt x="223520" y="0"/>
                  </a:cubicBezTo>
                  <a:lnTo>
                    <a:pt x="7574280" y="0"/>
                  </a:lnTo>
                  <a:cubicBezTo>
                    <a:pt x="7697724" y="0"/>
                    <a:pt x="7797800" y="100076"/>
                    <a:pt x="7797800" y="223520"/>
                  </a:cubicBezTo>
                  <a:lnTo>
                    <a:pt x="7797800" y="1155192"/>
                  </a:lnTo>
                  <a:cubicBezTo>
                    <a:pt x="7797800" y="1278636"/>
                    <a:pt x="7697724" y="1378712"/>
                    <a:pt x="7574280" y="1378712"/>
                  </a:cubicBezTo>
                  <a:lnTo>
                    <a:pt x="223520" y="1378712"/>
                  </a:lnTo>
                  <a:cubicBezTo>
                    <a:pt x="100076" y="1378712"/>
                    <a:pt x="0" y="1278636"/>
                    <a:pt x="0" y="1155192"/>
                  </a:cubicBezTo>
                  <a:close/>
                </a:path>
              </a:pathLst>
            </a:custGeom>
            <a:solidFill>
              <a:srgbClr val="F5EEFF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453896" y="3470148"/>
            <a:ext cx="987552" cy="576072"/>
            <a:chOff x="0" y="0"/>
            <a:chExt cx="1316736" cy="76809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16736" cy="768096"/>
            </a:xfrm>
            <a:custGeom>
              <a:avLst/>
              <a:gdLst/>
              <a:ahLst/>
              <a:cxnLst/>
              <a:rect r="r" b="b" t="t" l="l"/>
              <a:pathLst>
                <a:path h="768096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1316736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12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633472" y="3511296"/>
            <a:ext cx="3950208" cy="507492"/>
            <a:chOff x="0" y="0"/>
            <a:chExt cx="5266944" cy="67665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266944" cy="676656"/>
            </a:xfrm>
            <a:custGeom>
              <a:avLst/>
              <a:gdLst/>
              <a:ahLst/>
              <a:cxnLst/>
              <a:rect r="r" b="b" t="t" l="l"/>
              <a:pathLst>
                <a:path h="676656" w="5266944">
                  <a:moveTo>
                    <a:pt x="0" y="0"/>
                  </a:moveTo>
                  <a:lnTo>
                    <a:pt x="5266944" y="0"/>
                  </a:lnTo>
                  <a:lnTo>
                    <a:pt x="526694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667" r="0" b="-10166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5266944" cy="686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месяцев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15187" y="4530471"/>
            <a:ext cx="5848350" cy="1034034"/>
            <a:chOff x="0" y="0"/>
            <a:chExt cx="7797800" cy="137871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797800" cy="1378712"/>
            </a:xfrm>
            <a:custGeom>
              <a:avLst/>
              <a:gdLst/>
              <a:ahLst/>
              <a:cxnLst/>
              <a:rect r="r" b="b" t="t" l="l"/>
              <a:pathLst>
                <a:path h="1378712" w="7797800">
                  <a:moveTo>
                    <a:pt x="0" y="223520"/>
                  </a:moveTo>
                  <a:cubicBezTo>
                    <a:pt x="0" y="100076"/>
                    <a:pt x="100076" y="0"/>
                    <a:pt x="223520" y="0"/>
                  </a:cubicBezTo>
                  <a:lnTo>
                    <a:pt x="7574280" y="0"/>
                  </a:lnTo>
                  <a:cubicBezTo>
                    <a:pt x="7697724" y="0"/>
                    <a:pt x="7797800" y="100076"/>
                    <a:pt x="7797800" y="223520"/>
                  </a:cubicBezTo>
                  <a:lnTo>
                    <a:pt x="7797800" y="1155192"/>
                  </a:lnTo>
                  <a:cubicBezTo>
                    <a:pt x="7797800" y="1278636"/>
                    <a:pt x="7697724" y="1378712"/>
                    <a:pt x="7574280" y="1378712"/>
                  </a:cubicBezTo>
                  <a:lnTo>
                    <a:pt x="223520" y="1378712"/>
                  </a:lnTo>
                  <a:cubicBezTo>
                    <a:pt x="100076" y="1378712"/>
                    <a:pt x="0" y="1278636"/>
                    <a:pt x="0" y="1155192"/>
                  </a:cubicBezTo>
                  <a:close/>
                </a:path>
              </a:pathLst>
            </a:custGeom>
            <a:solidFill>
              <a:srgbClr val="F0F5FE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453896" y="4773168"/>
            <a:ext cx="987552" cy="576072"/>
            <a:chOff x="0" y="0"/>
            <a:chExt cx="1316736" cy="76809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316736" cy="768096"/>
            </a:xfrm>
            <a:custGeom>
              <a:avLst/>
              <a:gdLst/>
              <a:ahLst/>
              <a:cxnLst/>
              <a:rect r="r" b="b" t="t" l="l"/>
              <a:pathLst>
                <a:path h="768096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1316736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3669E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7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2633472" y="4814316"/>
            <a:ext cx="3950208" cy="507492"/>
            <a:chOff x="0" y="0"/>
            <a:chExt cx="5266944" cy="67665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266944" cy="676656"/>
            </a:xfrm>
            <a:custGeom>
              <a:avLst/>
              <a:gdLst/>
              <a:ahLst/>
              <a:cxnLst/>
              <a:rect r="r" b="b" t="t" l="l"/>
              <a:pathLst>
                <a:path h="676656" w="5266944">
                  <a:moveTo>
                    <a:pt x="0" y="0"/>
                  </a:moveTo>
                  <a:lnTo>
                    <a:pt x="5266944" y="0"/>
                  </a:lnTo>
                  <a:lnTo>
                    <a:pt x="526694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667" r="0" b="-101667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5266944" cy="686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дней недели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15187" y="5833491"/>
            <a:ext cx="5848350" cy="1034034"/>
            <a:chOff x="0" y="0"/>
            <a:chExt cx="7797800" cy="137871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797800" cy="1378712"/>
            </a:xfrm>
            <a:custGeom>
              <a:avLst/>
              <a:gdLst/>
              <a:ahLst/>
              <a:cxnLst/>
              <a:rect r="r" b="b" t="t" l="l"/>
              <a:pathLst>
                <a:path h="1378712" w="7797800">
                  <a:moveTo>
                    <a:pt x="0" y="223520"/>
                  </a:moveTo>
                  <a:cubicBezTo>
                    <a:pt x="0" y="100076"/>
                    <a:pt x="100076" y="0"/>
                    <a:pt x="223520" y="0"/>
                  </a:cubicBezTo>
                  <a:lnTo>
                    <a:pt x="7574280" y="0"/>
                  </a:lnTo>
                  <a:cubicBezTo>
                    <a:pt x="7697724" y="0"/>
                    <a:pt x="7797800" y="100076"/>
                    <a:pt x="7797800" y="223520"/>
                  </a:cubicBezTo>
                  <a:lnTo>
                    <a:pt x="7797800" y="1155192"/>
                  </a:lnTo>
                  <a:cubicBezTo>
                    <a:pt x="7797800" y="1278636"/>
                    <a:pt x="7697724" y="1378712"/>
                    <a:pt x="7574280" y="1378712"/>
                  </a:cubicBezTo>
                  <a:lnTo>
                    <a:pt x="223520" y="1378712"/>
                  </a:lnTo>
                  <a:cubicBezTo>
                    <a:pt x="100076" y="1378712"/>
                    <a:pt x="0" y="1278636"/>
                    <a:pt x="0" y="1155192"/>
                  </a:cubicBezTo>
                  <a:close/>
                </a:path>
              </a:pathLst>
            </a:custGeom>
            <a:solidFill>
              <a:srgbClr val="F5EEFF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453896" y="6076188"/>
            <a:ext cx="987552" cy="576072"/>
            <a:chOff x="0" y="0"/>
            <a:chExt cx="1316736" cy="76809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316736" cy="768096"/>
            </a:xfrm>
            <a:custGeom>
              <a:avLst/>
              <a:gdLst/>
              <a:ahLst/>
              <a:cxnLst/>
              <a:rect r="r" b="b" t="t" l="l"/>
              <a:pathLst>
                <a:path h="768096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1316736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5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2633472" y="6117336"/>
            <a:ext cx="3950208" cy="507492"/>
            <a:chOff x="0" y="0"/>
            <a:chExt cx="5266944" cy="67665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266944" cy="676656"/>
            </a:xfrm>
            <a:custGeom>
              <a:avLst/>
              <a:gdLst/>
              <a:ahLst/>
              <a:cxnLst/>
              <a:rect r="r" b="b" t="t" l="l"/>
              <a:pathLst>
                <a:path h="676656" w="5266944">
                  <a:moveTo>
                    <a:pt x="0" y="0"/>
                  </a:moveTo>
                  <a:lnTo>
                    <a:pt x="5266944" y="0"/>
                  </a:lnTo>
                  <a:lnTo>
                    <a:pt x="526694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667" r="0" b="-10166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5266944" cy="686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подразделений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15187" y="7136511"/>
            <a:ext cx="5848350" cy="1034034"/>
            <a:chOff x="0" y="0"/>
            <a:chExt cx="7797800" cy="137871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797800" cy="1378712"/>
            </a:xfrm>
            <a:custGeom>
              <a:avLst/>
              <a:gdLst/>
              <a:ahLst/>
              <a:cxnLst/>
              <a:rect r="r" b="b" t="t" l="l"/>
              <a:pathLst>
                <a:path h="1378712" w="7797800">
                  <a:moveTo>
                    <a:pt x="0" y="223520"/>
                  </a:moveTo>
                  <a:cubicBezTo>
                    <a:pt x="0" y="100076"/>
                    <a:pt x="100076" y="0"/>
                    <a:pt x="223520" y="0"/>
                  </a:cubicBezTo>
                  <a:lnTo>
                    <a:pt x="7574280" y="0"/>
                  </a:lnTo>
                  <a:cubicBezTo>
                    <a:pt x="7697724" y="0"/>
                    <a:pt x="7797800" y="100076"/>
                    <a:pt x="7797800" y="223520"/>
                  </a:cubicBezTo>
                  <a:lnTo>
                    <a:pt x="7797800" y="1155192"/>
                  </a:lnTo>
                  <a:cubicBezTo>
                    <a:pt x="7797800" y="1278636"/>
                    <a:pt x="7697724" y="1378712"/>
                    <a:pt x="7574280" y="1378712"/>
                  </a:cubicBezTo>
                  <a:lnTo>
                    <a:pt x="223520" y="1378712"/>
                  </a:lnTo>
                  <a:cubicBezTo>
                    <a:pt x="100076" y="1378712"/>
                    <a:pt x="0" y="1278636"/>
                    <a:pt x="0" y="1155192"/>
                  </a:cubicBezTo>
                  <a:close/>
                </a:path>
              </a:pathLst>
            </a:custGeom>
            <a:solidFill>
              <a:srgbClr val="F0F5FE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453896" y="7379208"/>
            <a:ext cx="987552" cy="576072"/>
            <a:chOff x="0" y="0"/>
            <a:chExt cx="1316736" cy="76809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316736" cy="768096"/>
            </a:xfrm>
            <a:custGeom>
              <a:avLst/>
              <a:gdLst/>
              <a:ahLst/>
              <a:cxnLst/>
              <a:rect r="r" b="b" t="t" l="l"/>
              <a:pathLst>
                <a:path h="768096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1316736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3669E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2633472" y="7420356"/>
            <a:ext cx="3950208" cy="507492"/>
            <a:chOff x="0" y="0"/>
            <a:chExt cx="5266944" cy="67665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266944" cy="676656"/>
            </a:xfrm>
            <a:custGeom>
              <a:avLst/>
              <a:gdLst/>
              <a:ahLst/>
              <a:cxnLst/>
              <a:rect r="r" b="b" t="t" l="l"/>
              <a:pathLst>
                <a:path h="676656" w="5266944">
                  <a:moveTo>
                    <a:pt x="0" y="0"/>
                  </a:moveTo>
                  <a:lnTo>
                    <a:pt x="5266944" y="0"/>
                  </a:lnTo>
                  <a:lnTo>
                    <a:pt x="526694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667" r="0" b="-101667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5266944" cy="686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sin/cos дня года</a:t>
              </a:r>
            </a:p>
          </p:txBody>
        </p:sp>
      </p:grpSp>
      <p:sp>
        <p:nvSpPr>
          <p:cNvPr name="AutoShape 70" id="70"/>
          <p:cNvSpPr/>
          <p:nvPr/>
        </p:nvSpPr>
        <p:spPr>
          <a:xfrm rot="794340">
            <a:off x="8577558" y="4164902"/>
            <a:ext cx="2321604" cy="0"/>
          </a:xfrm>
          <a:prstGeom prst="line">
            <a:avLst/>
          </a:prstGeom>
          <a:ln cap="rnd" w="9525">
            <a:solidFill>
              <a:srgbClr val="C8CD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1" id="71"/>
          <p:cNvSpPr/>
          <p:nvPr/>
        </p:nvSpPr>
        <p:spPr>
          <a:xfrm rot="2020260">
            <a:off x="8380628" y="4651820"/>
            <a:ext cx="2715463" cy="0"/>
          </a:xfrm>
          <a:prstGeom prst="line">
            <a:avLst/>
          </a:prstGeom>
          <a:ln cap="rnd" w="9525">
            <a:solidFill>
              <a:srgbClr val="C8CD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2" id="72"/>
          <p:cNvSpPr/>
          <p:nvPr/>
        </p:nvSpPr>
        <p:spPr>
          <a:xfrm rot="2859060">
            <a:off x="8060979" y="5138738"/>
            <a:ext cx="3354753" cy="0"/>
          </a:xfrm>
          <a:prstGeom prst="line">
            <a:avLst/>
          </a:prstGeom>
          <a:ln cap="rnd" w="9525">
            <a:solidFill>
              <a:srgbClr val="C8CD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3" id="73"/>
          <p:cNvSpPr/>
          <p:nvPr/>
        </p:nvSpPr>
        <p:spPr>
          <a:xfrm rot="3407880">
            <a:off x="7674883" y="5625656"/>
            <a:ext cx="4126944" cy="0"/>
          </a:xfrm>
          <a:prstGeom prst="line">
            <a:avLst/>
          </a:prstGeom>
          <a:ln cap="rnd" w="9525">
            <a:solidFill>
              <a:srgbClr val="C8CD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4" id="74"/>
          <p:cNvSpPr/>
          <p:nvPr/>
        </p:nvSpPr>
        <p:spPr>
          <a:xfrm rot="694860">
            <a:off x="8584930" y="5173028"/>
            <a:ext cx="2306860" cy="0"/>
          </a:xfrm>
          <a:prstGeom prst="line">
            <a:avLst/>
          </a:prstGeom>
          <a:ln cap="rnd" w="9525">
            <a:solidFill>
              <a:srgbClr val="C8CD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5" id="75"/>
          <p:cNvSpPr/>
          <p:nvPr/>
        </p:nvSpPr>
        <p:spPr>
          <a:xfrm rot="1947000">
            <a:off x="8399336" y="5659946"/>
            <a:ext cx="2678049" cy="0"/>
          </a:xfrm>
          <a:prstGeom prst="line">
            <a:avLst/>
          </a:prstGeom>
          <a:ln cap="rnd" w="9525">
            <a:solidFill>
              <a:srgbClr val="C8CD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6" id="76"/>
          <p:cNvSpPr/>
          <p:nvPr/>
        </p:nvSpPr>
        <p:spPr>
          <a:xfrm rot="2811000">
            <a:off x="8086163" y="6146864"/>
            <a:ext cx="3304394" cy="0"/>
          </a:xfrm>
          <a:prstGeom prst="line">
            <a:avLst/>
          </a:prstGeom>
          <a:ln cap="rnd" w="9525">
            <a:solidFill>
              <a:srgbClr val="C8CD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7" id="77"/>
          <p:cNvSpPr/>
          <p:nvPr/>
        </p:nvSpPr>
        <p:spPr>
          <a:xfrm rot="594180">
            <a:off x="8591321" y="6181154"/>
            <a:ext cx="2294077" cy="0"/>
          </a:xfrm>
          <a:prstGeom prst="line">
            <a:avLst/>
          </a:prstGeom>
          <a:ln cap="rnd" w="9525">
            <a:solidFill>
              <a:srgbClr val="C8CD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8" id="78"/>
          <p:cNvSpPr/>
          <p:nvPr/>
        </p:nvSpPr>
        <p:spPr>
          <a:xfrm rot="1871700">
            <a:off x="8417414" y="6668071"/>
            <a:ext cx="2641883" cy="0"/>
          </a:xfrm>
          <a:prstGeom prst="line">
            <a:avLst/>
          </a:prstGeom>
          <a:ln cap="rnd" w="9525">
            <a:solidFill>
              <a:srgbClr val="C8CD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9" id="79"/>
          <p:cNvSpPr/>
          <p:nvPr/>
        </p:nvSpPr>
        <p:spPr>
          <a:xfrm rot="492420">
            <a:off x="8596713" y="7189280"/>
            <a:ext cx="2283285" cy="0"/>
          </a:xfrm>
          <a:prstGeom prst="line">
            <a:avLst/>
          </a:prstGeom>
          <a:ln cap="rnd" w="9525">
            <a:solidFill>
              <a:srgbClr val="C8CD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0" id="80"/>
          <p:cNvSpPr/>
          <p:nvPr/>
        </p:nvSpPr>
        <p:spPr>
          <a:xfrm rot="748200">
            <a:off x="10829534" y="3705416"/>
            <a:ext cx="2398786" cy="0"/>
          </a:xfrm>
          <a:prstGeom prst="line">
            <a:avLst/>
          </a:prstGeom>
          <a:ln cap="rnd" w="9525">
            <a:solidFill>
              <a:srgbClr val="C8CD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1" id="81"/>
          <p:cNvSpPr/>
          <p:nvPr/>
        </p:nvSpPr>
        <p:spPr>
          <a:xfrm rot="2142780">
            <a:off x="10586609" y="4288346"/>
            <a:ext cx="2884646" cy="0"/>
          </a:xfrm>
          <a:prstGeom prst="line">
            <a:avLst/>
          </a:prstGeom>
          <a:ln cap="rnd" w="9525">
            <a:solidFill>
              <a:srgbClr val="C8CD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2" id="82"/>
          <p:cNvSpPr/>
          <p:nvPr/>
        </p:nvSpPr>
        <p:spPr>
          <a:xfrm rot="3034980">
            <a:off x="10184578" y="4871276"/>
            <a:ext cx="3688718" cy="0"/>
          </a:xfrm>
          <a:prstGeom prst="line">
            <a:avLst/>
          </a:prstGeom>
          <a:ln cap="rnd" w="9525">
            <a:solidFill>
              <a:srgbClr val="C8CD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3" id="83"/>
          <p:cNvSpPr/>
          <p:nvPr/>
        </p:nvSpPr>
        <p:spPr>
          <a:xfrm rot="3584760">
            <a:off x="9704575" y="5454206"/>
            <a:ext cx="4648714" cy="0"/>
          </a:xfrm>
          <a:prstGeom prst="line">
            <a:avLst/>
          </a:prstGeom>
          <a:ln cap="rnd" w="9525">
            <a:solidFill>
              <a:srgbClr val="C8CD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4" id="84"/>
          <p:cNvSpPr/>
          <p:nvPr/>
        </p:nvSpPr>
        <p:spPr>
          <a:xfrm rot="1011840">
            <a:off x="10805208" y="4775264"/>
            <a:ext cx="2447439" cy="0"/>
          </a:xfrm>
          <a:prstGeom prst="line">
            <a:avLst/>
          </a:prstGeom>
          <a:ln cap="rnd" w="9525">
            <a:solidFill>
              <a:srgbClr val="C8CD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5" id="85"/>
          <p:cNvSpPr/>
          <p:nvPr/>
        </p:nvSpPr>
        <p:spPr>
          <a:xfrm rot="2321460">
            <a:off x="10528535" y="5358194"/>
            <a:ext cx="3000785" cy="0"/>
          </a:xfrm>
          <a:prstGeom prst="line">
            <a:avLst/>
          </a:prstGeom>
          <a:ln cap="rnd" w="9525">
            <a:solidFill>
              <a:srgbClr val="C8CD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6" id="86"/>
          <p:cNvSpPr/>
          <p:nvPr/>
        </p:nvSpPr>
        <p:spPr>
          <a:xfrm rot="3144180">
            <a:off x="10109435" y="5941124"/>
            <a:ext cx="3838994" cy="0"/>
          </a:xfrm>
          <a:prstGeom prst="line">
            <a:avLst/>
          </a:prstGeom>
          <a:ln cap="rnd" w="9525">
            <a:solidFill>
              <a:srgbClr val="C8CD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7" id="87"/>
          <p:cNvSpPr/>
          <p:nvPr/>
        </p:nvSpPr>
        <p:spPr>
          <a:xfrm rot="1263720">
            <a:off x="10773985" y="5845112"/>
            <a:ext cx="2509885" cy="0"/>
          </a:xfrm>
          <a:prstGeom prst="line">
            <a:avLst/>
          </a:prstGeom>
          <a:ln cap="rnd" w="9525">
            <a:solidFill>
              <a:srgbClr val="C8CD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8" id="88"/>
          <p:cNvSpPr/>
          <p:nvPr/>
        </p:nvSpPr>
        <p:spPr>
          <a:xfrm rot="2486460">
            <a:off x="10466718" y="6428042"/>
            <a:ext cx="3124419" cy="0"/>
          </a:xfrm>
          <a:prstGeom prst="line">
            <a:avLst/>
          </a:prstGeom>
          <a:ln cap="rnd" w="9525">
            <a:solidFill>
              <a:srgbClr val="C8CD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9" id="89"/>
          <p:cNvSpPr/>
          <p:nvPr/>
        </p:nvSpPr>
        <p:spPr>
          <a:xfrm rot="1502220">
            <a:off x="10736370" y="6914960"/>
            <a:ext cx="2585114" cy="0"/>
          </a:xfrm>
          <a:prstGeom prst="line">
            <a:avLst/>
          </a:prstGeom>
          <a:ln cap="rnd" w="9525">
            <a:solidFill>
              <a:srgbClr val="C8CD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0" id="90"/>
          <p:cNvSpPr/>
          <p:nvPr/>
        </p:nvSpPr>
        <p:spPr>
          <a:xfrm rot="176280">
            <a:off x="10856290" y="7401878"/>
            <a:ext cx="2345284" cy="0"/>
          </a:xfrm>
          <a:prstGeom prst="line">
            <a:avLst/>
          </a:prstGeom>
          <a:ln cap="rnd" w="9525">
            <a:solidFill>
              <a:srgbClr val="C8CD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1" id="91"/>
          <p:cNvSpPr/>
          <p:nvPr/>
        </p:nvSpPr>
        <p:spPr>
          <a:xfrm rot="1817400">
            <a:off x="12978384" y="4734116"/>
            <a:ext cx="3093720" cy="0"/>
          </a:xfrm>
          <a:prstGeom prst="line">
            <a:avLst/>
          </a:prstGeom>
          <a:ln cap="rnd" w="9525">
            <a:solidFill>
              <a:srgbClr val="C8CD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2" id="92"/>
          <p:cNvSpPr/>
          <p:nvPr/>
        </p:nvSpPr>
        <p:spPr>
          <a:xfrm rot="504060">
            <a:off x="13175066" y="5317046"/>
            <a:ext cx="2700357" cy="0"/>
          </a:xfrm>
          <a:prstGeom prst="line">
            <a:avLst/>
          </a:prstGeom>
          <a:ln cap="rnd" w="9525">
            <a:solidFill>
              <a:srgbClr val="C8CDE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3" id="93"/>
          <p:cNvGrpSpPr/>
          <p:nvPr/>
        </p:nvGrpSpPr>
        <p:grpSpPr>
          <a:xfrm rot="0">
            <a:off x="8417814" y="3713226"/>
            <a:ext cx="391668" cy="391668"/>
            <a:chOff x="0" y="0"/>
            <a:chExt cx="522224" cy="522224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22224" cy="522224"/>
            </a:xfrm>
            <a:custGeom>
              <a:avLst/>
              <a:gdLst/>
              <a:ahLst/>
              <a:cxnLst/>
              <a:rect r="r" b="b" t="t" l="l"/>
              <a:pathLst>
                <a:path h="522224" w="522224">
                  <a:moveTo>
                    <a:pt x="0" y="261112"/>
                  </a:moveTo>
                  <a:cubicBezTo>
                    <a:pt x="0" y="116967"/>
                    <a:pt x="116967" y="0"/>
                    <a:pt x="261112" y="0"/>
                  </a:cubicBezTo>
                  <a:cubicBezTo>
                    <a:pt x="405257" y="0"/>
                    <a:pt x="522224" y="116967"/>
                    <a:pt x="522224" y="261112"/>
                  </a:cubicBezTo>
                  <a:cubicBezTo>
                    <a:pt x="522224" y="405257"/>
                    <a:pt x="405257" y="522224"/>
                    <a:pt x="261112" y="522224"/>
                  </a:cubicBezTo>
                  <a:cubicBezTo>
                    <a:pt x="116967" y="522224"/>
                    <a:pt x="0" y="405257"/>
                    <a:pt x="0" y="261112"/>
                  </a:cubicBezTo>
                  <a:close/>
                </a:path>
              </a:pathLst>
            </a:custGeom>
            <a:solidFill>
              <a:srgbClr val="5B9AFF"/>
            </a:solidFill>
            <a:ln w="762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8417814" y="4755642"/>
            <a:ext cx="391668" cy="391668"/>
            <a:chOff x="0" y="0"/>
            <a:chExt cx="522224" cy="52222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22224" cy="522224"/>
            </a:xfrm>
            <a:custGeom>
              <a:avLst/>
              <a:gdLst/>
              <a:ahLst/>
              <a:cxnLst/>
              <a:rect r="r" b="b" t="t" l="l"/>
              <a:pathLst>
                <a:path h="522224" w="522224">
                  <a:moveTo>
                    <a:pt x="0" y="261112"/>
                  </a:moveTo>
                  <a:cubicBezTo>
                    <a:pt x="0" y="116967"/>
                    <a:pt x="116967" y="0"/>
                    <a:pt x="261112" y="0"/>
                  </a:cubicBezTo>
                  <a:cubicBezTo>
                    <a:pt x="405257" y="0"/>
                    <a:pt x="522224" y="116967"/>
                    <a:pt x="522224" y="261112"/>
                  </a:cubicBezTo>
                  <a:cubicBezTo>
                    <a:pt x="522224" y="405257"/>
                    <a:pt x="405257" y="522224"/>
                    <a:pt x="261112" y="522224"/>
                  </a:cubicBezTo>
                  <a:cubicBezTo>
                    <a:pt x="116967" y="522224"/>
                    <a:pt x="0" y="405257"/>
                    <a:pt x="0" y="261112"/>
                  </a:cubicBezTo>
                  <a:close/>
                </a:path>
              </a:pathLst>
            </a:custGeom>
            <a:solidFill>
              <a:srgbClr val="5B9AFF"/>
            </a:solidFill>
            <a:ln w="762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8417814" y="5798058"/>
            <a:ext cx="391668" cy="391668"/>
            <a:chOff x="0" y="0"/>
            <a:chExt cx="522224" cy="522224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22224" cy="522224"/>
            </a:xfrm>
            <a:custGeom>
              <a:avLst/>
              <a:gdLst/>
              <a:ahLst/>
              <a:cxnLst/>
              <a:rect r="r" b="b" t="t" l="l"/>
              <a:pathLst>
                <a:path h="522224" w="522224">
                  <a:moveTo>
                    <a:pt x="0" y="261112"/>
                  </a:moveTo>
                  <a:cubicBezTo>
                    <a:pt x="0" y="116967"/>
                    <a:pt x="116967" y="0"/>
                    <a:pt x="261112" y="0"/>
                  </a:cubicBezTo>
                  <a:cubicBezTo>
                    <a:pt x="405257" y="0"/>
                    <a:pt x="522224" y="116967"/>
                    <a:pt x="522224" y="261112"/>
                  </a:cubicBezTo>
                  <a:cubicBezTo>
                    <a:pt x="522224" y="405257"/>
                    <a:pt x="405257" y="522224"/>
                    <a:pt x="261112" y="522224"/>
                  </a:cubicBezTo>
                  <a:cubicBezTo>
                    <a:pt x="116967" y="522224"/>
                    <a:pt x="0" y="405257"/>
                    <a:pt x="0" y="261112"/>
                  </a:cubicBezTo>
                  <a:close/>
                </a:path>
              </a:pathLst>
            </a:custGeom>
            <a:solidFill>
              <a:srgbClr val="5B9AFF"/>
            </a:solidFill>
            <a:ln w="762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8417814" y="6840474"/>
            <a:ext cx="391668" cy="391668"/>
            <a:chOff x="0" y="0"/>
            <a:chExt cx="522224" cy="522224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522224" cy="522224"/>
            </a:xfrm>
            <a:custGeom>
              <a:avLst/>
              <a:gdLst/>
              <a:ahLst/>
              <a:cxnLst/>
              <a:rect r="r" b="b" t="t" l="l"/>
              <a:pathLst>
                <a:path h="522224" w="522224">
                  <a:moveTo>
                    <a:pt x="0" y="261112"/>
                  </a:moveTo>
                  <a:cubicBezTo>
                    <a:pt x="0" y="116967"/>
                    <a:pt x="116967" y="0"/>
                    <a:pt x="261112" y="0"/>
                  </a:cubicBezTo>
                  <a:cubicBezTo>
                    <a:pt x="405257" y="0"/>
                    <a:pt x="522224" y="116967"/>
                    <a:pt x="522224" y="261112"/>
                  </a:cubicBezTo>
                  <a:cubicBezTo>
                    <a:pt x="522224" y="405257"/>
                    <a:pt x="405257" y="522224"/>
                    <a:pt x="261112" y="522224"/>
                  </a:cubicBezTo>
                  <a:cubicBezTo>
                    <a:pt x="116967" y="522224"/>
                    <a:pt x="0" y="405257"/>
                    <a:pt x="0" y="261112"/>
                  </a:cubicBezTo>
                  <a:close/>
                </a:path>
              </a:pathLst>
            </a:custGeom>
            <a:solidFill>
              <a:srgbClr val="5B9AFF"/>
            </a:solidFill>
            <a:ln w="762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01" id="101"/>
          <p:cNvGrpSpPr/>
          <p:nvPr/>
        </p:nvGrpSpPr>
        <p:grpSpPr>
          <a:xfrm rot="0">
            <a:off x="10667238" y="3260598"/>
            <a:ext cx="391668" cy="391668"/>
            <a:chOff x="0" y="0"/>
            <a:chExt cx="522224" cy="52222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22224" cy="522224"/>
            </a:xfrm>
            <a:custGeom>
              <a:avLst/>
              <a:gdLst/>
              <a:ahLst/>
              <a:cxnLst/>
              <a:rect r="r" b="b" t="t" l="l"/>
              <a:pathLst>
                <a:path h="522224" w="522224">
                  <a:moveTo>
                    <a:pt x="0" y="261112"/>
                  </a:moveTo>
                  <a:cubicBezTo>
                    <a:pt x="0" y="116967"/>
                    <a:pt x="116967" y="0"/>
                    <a:pt x="261112" y="0"/>
                  </a:cubicBezTo>
                  <a:cubicBezTo>
                    <a:pt x="405257" y="0"/>
                    <a:pt x="522224" y="116967"/>
                    <a:pt x="522224" y="261112"/>
                  </a:cubicBezTo>
                  <a:cubicBezTo>
                    <a:pt x="522224" y="405257"/>
                    <a:pt x="405257" y="522224"/>
                    <a:pt x="261112" y="522224"/>
                  </a:cubicBezTo>
                  <a:cubicBezTo>
                    <a:pt x="116967" y="522224"/>
                    <a:pt x="0" y="405257"/>
                    <a:pt x="0" y="261112"/>
                  </a:cubicBezTo>
                  <a:close/>
                </a:path>
              </a:pathLst>
            </a:custGeom>
            <a:solidFill>
              <a:srgbClr val="8C14DB"/>
            </a:solidFill>
            <a:ln w="762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03" id="103"/>
          <p:cNvGrpSpPr/>
          <p:nvPr/>
        </p:nvGrpSpPr>
        <p:grpSpPr>
          <a:xfrm rot="0">
            <a:off x="10667238" y="4234434"/>
            <a:ext cx="391668" cy="391668"/>
            <a:chOff x="0" y="0"/>
            <a:chExt cx="522224" cy="522224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522224" cy="522224"/>
            </a:xfrm>
            <a:custGeom>
              <a:avLst/>
              <a:gdLst/>
              <a:ahLst/>
              <a:cxnLst/>
              <a:rect r="r" b="b" t="t" l="l"/>
              <a:pathLst>
                <a:path h="522224" w="522224">
                  <a:moveTo>
                    <a:pt x="0" y="261112"/>
                  </a:moveTo>
                  <a:cubicBezTo>
                    <a:pt x="0" y="116967"/>
                    <a:pt x="116967" y="0"/>
                    <a:pt x="261112" y="0"/>
                  </a:cubicBezTo>
                  <a:cubicBezTo>
                    <a:pt x="405257" y="0"/>
                    <a:pt x="522224" y="116967"/>
                    <a:pt x="522224" y="261112"/>
                  </a:cubicBezTo>
                  <a:cubicBezTo>
                    <a:pt x="522224" y="405257"/>
                    <a:pt x="405257" y="522224"/>
                    <a:pt x="261112" y="522224"/>
                  </a:cubicBezTo>
                  <a:cubicBezTo>
                    <a:pt x="116967" y="522224"/>
                    <a:pt x="0" y="405257"/>
                    <a:pt x="0" y="261112"/>
                  </a:cubicBezTo>
                  <a:close/>
                </a:path>
              </a:pathLst>
            </a:custGeom>
            <a:solidFill>
              <a:srgbClr val="8C14DB"/>
            </a:solidFill>
            <a:ln w="762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10667238" y="5208270"/>
            <a:ext cx="391668" cy="391668"/>
            <a:chOff x="0" y="0"/>
            <a:chExt cx="522224" cy="522224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22224" cy="522224"/>
            </a:xfrm>
            <a:custGeom>
              <a:avLst/>
              <a:gdLst/>
              <a:ahLst/>
              <a:cxnLst/>
              <a:rect r="r" b="b" t="t" l="l"/>
              <a:pathLst>
                <a:path h="522224" w="522224">
                  <a:moveTo>
                    <a:pt x="0" y="261112"/>
                  </a:moveTo>
                  <a:cubicBezTo>
                    <a:pt x="0" y="116967"/>
                    <a:pt x="116967" y="0"/>
                    <a:pt x="261112" y="0"/>
                  </a:cubicBezTo>
                  <a:cubicBezTo>
                    <a:pt x="405257" y="0"/>
                    <a:pt x="522224" y="116967"/>
                    <a:pt x="522224" y="261112"/>
                  </a:cubicBezTo>
                  <a:cubicBezTo>
                    <a:pt x="522224" y="405257"/>
                    <a:pt x="405257" y="522224"/>
                    <a:pt x="261112" y="522224"/>
                  </a:cubicBezTo>
                  <a:cubicBezTo>
                    <a:pt x="116967" y="522224"/>
                    <a:pt x="0" y="405257"/>
                    <a:pt x="0" y="261112"/>
                  </a:cubicBezTo>
                  <a:close/>
                </a:path>
              </a:pathLst>
            </a:custGeom>
            <a:solidFill>
              <a:srgbClr val="8C14DB"/>
            </a:solidFill>
            <a:ln w="762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07" id="107"/>
          <p:cNvGrpSpPr/>
          <p:nvPr/>
        </p:nvGrpSpPr>
        <p:grpSpPr>
          <a:xfrm rot="0">
            <a:off x="10667238" y="6182106"/>
            <a:ext cx="391668" cy="391668"/>
            <a:chOff x="0" y="0"/>
            <a:chExt cx="522224" cy="522224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522224" cy="522224"/>
            </a:xfrm>
            <a:custGeom>
              <a:avLst/>
              <a:gdLst/>
              <a:ahLst/>
              <a:cxnLst/>
              <a:rect r="r" b="b" t="t" l="l"/>
              <a:pathLst>
                <a:path h="522224" w="522224">
                  <a:moveTo>
                    <a:pt x="0" y="261112"/>
                  </a:moveTo>
                  <a:cubicBezTo>
                    <a:pt x="0" y="116967"/>
                    <a:pt x="116967" y="0"/>
                    <a:pt x="261112" y="0"/>
                  </a:cubicBezTo>
                  <a:cubicBezTo>
                    <a:pt x="405257" y="0"/>
                    <a:pt x="522224" y="116967"/>
                    <a:pt x="522224" y="261112"/>
                  </a:cubicBezTo>
                  <a:cubicBezTo>
                    <a:pt x="522224" y="405257"/>
                    <a:pt x="405257" y="522224"/>
                    <a:pt x="261112" y="522224"/>
                  </a:cubicBezTo>
                  <a:cubicBezTo>
                    <a:pt x="116967" y="522224"/>
                    <a:pt x="0" y="405257"/>
                    <a:pt x="0" y="261112"/>
                  </a:cubicBezTo>
                  <a:close/>
                </a:path>
              </a:pathLst>
            </a:custGeom>
            <a:solidFill>
              <a:srgbClr val="8C14DB"/>
            </a:solidFill>
            <a:ln w="762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09" id="109"/>
          <p:cNvGrpSpPr/>
          <p:nvPr/>
        </p:nvGrpSpPr>
        <p:grpSpPr>
          <a:xfrm rot="0">
            <a:off x="10667238" y="7155942"/>
            <a:ext cx="391668" cy="391668"/>
            <a:chOff x="0" y="0"/>
            <a:chExt cx="522224" cy="522224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522224" cy="522224"/>
            </a:xfrm>
            <a:custGeom>
              <a:avLst/>
              <a:gdLst/>
              <a:ahLst/>
              <a:cxnLst/>
              <a:rect r="r" b="b" t="t" l="l"/>
              <a:pathLst>
                <a:path h="522224" w="522224">
                  <a:moveTo>
                    <a:pt x="0" y="261112"/>
                  </a:moveTo>
                  <a:cubicBezTo>
                    <a:pt x="0" y="116967"/>
                    <a:pt x="116967" y="0"/>
                    <a:pt x="261112" y="0"/>
                  </a:cubicBezTo>
                  <a:cubicBezTo>
                    <a:pt x="405257" y="0"/>
                    <a:pt x="522224" y="116967"/>
                    <a:pt x="522224" y="261112"/>
                  </a:cubicBezTo>
                  <a:cubicBezTo>
                    <a:pt x="522224" y="405257"/>
                    <a:pt x="405257" y="522224"/>
                    <a:pt x="261112" y="522224"/>
                  </a:cubicBezTo>
                  <a:cubicBezTo>
                    <a:pt x="116967" y="522224"/>
                    <a:pt x="0" y="405257"/>
                    <a:pt x="0" y="261112"/>
                  </a:cubicBezTo>
                  <a:close/>
                </a:path>
              </a:pathLst>
            </a:custGeom>
            <a:solidFill>
              <a:srgbClr val="8C14DB"/>
            </a:solidFill>
            <a:ln w="762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11" id="111"/>
          <p:cNvGrpSpPr/>
          <p:nvPr/>
        </p:nvGrpSpPr>
        <p:grpSpPr>
          <a:xfrm rot="0">
            <a:off x="12998958" y="3768090"/>
            <a:ext cx="391668" cy="391668"/>
            <a:chOff x="0" y="0"/>
            <a:chExt cx="522224" cy="522224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522224" cy="522224"/>
            </a:xfrm>
            <a:custGeom>
              <a:avLst/>
              <a:gdLst/>
              <a:ahLst/>
              <a:cxnLst/>
              <a:rect r="r" b="b" t="t" l="l"/>
              <a:pathLst>
                <a:path h="522224" w="522224">
                  <a:moveTo>
                    <a:pt x="0" y="261112"/>
                  </a:moveTo>
                  <a:cubicBezTo>
                    <a:pt x="0" y="116967"/>
                    <a:pt x="116967" y="0"/>
                    <a:pt x="261112" y="0"/>
                  </a:cubicBezTo>
                  <a:cubicBezTo>
                    <a:pt x="405257" y="0"/>
                    <a:pt x="522224" y="116967"/>
                    <a:pt x="522224" y="261112"/>
                  </a:cubicBezTo>
                  <a:cubicBezTo>
                    <a:pt x="522224" y="405257"/>
                    <a:pt x="405257" y="522224"/>
                    <a:pt x="261112" y="522224"/>
                  </a:cubicBezTo>
                  <a:cubicBezTo>
                    <a:pt x="116967" y="522224"/>
                    <a:pt x="0" y="405257"/>
                    <a:pt x="0" y="261112"/>
                  </a:cubicBezTo>
                  <a:close/>
                </a:path>
              </a:pathLst>
            </a:custGeom>
            <a:solidFill>
              <a:srgbClr val="8C14DB"/>
            </a:solidFill>
            <a:ln w="762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13" id="113"/>
          <p:cNvGrpSpPr/>
          <p:nvPr/>
        </p:nvGrpSpPr>
        <p:grpSpPr>
          <a:xfrm rot="0">
            <a:off x="12998958" y="4933950"/>
            <a:ext cx="391668" cy="391668"/>
            <a:chOff x="0" y="0"/>
            <a:chExt cx="522224" cy="52222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522224" cy="522224"/>
            </a:xfrm>
            <a:custGeom>
              <a:avLst/>
              <a:gdLst/>
              <a:ahLst/>
              <a:cxnLst/>
              <a:rect r="r" b="b" t="t" l="l"/>
              <a:pathLst>
                <a:path h="522224" w="522224">
                  <a:moveTo>
                    <a:pt x="0" y="261112"/>
                  </a:moveTo>
                  <a:cubicBezTo>
                    <a:pt x="0" y="116967"/>
                    <a:pt x="116967" y="0"/>
                    <a:pt x="261112" y="0"/>
                  </a:cubicBezTo>
                  <a:cubicBezTo>
                    <a:pt x="405257" y="0"/>
                    <a:pt x="522224" y="116967"/>
                    <a:pt x="522224" y="261112"/>
                  </a:cubicBezTo>
                  <a:cubicBezTo>
                    <a:pt x="522224" y="405257"/>
                    <a:pt x="405257" y="522224"/>
                    <a:pt x="261112" y="522224"/>
                  </a:cubicBezTo>
                  <a:cubicBezTo>
                    <a:pt x="116967" y="522224"/>
                    <a:pt x="0" y="405257"/>
                    <a:pt x="0" y="261112"/>
                  </a:cubicBezTo>
                  <a:close/>
                </a:path>
              </a:pathLst>
            </a:custGeom>
            <a:solidFill>
              <a:srgbClr val="8C14DB"/>
            </a:solidFill>
            <a:ln w="762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15" id="115"/>
          <p:cNvGrpSpPr/>
          <p:nvPr/>
        </p:nvGrpSpPr>
        <p:grpSpPr>
          <a:xfrm rot="0">
            <a:off x="12998958" y="6099810"/>
            <a:ext cx="391668" cy="391668"/>
            <a:chOff x="0" y="0"/>
            <a:chExt cx="522224" cy="522224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522224" cy="522224"/>
            </a:xfrm>
            <a:custGeom>
              <a:avLst/>
              <a:gdLst/>
              <a:ahLst/>
              <a:cxnLst/>
              <a:rect r="r" b="b" t="t" l="l"/>
              <a:pathLst>
                <a:path h="522224" w="522224">
                  <a:moveTo>
                    <a:pt x="0" y="261112"/>
                  </a:moveTo>
                  <a:cubicBezTo>
                    <a:pt x="0" y="116967"/>
                    <a:pt x="116967" y="0"/>
                    <a:pt x="261112" y="0"/>
                  </a:cubicBezTo>
                  <a:cubicBezTo>
                    <a:pt x="405257" y="0"/>
                    <a:pt x="522224" y="116967"/>
                    <a:pt x="522224" y="261112"/>
                  </a:cubicBezTo>
                  <a:cubicBezTo>
                    <a:pt x="522224" y="405257"/>
                    <a:pt x="405257" y="522224"/>
                    <a:pt x="261112" y="522224"/>
                  </a:cubicBezTo>
                  <a:cubicBezTo>
                    <a:pt x="116967" y="522224"/>
                    <a:pt x="0" y="405257"/>
                    <a:pt x="0" y="261112"/>
                  </a:cubicBezTo>
                  <a:close/>
                </a:path>
              </a:pathLst>
            </a:custGeom>
            <a:solidFill>
              <a:srgbClr val="8C14DB"/>
            </a:solidFill>
            <a:ln w="762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17" id="117"/>
          <p:cNvGrpSpPr/>
          <p:nvPr/>
        </p:nvGrpSpPr>
        <p:grpSpPr>
          <a:xfrm rot="0">
            <a:off x="12998958" y="7265670"/>
            <a:ext cx="391668" cy="391668"/>
            <a:chOff x="0" y="0"/>
            <a:chExt cx="522224" cy="522224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522224" cy="522224"/>
            </a:xfrm>
            <a:custGeom>
              <a:avLst/>
              <a:gdLst/>
              <a:ahLst/>
              <a:cxnLst/>
              <a:rect r="r" b="b" t="t" l="l"/>
              <a:pathLst>
                <a:path h="522224" w="522224">
                  <a:moveTo>
                    <a:pt x="0" y="261112"/>
                  </a:moveTo>
                  <a:cubicBezTo>
                    <a:pt x="0" y="116967"/>
                    <a:pt x="116967" y="0"/>
                    <a:pt x="261112" y="0"/>
                  </a:cubicBezTo>
                  <a:cubicBezTo>
                    <a:pt x="405257" y="0"/>
                    <a:pt x="522224" y="116967"/>
                    <a:pt x="522224" y="261112"/>
                  </a:cubicBezTo>
                  <a:cubicBezTo>
                    <a:pt x="522224" y="405257"/>
                    <a:pt x="405257" y="522224"/>
                    <a:pt x="261112" y="522224"/>
                  </a:cubicBezTo>
                  <a:cubicBezTo>
                    <a:pt x="116967" y="522224"/>
                    <a:pt x="0" y="405257"/>
                    <a:pt x="0" y="261112"/>
                  </a:cubicBezTo>
                  <a:close/>
                </a:path>
              </a:pathLst>
            </a:custGeom>
            <a:solidFill>
              <a:srgbClr val="8C14DB"/>
            </a:solidFill>
            <a:ln w="762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19" id="119"/>
          <p:cNvGrpSpPr/>
          <p:nvPr/>
        </p:nvGrpSpPr>
        <p:grpSpPr>
          <a:xfrm rot="0">
            <a:off x="15659862" y="5317998"/>
            <a:ext cx="391668" cy="391668"/>
            <a:chOff x="0" y="0"/>
            <a:chExt cx="522224" cy="522224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522224" cy="522224"/>
            </a:xfrm>
            <a:custGeom>
              <a:avLst/>
              <a:gdLst/>
              <a:ahLst/>
              <a:cxnLst/>
              <a:rect r="r" b="b" t="t" l="l"/>
              <a:pathLst>
                <a:path h="522224" w="522224">
                  <a:moveTo>
                    <a:pt x="0" y="261112"/>
                  </a:moveTo>
                  <a:cubicBezTo>
                    <a:pt x="0" y="116967"/>
                    <a:pt x="116967" y="0"/>
                    <a:pt x="261112" y="0"/>
                  </a:cubicBezTo>
                  <a:cubicBezTo>
                    <a:pt x="405257" y="0"/>
                    <a:pt x="522224" y="116967"/>
                    <a:pt x="522224" y="261112"/>
                  </a:cubicBezTo>
                  <a:cubicBezTo>
                    <a:pt x="522224" y="405257"/>
                    <a:pt x="405257" y="522224"/>
                    <a:pt x="261112" y="522224"/>
                  </a:cubicBezTo>
                  <a:cubicBezTo>
                    <a:pt x="116967" y="522224"/>
                    <a:pt x="0" y="405257"/>
                    <a:pt x="0" y="261112"/>
                  </a:cubicBezTo>
                  <a:close/>
                </a:path>
              </a:pathLst>
            </a:custGeom>
            <a:solidFill>
              <a:srgbClr val="0F9866"/>
            </a:solidFill>
            <a:ln w="762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21" id="121"/>
          <p:cNvGrpSpPr/>
          <p:nvPr/>
        </p:nvGrpSpPr>
        <p:grpSpPr>
          <a:xfrm rot="0">
            <a:off x="7941564" y="7831836"/>
            <a:ext cx="1097280" cy="384048"/>
            <a:chOff x="0" y="0"/>
            <a:chExt cx="1463040" cy="512064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463040" cy="512064"/>
            </a:xfrm>
            <a:custGeom>
              <a:avLst/>
              <a:gdLst/>
              <a:ahLst/>
              <a:cxnLst/>
              <a:rect r="r" b="b" t="t" l="l"/>
              <a:pathLst>
                <a:path h="51206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9525"/>
              <a:ext cx="146304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64738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Вход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9998964" y="7831836"/>
            <a:ext cx="1783080" cy="384048"/>
            <a:chOff x="0" y="0"/>
            <a:chExt cx="2377440" cy="512064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2377440" cy="512064"/>
            </a:xfrm>
            <a:custGeom>
              <a:avLst/>
              <a:gdLst/>
              <a:ahLst/>
              <a:cxnLst/>
              <a:rect r="r" b="b" t="t" l="l"/>
              <a:pathLst>
                <a:path h="512064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9525"/>
              <a:ext cx="237744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64738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64 нейрона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2412980" y="7831836"/>
            <a:ext cx="1645920" cy="384048"/>
            <a:chOff x="0" y="0"/>
            <a:chExt cx="2194560" cy="512064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2194560" cy="512064"/>
            </a:xfrm>
            <a:custGeom>
              <a:avLst/>
              <a:gdLst/>
              <a:ahLst/>
              <a:cxnLst/>
              <a:rect r="r" b="b" t="t" l="l"/>
              <a:pathLst>
                <a:path h="51206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9525"/>
              <a:ext cx="219456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64738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32 нейрона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14950440" y="6281928"/>
            <a:ext cx="1865376" cy="384048"/>
            <a:chOff x="0" y="0"/>
            <a:chExt cx="2487168" cy="512064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2487168" cy="512064"/>
            </a:xfrm>
            <a:custGeom>
              <a:avLst/>
              <a:gdLst/>
              <a:ahLst/>
              <a:cxnLst/>
              <a:rect r="r" b="b" t="t" l="l"/>
              <a:pathLst>
                <a:path h="512064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9525"/>
              <a:ext cx="2487168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F986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Обращения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1142619" y="8947023"/>
            <a:ext cx="16107918" cy="608838"/>
            <a:chOff x="0" y="0"/>
            <a:chExt cx="21477224" cy="811784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21477224" cy="811784"/>
            </a:xfrm>
            <a:custGeom>
              <a:avLst/>
              <a:gdLst/>
              <a:ahLst/>
              <a:cxnLst/>
              <a:rect r="r" b="b" t="t" l="l"/>
              <a:pathLst>
                <a:path h="811784" w="21477224">
                  <a:moveTo>
                    <a:pt x="0" y="226568"/>
                  </a:moveTo>
                  <a:cubicBezTo>
                    <a:pt x="0" y="101473"/>
                    <a:pt x="101473" y="0"/>
                    <a:pt x="226568" y="0"/>
                  </a:cubicBezTo>
                  <a:lnTo>
                    <a:pt x="21250656" y="0"/>
                  </a:lnTo>
                  <a:cubicBezTo>
                    <a:pt x="21375751" y="0"/>
                    <a:pt x="21477224" y="101473"/>
                    <a:pt x="21477224" y="226568"/>
                  </a:cubicBezTo>
                  <a:lnTo>
                    <a:pt x="21477224" y="585216"/>
                  </a:lnTo>
                  <a:cubicBezTo>
                    <a:pt x="21477224" y="710311"/>
                    <a:pt x="21375751" y="811784"/>
                    <a:pt x="21250656" y="811784"/>
                  </a:cubicBezTo>
                  <a:lnTo>
                    <a:pt x="226568" y="811784"/>
                  </a:lnTo>
                  <a:cubicBezTo>
                    <a:pt x="101473" y="811784"/>
                    <a:pt x="0" y="710311"/>
                    <a:pt x="0" y="585216"/>
                  </a:cubicBezTo>
                  <a:close/>
                </a:path>
              </a:pathLst>
            </a:custGeom>
            <a:solidFill>
              <a:srgbClr val="E9F7F3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1426464" y="9121140"/>
            <a:ext cx="15540228" cy="260604"/>
            <a:chOff x="0" y="0"/>
            <a:chExt cx="20720304" cy="347472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20720304" cy="347472"/>
            </a:xfrm>
            <a:custGeom>
              <a:avLst/>
              <a:gdLst/>
              <a:ahLst/>
              <a:cxnLst/>
              <a:rect r="r" b="b" t="t" l="l"/>
              <a:pathLst>
                <a:path h="347472" w="20720304">
                  <a:moveTo>
                    <a:pt x="0" y="0"/>
                  </a:moveTo>
                  <a:lnTo>
                    <a:pt x="20720304" y="0"/>
                  </a:lnTo>
                  <a:lnTo>
                    <a:pt x="20720304" y="347472"/>
                  </a:lnTo>
                  <a:lnTo>
                    <a:pt x="0" y="3474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11923" r="0" b="-1111923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0"/>
              <a:ext cx="20720304" cy="347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F986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Каждая дата рассчитывается независимо — длинная цепочка прогнозов не нужна.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0392" y="315468"/>
            <a:ext cx="10972800" cy="370332"/>
            <a:chOff x="0" y="0"/>
            <a:chExt cx="14630400" cy="4937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493776"/>
            </a:xfrm>
            <a:custGeom>
              <a:avLst/>
              <a:gdLst/>
              <a:ahLst/>
              <a:cxnLst/>
              <a:rect r="r" b="b" t="t" l="l"/>
              <a:pathLst>
                <a:path h="49377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7334" r="0" b="-52733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4630400" cy="49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94">
                  <a:solidFill>
                    <a:srgbClr val="64738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UNIFORECAST · ML-ПРОЕКТ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51224" y="315468"/>
            <a:ext cx="795528" cy="452628"/>
            <a:chOff x="0" y="0"/>
            <a:chExt cx="1060704" cy="6035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0704" cy="603504"/>
            </a:xfrm>
            <a:custGeom>
              <a:avLst/>
              <a:gdLst/>
              <a:ahLst/>
              <a:cxnLst/>
              <a:rect r="r" b="b" t="t" l="l"/>
              <a:pathLst>
                <a:path h="603504" w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000" t="0" r="-2300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060704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B9AB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08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0392" y="891540"/>
            <a:ext cx="16527780" cy="877824"/>
            <a:chOff x="0" y="0"/>
            <a:chExt cx="22037040" cy="11704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037039" cy="1170432"/>
            </a:xfrm>
            <a:custGeom>
              <a:avLst/>
              <a:gdLst/>
              <a:ahLst/>
              <a:cxnLst/>
              <a:rect r="r" b="b" t="t" l="l"/>
              <a:pathLst>
                <a:path h="1170432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6866" r="0" b="-31686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037040" cy="1170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ОБУЧЕНИЕ И ПРОВЕРКА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40867" y="1896999"/>
            <a:ext cx="773430" cy="108204"/>
            <a:chOff x="0" y="0"/>
            <a:chExt cx="1031240" cy="1442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1240" cy="144272"/>
            </a:xfrm>
            <a:custGeom>
              <a:avLst/>
              <a:gdLst/>
              <a:ahLst/>
              <a:cxnLst/>
              <a:rect r="r" b="b" t="t" l="l"/>
              <a:pathLst>
                <a:path h="144272" w="1031240">
                  <a:moveTo>
                    <a:pt x="0" y="0"/>
                  </a:moveTo>
                  <a:lnTo>
                    <a:pt x="1031240" y="0"/>
                  </a:lnTo>
                  <a:lnTo>
                    <a:pt x="1031240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95247" y="1896999"/>
            <a:ext cx="773430" cy="108204"/>
            <a:chOff x="0" y="0"/>
            <a:chExt cx="1031240" cy="1442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31240" cy="144272"/>
            </a:xfrm>
            <a:custGeom>
              <a:avLst/>
              <a:gdLst/>
              <a:ahLst/>
              <a:cxnLst/>
              <a:rect r="r" b="b" t="t" l="l"/>
              <a:pathLst>
                <a:path h="144272" w="1031240">
                  <a:moveTo>
                    <a:pt x="0" y="0"/>
                  </a:moveTo>
                  <a:lnTo>
                    <a:pt x="1031240" y="0"/>
                  </a:lnTo>
                  <a:lnTo>
                    <a:pt x="1031240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8C14D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349627" y="1896999"/>
            <a:ext cx="457962" cy="108204"/>
            <a:chOff x="0" y="0"/>
            <a:chExt cx="610616" cy="1442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0616" cy="144272"/>
            </a:xfrm>
            <a:custGeom>
              <a:avLst/>
              <a:gdLst/>
              <a:ahLst/>
              <a:cxnLst/>
              <a:rect r="r" b="b" t="t" l="l"/>
              <a:pathLst>
                <a:path h="144272" w="610616">
                  <a:moveTo>
                    <a:pt x="0" y="0"/>
                  </a:moveTo>
                  <a:lnTo>
                    <a:pt x="610616" y="0"/>
                  </a:lnTo>
                  <a:lnTo>
                    <a:pt x="610616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788539" y="1896999"/>
            <a:ext cx="869442" cy="108204"/>
            <a:chOff x="0" y="0"/>
            <a:chExt cx="1159256" cy="1442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59256" cy="144272"/>
            </a:xfrm>
            <a:custGeom>
              <a:avLst/>
              <a:gdLst/>
              <a:ahLst/>
              <a:cxnLst/>
              <a:rect r="r" b="b" t="t" l="l"/>
              <a:pathLst>
                <a:path h="144272" w="1159256">
                  <a:moveTo>
                    <a:pt x="0" y="0"/>
                  </a:moveTo>
                  <a:lnTo>
                    <a:pt x="1159256" y="0"/>
                  </a:lnTo>
                  <a:lnTo>
                    <a:pt x="1159256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B4DAE2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-9525" y="10071735"/>
            <a:ext cx="1843278" cy="224790"/>
            <a:chOff x="0" y="0"/>
            <a:chExt cx="2457704" cy="2997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57704" cy="299720"/>
            </a:xfrm>
            <a:custGeom>
              <a:avLst/>
              <a:gdLst/>
              <a:ahLst/>
              <a:cxnLst/>
              <a:rect r="r" b="b" t="t" l="l"/>
              <a:pathLst>
                <a:path h="299720" w="2457704">
                  <a:moveTo>
                    <a:pt x="0" y="0"/>
                  </a:moveTo>
                  <a:lnTo>
                    <a:pt x="2457704" y="0"/>
                  </a:lnTo>
                  <a:lnTo>
                    <a:pt x="2457704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814703" y="10071735"/>
            <a:ext cx="3036570" cy="224790"/>
            <a:chOff x="0" y="0"/>
            <a:chExt cx="4048760" cy="299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48760" cy="299720"/>
            </a:xfrm>
            <a:custGeom>
              <a:avLst/>
              <a:gdLst/>
              <a:ahLst/>
              <a:cxnLst/>
              <a:rect r="r" b="b" t="t" l="l"/>
              <a:pathLst>
                <a:path h="299720" w="4048760">
                  <a:moveTo>
                    <a:pt x="0" y="0"/>
                  </a:moveTo>
                  <a:lnTo>
                    <a:pt x="4048760" y="0"/>
                  </a:lnTo>
                  <a:lnTo>
                    <a:pt x="404876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8C14D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832223" y="10071735"/>
            <a:ext cx="1843278" cy="224790"/>
            <a:chOff x="0" y="0"/>
            <a:chExt cx="2457704" cy="299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57704" cy="299720"/>
            </a:xfrm>
            <a:custGeom>
              <a:avLst/>
              <a:gdLst/>
              <a:ahLst/>
              <a:cxnLst/>
              <a:rect r="r" b="b" t="t" l="l"/>
              <a:pathLst>
                <a:path h="299720" w="2457704">
                  <a:moveTo>
                    <a:pt x="0" y="0"/>
                  </a:moveTo>
                  <a:lnTo>
                    <a:pt x="2457704" y="0"/>
                  </a:lnTo>
                  <a:lnTo>
                    <a:pt x="2457704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4B5C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656451" y="10071735"/>
            <a:ext cx="3036570" cy="224790"/>
            <a:chOff x="0" y="0"/>
            <a:chExt cx="4048760" cy="2997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48760" cy="299720"/>
            </a:xfrm>
            <a:custGeom>
              <a:avLst/>
              <a:gdLst/>
              <a:ahLst/>
              <a:cxnLst/>
              <a:rect r="r" b="b" t="t" l="l"/>
              <a:pathLst>
                <a:path h="299720" w="4048760">
                  <a:moveTo>
                    <a:pt x="0" y="0"/>
                  </a:moveTo>
                  <a:lnTo>
                    <a:pt x="4048760" y="0"/>
                  </a:lnTo>
                  <a:lnTo>
                    <a:pt x="404876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73971" y="10071735"/>
            <a:ext cx="1843278" cy="224790"/>
            <a:chOff x="0" y="0"/>
            <a:chExt cx="2457704" cy="2997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57704" cy="299720"/>
            </a:xfrm>
            <a:custGeom>
              <a:avLst/>
              <a:gdLst/>
              <a:ahLst/>
              <a:cxnLst/>
              <a:rect r="r" b="b" t="t" l="l"/>
              <a:pathLst>
                <a:path h="299720" w="2457704">
                  <a:moveTo>
                    <a:pt x="0" y="0"/>
                  </a:moveTo>
                  <a:lnTo>
                    <a:pt x="2457704" y="0"/>
                  </a:lnTo>
                  <a:lnTo>
                    <a:pt x="2457704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498199" y="10071735"/>
            <a:ext cx="1802130" cy="224790"/>
            <a:chOff x="0" y="0"/>
            <a:chExt cx="2402840" cy="299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02840" cy="299720"/>
            </a:xfrm>
            <a:custGeom>
              <a:avLst/>
              <a:gdLst/>
              <a:ahLst/>
              <a:cxnLst/>
              <a:rect r="r" b="b" t="t" l="l"/>
              <a:pathLst>
                <a:path h="299720" w="2402840">
                  <a:moveTo>
                    <a:pt x="0" y="0"/>
                  </a:moveTo>
                  <a:lnTo>
                    <a:pt x="2402840" y="0"/>
                  </a:lnTo>
                  <a:lnTo>
                    <a:pt x="240284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281279" y="10071735"/>
            <a:ext cx="1390650" cy="224790"/>
            <a:chOff x="0" y="0"/>
            <a:chExt cx="1854200" cy="299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54200" cy="299720"/>
            </a:xfrm>
            <a:custGeom>
              <a:avLst/>
              <a:gdLst/>
              <a:ahLst/>
              <a:cxnLst/>
              <a:rect r="r" b="b" t="t" l="l"/>
              <a:pathLst>
                <a:path h="299720" w="1854200">
                  <a:moveTo>
                    <a:pt x="0" y="0"/>
                  </a:moveTo>
                  <a:lnTo>
                    <a:pt x="1854200" y="0"/>
                  </a:lnTo>
                  <a:lnTo>
                    <a:pt x="185420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4B5C1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652879" y="10071735"/>
            <a:ext cx="3645560" cy="224790"/>
            <a:chOff x="0" y="0"/>
            <a:chExt cx="4860747" cy="2997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60798" cy="299720"/>
            </a:xfrm>
            <a:custGeom>
              <a:avLst/>
              <a:gdLst/>
              <a:ahLst/>
              <a:cxnLst/>
              <a:rect r="r" b="b" t="t" l="l"/>
              <a:pathLst>
                <a:path h="299720" w="4860798">
                  <a:moveTo>
                    <a:pt x="0" y="0"/>
                  </a:moveTo>
                  <a:lnTo>
                    <a:pt x="4860798" y="0"/>
                  </a:lnTo>
                  <a:lnTo>
                    <a:pt x="4860798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B4DAE2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28700" y="2372868"/>
            <a:ext cx="16459200" cy="589788"/>
            <a:chOff x="0" y="0"/>
            <a:chExt cx="21945600" cy="78638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945600" cy="786384"/>
            </a:xfrm>
            <a:custGeom>
              <a:avLst/>
              <a:gdLst/>
              <a:ahLst/>
              <a:cxnLst/>
              <a:rect r="r" b="b" t="t" l="l"/>
              <a:pathLst>
                <a:path h="78638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86384"/>
                  </a:lnTo>
                  <a:lnTo>
                    <a:pt x="0" y="7863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3768" r="0" b="-49376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21945600" cy="7863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Данные разделены строго по времени: будущее не попадает в обучение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74039" y="3584067"/>
            <a:ext cx="8317230" cy="361950"/>
            <a:chOff x="0" y="0"/>
            <a:chExt cx="11089640" cy="482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089640" cy="482600"/>
            </a:xfrm>
            <a:custGeom>
              <a:avLst/>
              <a:gdLst/>
              <a:ahLst/>
              <a:cxnLst/>
              <a:rect r="r" b="b" t="t" l="l"/>
              <a:pathLst>
                <a:path h="482600" w="11089640">
                  <a:moveTo>
                    <a:pt x="0" y="0"/>
                  </a:moveTo>
                  <a:lnTo>
                    <a:pt x="11089640" y="0"/>
                  </a:lnTo>
                  <a:lnTo>
                    <a:pt x="1108964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8C14D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74992" y="4037647"/>
            <a:ext cx="8315325" cy="1964817"/>
            <a:chOff x="0" y="0"/>
            <a:chExt cx="11087100" cy="26197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087100" cy="2619756"/>
            </a:xfrm>
            <a:custGeom>
              <a:avLst/>
              <a:gdLst/>
              <a:ahLst/>
              <a:cxnLst/>
              <a:rect r="r" b="b" t="t" l="l"/>
              <a:pathLst>
                <a:path h="2619756" w="11087100">
                  <a:moveTo>
                    <a:pt x="0" y="295148"/>
                  </a:moveTo>
                  <a:cubicBezTo>
                    <a:pt x="0" y="132207"/>
                    <a:pt x="132207" y="0"/>
                    <a:pt x="295148" y="0"/>
                  </a:cubicBezTo>
                  <a:lnTo>
                    <a:pt x="10791952" y="0"/>
                  </a:lnTo>
                  <a:cubicBezTo>
                    <a:pt x="10954893" y="0"/>
                    <a:pt x="11087100" y="132207"/>
                    <a:pt x="11087100" y="295148"/>
                  </a:cubicBezTo>
                  <a:lnTo>
                    <a:pt x="11087100" y="2324608"/>
                  </a:lnTo>
                  <a:cubicBezTo>
                    <a:pt x="11087100" y="2487676"/>
                    <a:pt x="10954893" y="2619756"/>
                    <a:pt x="10791952" y="2619756"/>
                  </a:cubicBezTo>
                  <a:lnTo>
                    <a:pt x="295148" y="2619756"/>
                  </a:lnTo>
                  <a:cubicBezTo>
                    <a:pt x="132207" y="2619756"/>
                    <a:pt x="0" y="2487549"/>
                    <a:pt x="0" y="2324608"/>
                  </a:cubicBezTo>
                  <a:close/>
                </a:path>
              </a:pathLst>
            </a:custGeom>
            <a:solidFill>
              <a:srgbClr val="F9FAFD"/>
            </a:solidFill>
            <a:ln w="17145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357884" y="4279392"/>
            <a:ext cx="7818120" cy="466344"/>
            <a:chOff x="0" y="0"/>
            <a:chExt cx="10424160" cy="6217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424160" cy="621792"/>
            </a:xfrm>
            <a:custGeom>
              <a:avLst/>
              <a:gdLst/>
              <a:ahLst/>
              <a:cxnLst/>
              <a:rect r="r" b="b" t="t" l="l"/>
              <a:pathLst>
                <a:path h="621792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6660" r="0" b="-27666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10424160" cy="631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ОБУЧЕНИЕ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57884" y="4882896"/>
            <a:ext cx="7818120" cy="411480"/>
            <a:chOff x="0" y="0"/>
            <a:chExt cx="10424160" cy="548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424160" cy="548640"/>
            </a:xfrm>
            <a:custGeom>
              <a:avLst/>
              <a:gdLst/>
              <a:ahLst/>
              <a:cxnLst/>
              <a:rect r="r" b="b" t="t" l="l"/>
              <a:pathLst>
                <a:path h="54864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104241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09.2023 — 09.2025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57884" y="5445252"/>
            <a:ext cx="7818120" cy="315468"/>
            <a:chOff x="0" y="0"/>
            <a:chExt cx="10424160" cy="42062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424160" cy="420624"/>
            </a:xfrm>
            <a:custGeom>
              <a:avLst/>
              <a:gdLst/>
              <a:ahLst/>
              <a:cxnLst/>
              <a:rect r="r" b="b" t="t" l="l"/>
              <a:pathLst>
                <a:path h="420624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2890" r="0" b="-43289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1042416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38C"/>
                  </a:solidFill>
                  <a:latin typeface="Inter"/>
                  <a:ea typeface="Inter"/>
                  <a:cs typeface="Inter"/>
                  <a:sym typeface="Inter"/>
                </a:rPr>
                <a:t>3 805 примеров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495663" y="3584067"/>
            <a:ext cx="3640074" cy="361950"/>
            <a:chOff x="0" y="0"/>
            <a:chExt cx="4853432" cy="4826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853432" cy="482600"/>
            </a:xfrm>
            <a:custGeom>
              <a:avLst/>
              <a:gdLst/>
              <a:ahLst/>
              <a:cxnLst/>
              <a:rect r="r" b="b" t="t" l="l"/>
              <a:pathLst>
                <a:path h="482600" w="4853432">
                  <a:moveTo>
                    <a:pt x="0" y="0"/>
                  </a:moveTo>
                  <a:lnTo>
                    <a:pt x="4853432" y="0"/>
                  </a:lnTo>
                  <a:lnTo>
                    <a:pt x="4853432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496616" y="4037647"/>
            <a:ext cx="3638169" cy="1964817"/>
            <a:chOff x="0" y="0"/>
            <a:chExt cx="4850892" cy="261975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850892" cy="2619756"/>
            </a:xfrm>
            <a:custGeom>
              <a:avLst/>
              <a:gdLst/>
              <a:ahLst/>
              <a:cxnLst/>
              <a:rect r="r" b="b" t="t" l="l"/>
              <a:pathLst>
                <a:path h="2619756" w="4850892">
                  <a:moveTo>
                    <a:pt x="0" y="295148"/>
                  </a:moveTo>
                  <a:cubicBezTo>
                    <a:pt x="0" y="132207"/>
                    <a:pt x="132207" y="0"/>
                    <a:pt x="295148" y="0"/>
                  </a:cubicBezTo>
                  <a:lnTo>
                    <a:pt x="4555744" y="0"/>
                  </a:lnTo>
                  <a:cubicBezTo>
                    <a:pt x="4718812" y="0"/>
                    <a:pt x="4850892" y="132207"/>
                    <a:pt x="4850892" y="295148"/>
                  </a:cubicBezTo>
                  <a:lnTo>
                    <a:pt x="4850892" y="2324608"/>
                  </a:lnTo>
                  <a:cubicBezTo>
                    <a:pt x="4850892" y="2487676"/>
                    <a:pt x="4718685" y="2619756"/>
                    <a:pt x="4555744" y="2619756"/>
                  </a:cubicBezTo>
                  <a:lnTo>
                    <a:pt x="295148" y="2619756"/>
                  </a:lnTo>
                  <a:cubicBezTo>
                    <a:pt x="132207" y="2619756"/>
                    <a:pt x="0" y="2487549"/>
                    <a:pt x="0" y="2324608"/>
                  </a:cubicBezTo>
                  <a:close/>
                </a:path>
              </a:pathLst>
            </a:custGeom>
            <a:solidFill>
              <a:srgbClr val="F9FAFD"/>
            </a:solidFill>
            <a:ln w="17145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9779508" y="4279392"/>
            <a:ext cx="3140964" cy="466344"/>
            <a:chOff x="0" y="0"/>
            <a:chExt cx="4187952" cy="62179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187952" cy="621792"/>
            </a:xfrm>
            <a:custGeom>
              <a:avLst/>
              <a:gdLst/>
              <a:ahLst/>
              <a:cxnLst/>
              <a:rect r="r" b="b" t="t" l="l"/>
              <a:pathLst>
                <a:path h="621792" w="4187952">
                  <a:moveTo>
                    <a:pt x="0" y="0"/>
                  </a:moveTo>
                  <a:lnTo>
                    <a:pt x="4187952" y="0"/>
                  </a:lnTo>
                  <a:lnTo>
                    <a:pt x="418795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237" r="0" b="-8123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4187952" cy="631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9AA2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ВАЛИДАЦИЯ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779508" y="4882896"/>
            <a:ext cx="3140964" cy="411480"/>
            <a:chOff x="0" y="0"/>
            <a:chExt cx="4187952" cy="5486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187952" cy="548640"/>
            </a:xfrm>
            <a:custGeom>
              <a:avLst/>
              <a:gdLst/>
              <a:ahLst/>
              <a:cxnLst/>
              <a:rect r="r" b="b" t="t" l="l"/>
              <a:pathLst>
                <a:path h="548640" w="4187952">
                  <a:moveTo>
                    <a:pt x="0" y="0"/>
                  </a:moveTo>
                  <a:lnTo>
                    <a:pt x="4187952" y="0"/>
                  </a:lnTo>
                  <a:lnTo>
                    <a:pt x="418795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735" r="0" b="-9873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4187952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10.2025 — 03.2026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779508" y="5445252"/>
            <a:ext cx="3140964" cy="315468"/>
            <a:chOff x="0" y="0"/>
            <a:chExt cx="4187952" cy="42062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187952" cy="420624"/>
            </a:xfrm>
            <a:custGeom>
              <a:avLst/>
              <a:gdLst/>
              <a:ahLst/>
              <a:cxnLst/>
              <a:rect r="r" b="b" t="t" l="l"/>
              <a:pathLst>
                <a:path h="420624" w="4187952">
                  <a:moveTo>
                    <a:pt x="0" y="0"/>
                  </a:moveTo>
                  <a:lnTo>
                    <a:pt x="4187952" y="0"/>
                  </a:lnTo>
                  <a:lnTo>
                    <a:pt x="4187952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003" r="0" b="-144003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4187952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38C"/>
                  </a:solidFill>
                  <a:latin typeface="Inter"/>
                  <a:ea typeface="Inter"/>
                  <a:cs typeface="Inter"/>
                  <a:sym typeface="Inter"/>
                </a:rPr>
                <a:t>910 примеров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3267563" y="3584067"/>
            <a:ext cx="3955542" cy="361950"/>
            <a:chOff x="0" y="0"/>
            <a:chExt cx="5274056" cy="4826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274056" cy="482600"/>
            </a:xfrm>
            <a:custGeom>
              <a:avLst/>
              <a:gdLst/>
              <a:ahLst/>
              <a:cxnLst/>
              <a:rect r="r" b="b" t="t" l="l"/>
              <a:pathLst>
                <a:path h="482600" w="5274056">
                  <a:moveTo>
                    <a:pt x="0" y="0"/>
                  </a:moveTo>
                  <a:lnTo>
                    <a:pt x="5274056" y="0"/>
                  </a:lnTo>
                  <a:lnTo>
                    <a:pt x="5274056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0F9866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3268515" y="4037647"/>
            <a:ext cx="3953637" cy="1964817"/>
            <a:chOff x="0" y="0"/>
            <a:chExt cx="5271516" cy="261975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271516" cy="2619756"/>
            </a:xfrm>
            <a:custGeom>
              <a:avLst/>
              <a:gdLst/>
              <a:ahLst/>
              <a:cxnLst/>
              <a:rect r="r" b="b" t="t" l="l"/>
              <a:pathLst>
                <a:path h="2619756" w="5271516">
                  <a:moveTo>
                    <a:pt x="0" y="295148"/>
                  </a:moveTo>
                  <a:cubicBezTo>
                    <a:pt x="0" y="132207"/>
                    <a:pt x="132207" y="0"/>
                    <a:pt x="295148" y="0"/>
                  </a:cubicBezTo>
                  <a:lnTo>
                    <a:pt x="4976368" y="0"/>
                  </a:lnTo>
                  <a:cubicBezTo>
                    <a:pt x="5139436" y="0"/>
                    <a:pt x="5271516" y="132207"/>
                    <a:pt x="5271516" y="295148"/>
                  </a:cubicBezTo>
                  <a:lnTo>
                    <a:pt x="5271516" y="2324608"/>
                  </a:lnTo>
                  <a:cubicBezTo>
                    <a:pt x="5271516" y="2487676"/>
                    <a:pt x="5139309" y="2619756"/>
                    <a:pt x="4976368" y="2619756"/>
                  </a:cubicBezTo>
                  <a:lnTo>
                    <a:pt x="295148" y="2619756"/>
                  </a:lnTo>
                  <a:cubicBezTo>
                    <a:pt x="132207" y="2619756"/>
                    <a:pt x="0" y="2487549"/>
                    <a:pt x="0" y="2324608"/>
                  </a:cubicBezTo>
                  <a:close/>
                </a:path>
              </a:pathLst>
            </a:custGeom>
            <a:solidFill>
              <a:srgbClr val="F9FAFD"/>
            </a:solidFill>
            <a:ln w="17145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3551408" y="4279392"/>
            <a:ext cx="3456432" cy="466344"/>
            <a:chOff x="0" y="0"/>
            <a:chExt cx="4608576" cy="62179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608576" cy="621792"/>
            </a:xfrm>
            <a:custGeom>
              <a:avLst/>
              <a:gdLst/>
              <a:ahLst/>
              <a:cxnLst/>
              <a:rect r="r" b="b" t="t" l="l"/>
              <a:pathLst>
                <a:path h="621792" w="4608576">
                  <a:moveTo>
                    <a:pt x="0" y="0"/>
                  </a:moveTo>
                  <a:lnTo>
                    <a:pt x="4608576" y="0"/>
                  </a:lnTo>
                  <a:lnTo>
                    <a:pt x="460857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4418" r="0" b="-9441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4608576" cy="631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F986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ТЕСТ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551408" y="4882896"/>
            <a:ext cx="3456432" cy="411480"/>
            <a:chOff x="0" y="0"/>
            <a:chExt cx="4608576" cy="548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608576" cy="548640"/>
            </a:xfrm>
            <a:custGeom>
              <a:avLst/>
              <a:gdLst/>
              <a:ahLst/>
              <a:cxnLst/>
              <a:rect r="r" b="b" t="t" l="l"/>
              <a:pathLst>
                <a:path h="548640" w="4608576">
                  <a:moveTo>
                    <a:pt x="0" y="0"/>
                  </a:moveTo>
                  <a:lnTo>
                    <a:pt x="4608576" y="0"/>
                  </a:lnTo>
                  <a:lnTo>
                    <a:pt x="460857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4608576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04.2026 — 09.2026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551408" y="5445252"/>
            <a:ext cx="3456432" cy="315468"/>
            <a:chOff x="0" y="0"/>
            <a:chExt cx="4608576" cy="42062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608576" cy="420624"/>
            </a:xfrm>
            <a:custGeom>
              <a:avLst/>
              <a:gdLst/>
              <a:ahLst/>
              <a:cxnLst/>
              <a:rect r="r" b="b" t="t" l="l"/>
              <a:pathLst>
                <a:path h="420624" w="4608576">
                  <a:moveTo>
                    <a:pt x="0" y="0"/>
                  </a:moveTo>
                  <a:lnTo>
                    <a:pt x="4608576" y="0"/>
                  </a:lnTo>
                  <a:lnTo>
                    <a:pt x="4608576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3488" r="0" b="-163488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4608576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38C"/>
                  </a:solidFill>
                  <a:latin typeface="Inter"/>
                  <a:ea typeface="Inter"/>
                  <a:cs typeface="Inter"/>
                  <a:sym typeface="Inter"/>
                </a:rPr>
                <a:t>915 примеров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69848" y="6720840"/>
            <a:ext cx="11247120" cy="562356"/>
            <a:chOff x="0" y="0"/>
            <a:chExt cx="14996160" cy="74980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4996161" cy="749808"/>
            </a:xfrm>
            <a:custGeom>
              <a:avLst/>
              <a:gdLst/>
              <a:ahLst/>
              <a:cxnLst/>
              <a:rect r="r" b="b" t="t" l="l"/>
              <a:pathLst>
                <a:path h="749808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749808"/>
                  </a:lnTo>
                  <a:lnTo>
                    <a:pt x="0" y="749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14996160" cy="759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Что происходит во время обучения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61276" y="7603807"/>
            <a:ext cx="5188077" cy="1128141"/>
            <a:chOff x="0" y="0"/>
            <a:chExt cx="6917436" cy="150418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917437" cy="1504188"/>
            </a:xfrm>
            <a:custGeom>
              <a:avLst/>
              <a:gdLst/>
              <a:ahLst/>
              <a:cxnLst/>
              <a:rect r="r" b="b" t="t" l="l"/>
              <a:pathLst>
                <a:path h="1504188" w="6917437">
                  <a:moveTo>
                    <a:pt x="0" y="297180"/>
                  </a:moveTo>
                  <a:cubicBezTo>
                    <a:pt x="0" y="132969"/>
                    <a:pt x="132969" y="0"/>
                    <a:pt x="297180" y="0"/>
                  </a:cubicBezTo>
                  <a:lnTo>
                    <a:pt x="6620256" y="0"/>
                  </a:lnTo>
                  <a:cubicBezTo>
                    <a:pt x="6784340" y="0"/>
                    <a:pt x="6917437" y="132969"/>
                    <a:pt x="6917437" y="297180"/>
                  </a:cubicBezTo>
                  <a:lnTo>
                    <a:pt x="6917437" y="1207008"/>
                  </a:lnTo>
                  <a:cubicBezTo>
                    <a:pt x="6917437" y="1371092"/>
                    <a:pt x="6784467" y="1504188"/>
                    <a:pt x="6620256" y="1504188"/>
                  </a:cubicBezTo>
                  <a:lnTo>
                    <a:pt x="297180" y="1504188"/>
                  </a:lnTo>
                  <a:cubicBezTo>
                    <a:pt x="132969" y="1504188"/>
                    <a:pt x="0" y="1371219"/>
                    <a:pt x="0" y="1207008"/>
                  </a:cubicBezTo>
                  <a:close/>
                </a:path>
              </a:pathLst>
            </a:custGeom>
            <a:solidFill>
              <a:srgbClr val="FFFFFF"/>
            </a:solidFill>
            <a:ln w="17145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344168" y="7845552"/>
            <a:ext cx="2125980" cy="329184"/>
            <a:chOff x="0" y="0"/>
            <a:chExt cx="2834640" cy="43891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834640" cy="438912"/>
            </a:xfrm>
            <a:custGeom>
              <a:avLst/>
              <a:gdLst/>
              <a:ahLst/>
              <a:cxnLst/>
              <a:rect r="r" b="b" t="t" l="l"/>
              <a:pathLst>
                <a:path h="438912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840" r="0" b="-7584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9525"/>
              <a:ext cx="2834640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MSE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3195828" y="7804404"/>
            <a:ext cx="2743200" cy="521208"/>
            <a:chOff x="0" y="0"/>
            <a:chExt cx="3657600" cy="69494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657600" cy="694944"/>
            </a:xfrm>
            <a:custGeom>
              <a:avLst/>
              <a:gdLst/>
              <a:ahLst/>
              <a:cxnLst/>
              <a:rect r="r" b="b" t="t" l="l"/>
              <a:pathLst>
                <a:path h="69494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552" r="0" b="-52552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9525"/>
              <a:ext cx="3657600" cy="704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4738C"/>
                  </a:solidFill>
                  <a:latin typeface="Inter"/>
                  <a:ea typeface="Inter"/>
                  <a:cs typeface="Inter"/>
                  <a:sym typeface="Inter"/>
                </a:rPr>
                <a:t>считаем ошибку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6671120" y="7603807"/>
            <a:ext cx="5188077" cy="1128141"/>
            <a:chOff x="0" y="0"/>
            <a:chExt cx="6917436" cy="150418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917437" cy="1504188"/>
            </a:xfrm>
            <a:custGeom>
              <a:avLst/>
              <a:gdLst/>
              <a:ahLst/>
              <a:cxnLst/>
              <a:rect r="r" b="b" t="t" l="l"/>
              <a:pathLst>
                <a:path h="1504188" w="6917437">
                  <a:moveTo>
                    <a:pt x="0" y="297180"/>
                  </a:moveTo>
                  <a:cubicBezTo>
                    <a:pt x="0" y="132969"/>
                    <a:pt x="132969" y="0"/>
                    <a:pt x="297180" y="0"/>
                  </a:cubicBezTo>
                  <a:lnTo>
                    <a:pt x="6620256" y="0"/>
                  </a:lnTo>
                  <a:cubicBezTo>
                    <a:pt x="6784340" y="0"/>
                    <a:pt x="6917437" y="132969"/>
                    <a:pt x="6917437" y="297180"/>
                  </a:cubicBezTo>
                  <a:lnTo>
                    <a:pt x="6917437" y="1207008"/>
                  </a:lnTo>
                  <a:cubicBezTo>
                    <a:pt x="6917437" y="1371092"/>
                    <a:pt x="6784467" y="1504188"/>
                    <a:pt x="6620256" y="1504188"/>
                  </a:cubicBezTo>
                  <a:lnTo>
                    <a:pt x="297180" y="1504188"/>
                  </a:lnTo>
                  <a:cubicBezTo>
                    <a:pt x="132969" y="1504188"/>
                    <a:pt x="0" y="1371219"/>
                    <a:pt x="0" y="1207008"/>
                  </a:cubicBezTo>
                  <a:close/>
                </a:path>
              </a:pathLst>
            </a:custGeom>
            <a:solidFill>
              <a:srgbClr val="FFFFFF"/>
            </a:solidFill>
            <a:ln w="17145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6954012" y="7845552"/>
            <a:ext cx="2125980" cy="329184"/>
            <a:chOff x="0" y="0"/>
            <a:chExt cx="2834640" cy="43891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834640" cy="438912"/>
            </a:xfrm>
            <a:custGeom>
              <a:avLst/>
              <a:gdLst/>
              <a:ahLst/>
              <a:cxnLst/>
              <a:rect r="r" b="b" t="t" l="l"/>
              <a:pathLst>
                <a:path h="438912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840" r="0" b="-7584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9525"/>
              <a:ext cx="2834640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Adam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8805672" y="7804404"/>
            <a:ext cx="2743200" cy="521208"/>
            <a:chOff x="0" y="0"/>
            <a:chExt cx="3657600" cy="694944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657600" cy="694944"/>
            </a:xfrm>
            <a:custGeom>
              <a:avLst/>
              <a:gdLst/>
              <a:ahLst/>
              <a:cxnLst/>
              <a:rect r="r" b="b" t="t" l="l"/>
              <a:pathLst>
                <a:path h="69494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552" r="0" b="-52552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9525"/>
              <a:ext cx="3657600" cy="704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4738C"/>
                  </a:solidFill>
                  <a:latin typeface="Inter"/>
                  <a:ea typeface="Inter"/>
                  <a:cs typeface="Inter"/>
                  <a:sym typeface="Inter"/>
                </a:rPr>
                <a:t>изменяем веса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2280963" y="7603807"/>
            <a:ext cx="5188077" cy="1128141"/>
            <a:chOff x="0" y="0"/>
            <a:chExt cx="6917436" cy="1504188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6917437" cy="1504188"/>
            </a:xfrm>
            <a:custGeom>
              <a:avLst/>
              <a:gdLst/>
              <a:ahLst/>
              <a:cxnLst/>
              <a:rect r="r" b="b" t="t" l="l"/>
              <a:pathLst>
                <a:path h="1504188" w="6917437">
                  <a:moveTo>
                    <a:pt x="0" y="297180"/>
                  </a:moveTo>
                  <a:cubicBezTo>
                    <a:pt x="0" y="132969"/>
                    <a:pt x="132969" y="0"/>
                    <a:pt x="297180" y="0"/>
                  </a:cubicBezTo>
                  <a:lnTo>
                    <a:pt x="6620256" y="0"/>
                  </a:lnTo>
                  <a:cubicBezTo>
                    <a:pt x="6784340" y="0"/>
                    <a:pt x="6917437" y="132969"/>
                    <a:pt x="6917437" y="297180"/>
                  </a:cubicBezTo>
                  <a:lnTo>
                    <a:pt x="6917437" y="1207008"/>
                  </a:lnTo>
                  <a:cubicBezTo>
                    <a:pt x="6917437" y="1371092"/>
                    <a:pt x="6784467" y="1504188"/>
                    <a:pt x="6620256" y="1504188"/>
                  </a:cubicBezTo>
                  <a:lnTo>
                    <a:pt x="297180" y="1504188"/>
                  </a:lnTo>
                  <a:cubicBezTo>
                    <a:pt x="132969" y="1504188"/>
                    <a:pt x="0" y="1371219"/>
                    <a:pt x="0" y="1207008"/>
                  </a:cubicBezTo>
                  <a:close/>
                </a:path>
              </a:pathLst>
            </a:custGeom>
            <a:solidFill>
              <a:srgbClr val="FFFFFF"/>
            </a:solidFill>
            <a:ln w="17145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98" id="98"/>
          <p:cNvGrpSpPr/>
          <p:nvPr/>
        </p:nvGrpSpPr>
        <p:grpSpPr>
          <a:xfrm rot="0">
            <a:off x="12563856" y="7845552"/>
            <a:ext cx="2125980" cy="329184"/>
            <a:chOff x="0" y="0"/>
            <a:chExt cx="2834640" cy="43891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834640" cy="438912"/>
            </a:xfrm>
            <a:custGeom>
              <a:avLst/>
              <a:gdLst/>
              <a:ahLst/>
              <a:cxnLst/>
              <a:rect r="r" b="b" t="t" l="l"/>
              <a:pathLst>
                <a:path h="438912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840" r="0" b="-7584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9525"/>
              <a:ext cx="2834640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Early stopping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4415516" y="7804404"/>
            <a:ext cx="2743200" cy="521208"/>
            <a:chOff x="0" y="0"/>
            <a:chExt cx="3657600" cy="69494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657600" cy="694944"/>
            </a:xfrm>
            <a:custGeom>
              <a:avLst/>
              <a:gdLst/>
              <a:ahLst/>
              <a:cxnLst/>
              <a:rect r="r" b="b" t="t" l="l"/>
              <a:pathLst>
                <a:path h="69494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552" r="0" b="-52552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9525"/>
              <a:ext cx="3657600" cy="704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4738C"/>
                  </a:solidFill>
                  <a:latin typeface="Inter"/>
                  <a:ea typeface="Inter"/>
                  <a:cs typeface="Inter"/>
                  <a:sym typeface="Inter"/>
                </a:rPr>
                <a:t>останавливаем обучение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0392" y="315468"/>
            <a:ext cx="10972800" cy="370332"/>
            <a:chOff x="0" y="0"/>
            <a:chExt cx="14630400" cy="4937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493776"/>
            </a:xfrm>
            <a:custGeom>
              <a:avLst/>
              <a:gdLst/>
              <a:ahLst/>
              <a:cxnLst/>
              <a:rect r="r" b="b" t="t" l="l"/>
              <a:pathLst>
                <a:path h="49377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7334" r="0" b="-52733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4630400" cy="49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94">
                  <a:solidFill>
                    <a:srgbClr val="64738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UNIFORECAST · ML-ПРОЕКТ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51224" y="315468"/>
            <a:ext cx="795528" cy="452628"/>
            <a:chOff x="0" y="0"/>
            <a:chExt cx="1060704" cy="6035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0704" cy="603504"/>
            </a:xfrm>
            <a:custGeom>
              <a:avLst/>
              <a:gdLst/>
              <a:ahLst/>
              <a:cxnLst/>
              <a:rect r="r" b="b" t="t" l="l"/>
              <a:pathLst>
                <a:path h="603504" w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000" t="0" r="-2300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060704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B9AB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09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0392" y="891540"/>
            <a:ext cx="16527780" cy="877824"/>
            <a:chOff x="0" y="0"/>
            <a:chExt cx="22037040" cy="11704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037039" cy="1170432"/>
            </a:xfrm>
            <a:custGeom>
              <a:avLst/>
              <a:gdLst/>
              <a:ahLst/>
              <a:cxnLst/>
              <a:rect r="r" b="b" t="t" l="l"/>
              <a:pathLst>
                <a:path h="1170432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6866" r="0" b="-31686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037040" cy="1170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РЕЗУЛЬТАТЫ ТЕСТИРОВАНИЯ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40867" y="1896999"/>
            <a:ext cx="773430" cy="108204"/>
            <a:chOff x="0" y="0"/>
            <a:chExt cx="1031240" cy="1442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1240" cy="144272"/>
            </a:xfrm>
            <a:custGeom>
              <a:avLst/>
              <a:gdLst/>
              <a:ahLst/>
              <a:cxnLst/>
              <a:rect r="r" b="b" t="t" l="l"/>
              <a:pathLst>
                <a:path h="144272" w="1031240">
                  <a:moveTo>
                    <a:pt x="0" y="0"/>
                  </a:moveTo>
                  <a:lnTo>
                    <a:pt x="1031240" y="0"/>
                  </a:lnTo>
                  <a:lnTo>
                    <a:pt x="1031240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95247" y="1896999"/>
            <a:ext cx="773430" cy="108204"/>
            <a:chOff x="0" y="0"/>
            <a:chExt cx="1031240" cy="1442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31240" cy="144272"/>
            </a:xfrm>
            <a:custGeom>
              <a:avLst/>
              <a:gdLst/>
              <a:ahLst/>
              <a:cxnLst/>
              <a:rect r="r" b="b" t="t" l="l"/>
              <a:pathLst>
                <a:path h="144272" w="1031240">
                  <a:moveTo>
                    <a:pt x="0" y="0"/>
                  </a:moveTo>
                  <a:lnTo>
                    <a:pt x="1031240" y="0"/>
                  </a:lnTo>
                  <a:lnTo>
                    <a:pt x="1031240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8C14D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349627" y="1896999"/>
            <a:ext cx="457962" cy="108204"/>
            <a:chOff x="0" y="0"/>
            <a:chExt cx="610616" cy="1442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0616" cy="144272"/>
            </a:xfrm>
            <a:custGeom>
              <a:avLst/>
              <a:gdLst/>
              <a:ahLst/>
              <a:cxnLst/>
              <a:rect r="r" b="b" t="t" l="l"/>
              <a:pathLst>
                <a:path h="144272" w="610616">
                  <a:moveTo>
                    <a:pt x="0" y="0"/>
                  </a:moveTo>
                  <a:lnTo>
                    <a:pt x="610616" y="0"/>
                  </a:lnTo>
                  <a:lnTo>
                    <a:pt x="610616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788539" y="1896999"/>
            <a:ext cx="869442" cy="108204"/>
            <a:chOff x="0" y="0"/>
            <a:chExt cx="1159256" cy="1442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59256" cy="144272"/>
            </a:xfrm>
            <a:custGeom>
              <a:avLst/>
              <a:gdLst/>
              <a:ahLst/>
              <a:cxnLst/>
              <a:rect r="r" b="b" t="t" l="l"/>
              <a:pathLst>
                <a:path h="144272" w="1159256">
                  <a:moveTo>
                    <a:pt x="0" y="0"/>
                  </a:moveTo>
                  <a:lnTo>
                    <a:pt x="1159256" y="0"/>
                  </a:lnTo>
                  <a:lnTo>
                    <a:pt x="1159256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B4DAE2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-9525" y="10071735"/>
            <a:ext cx="1843278" cy="224790"/>
            <a:chOff x="0" y="0"/>
            <a:chExt cx="2457704" cy="2997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57704" cy="299720"/>
            </a:xfrm>
            <a:custGeom>
              <a:avLst/>
              <a:gdLst/>
              <a:ahLst/>
              <a:cxnLst/>
              <a:rect r="r" b="b" t="t" l="l"/>
              <a:pathLst>
                <a:path h="299720" w="2457704">
                  <a:moveTo>
                    <a:pt x="0" y="0"/>
                  </a:moveTo>
                  <a:lnTo>
                    <a:pt x="2457704" y="0"/>
                  </a:lnTo>
                  <a:lnTo>
                    <a:pt x="2457704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814703" y="10071735"/>
            <a:ext cx="3036570" cy="224790"/>
            <a:chOff x="0" y="0"/>
            <a:chExt cx="4048760" cy="299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48760" cy="299720"/>
            </a:xfrm>
            <a:custGeom>
              <a:avLst/>
              <a:gdLst/>
              <a:ahLst/>
              <a:cxnLst/>
              <a:rect r="r" b="b" t="t" l="l"/>
              <a:pathLst>
                <a:path h="299720" w="4048760">
                  <a:moveTo>
                    <a:pt x="0" y="0"/>
                  </a:moveTo>
                  <a:lnTo>
                    <a:pt x="4048760" y="0"/>
                  </a:lnTo>
                  <a:lnTo>
                    <a:pt x="404876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8C14D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832223" y="10071735"/>
            <a:ext cx="1843278" cy="224790"/>
            <a:chOff x="0" y="0"/>
            <a:chExt cx="2457704" cy="299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57704" cy="299720"/>
            </a:xfrm>
            <a:custGeom>
              <a:avLst/>
              <a:gdLst/>
              <a:ahLst/>
              <a:cxnLst/>
              <a:rect r="r" b="b" t="t" l="l"/>
              <a:pathLst>
                <a:path h="299720" w="2457704">
                  <a:moveTo>
                    <a:pt x="0" y="0"/>
                  </a:moveTo>
                  <a:lnTo>
                    <a:pt x="2457704" y="0"/>
                  </a:lnTo>
                  <a:lnTo>
                    <a:pt x="2457704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4B5C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656451" y="10071735"/>
            <a:ext cx="3036570" cy="224790"/>
            <a:chOff x="0" y="0"/>
            <a:chExt cx="4048760" cy="2997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48760" cy="299720"/>
            </a:xfrm>
            <a:custGeom>
              <a:avLst/>
              <a:gdLst/>
              <a:ahLst/>
              <a:cxnLst/>
              <a:rect r="r" b="b" t="t" l="l"/>
              <a:pathLst>
                <a:path h="299720" w="4048760">
                  <a:moveTo>
                    <a:pt x="0" y="0"/>
                  </a:moveTo>
                  <a:lnTo>
                    <a:pt x="4048760" y="0"/>
                  </a:lnTo>
                  <a:lnTo>
                    <a:pt x="404876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73971" y="10071735"/>
            <a:ext cx="1843278" cy="224790"/>
            <a:chOff x="0" y="0"/>
            <a:chExt cx="2457704" cy="2997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57704" cy="299720"/>
            </a:xfrm>
            <a:custGeom>
              <a:avLst/>
              <a:gdLst/>
              <a:ahLst/>
              <a:cxnLst/>
              <a:rect r="r" b="b" t="t" l="l"/>
              <a:pathLst>
                <a:path h="299720" w="2457704">
                  <a:moveTo>
                    <a:pt x="0" y="0"/>
                  </a:moveTo>
                  <a:lnTo>
                    <a:pt x="2457704" y="0"/>
                  </a:lnTo>
                  <a:lnTo>
                    <a:pt x="2457704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498199" y="10071735"/>
            <a:ext cx="1802130" cy="224790"/>
            <a:chOff x="0" y="0"/>
            <a:chExt cx="2402840" cy="299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02840" cy="299720"/>
            </a:xfrm>
            <a:custGeom>
              <a:avLst/>
              <a:gdLst/>
              <a:ahLst/>
              <a:cxnLst/>
              <a:rect r="r" b="b" t="t" l="l"/>
              <a:pathLst>
                <a:path h="299720" w="2402840">
                  <a:moveTo>
                    <a:pt x="0" y="0"/>
                  </a:moveTo>
                  <a:lnTo>
                    <a:pt x="2402840" y="0"/>
                  </a:lnTo>
                  <a:lnTo>
                    <a:pt x="240284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281279" y="10071735"/>
            <a:ext cx="1390650" cy="224790"/>
            <a:chOff x="0" y="0"/>
            <a:chExt cx="1854200" cy="299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54200" cy="299720"/>
            </a:xfrm>
            <a:custGeom>
              <a:avLst/>
              <a:gdLst/>
              <a:ahLst/>
              <a:cxnLst/>
              <a:rect r="r" b="b" t="t" l="l"/>
              <a:pathLst>
                <a:path h="299720" w="1854200">
                  <a:moveTo>
                    <a:pt x="0" y="0"/>
                  </a:moveTo>
                  <a:lnTo>
                    <a:pt x="1854200" y="0"/>
                  </a:lnTo>
                  <a:lnTo>
                    <a:pt x="185420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4B5C1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652879" y="10071735"/>
            <a:ext cx="3645560" cy="224790"/>
            <a:chOff x="0" y="0"/>
            <a:chExt cx="4860747" cy="2997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60798" cy="299720"/>
            </a:xfrm>
            <a:custGeom>
              <a:avLst/>
              <a:gdLst/>
              <a:ahLst/>
              <a:cxnLst/>
              <a:rect r="r" b="b" t="t" l="l"/>
              <a:pathLst>
                <a:path h="299720" w="4860798">
                  <a:moveTo>
                    <a:pt x="0" y="0"/>
                  </a:moveTo>
                  <a:lnTo>
                    <a:pt x="4860798" y="0"/>
                  </a:lnTo>
                  <a:lnTo>
                    <a:pt x="4860798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B4DAE2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42416" y="2290572"/>
            <a:ext cx="13716000" cy="562356"/>
            <a:chOff x="0" y="0"/>
            <a:chExt cx="18288000" cy="74980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8288000" cy="749808"/>
            </a:xfrm>
            <a:custGeom>
              <a:avLst/>
              <a:gdLst/>
              <a:ahLst/>
              <a:cxnLst/>
              <a:rect r="r" b="b" t="t" l="l"/>
              <a:pathLst>
                <a:path h="749808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49808"/>
                  </a:lnTo>
                  <a:lnTo>
                    <a:pt x="0" y="749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244" r="0" b="-42524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18288000" cy="7498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915 наблюдений · апрель — сентябрь 2026 года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20127" y="3132392"/>
            <a:ext cx="9892665" cy="3501009"/>
            <a:chOff x="0" y="0"/>
            <a:chExt cx="13190220" cy="466801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190093" cy="4668012"/>
            </a:xfrm>
            <a:custGeom>
              <a:avLst/>
              <a:gdLst/>
              <a:ahLst/>
              <a:cxnLst/>
              <a:rect r="r" b="b" t="t" l="l"/>
              <a:pathLst>
                <a:path h="4668012" w="13190093">
                  <a:moveTo>
                    <a:pt x="0" y="294005"/>
                  </a:moveTo>
                  <a:cubicBezTo>
                    <a:pt x="0" y="131699"/>
                    <a:pt x="131699" y="0"/>
                    <a:pt x="294005" y="0"/>
                  </a:cubicBezTo>
                  <a:lnTo>
                    <a:pt x="12896088" y="0"/>
                  </a:lnTo>
                  <a:cubicBezTo>
                    <a:pt x="13058521" y="0"/>
                    <a:pt x="13190093" y="131699"/>
                    <a:pt x="13190093" y="294005"/>
                  </a:cubicBezTo>
                  <a:lnTo>
                    <a:pt x="13190093" y="4374007"/>
                  </a:lnTo>
                  <a:cubicBezTo>
                    <a:pt x="13190093" y="4536440"/>
                    <a:pt x="13058394" y="4668012"/>
                    <a:pt x="12896088" y="4668012"/>
                  </a:cubicBezTo>
                  <a:lnTo>
                    <a:pt x="294005" y="4668012"/>
                  </a:lnTo>
                  <a:cubicBezTo>
                    <a:pt x="131699" y="4668012"/>
                    <a:pt x="0" y="4536313"/>
                    <a:pt x="0" y="4374007"/>
                  </a:cubicBezTo>
                  <a:close/>
                </a:path>
              </a:pathLst>
            </a:custGeom>
            <a:solidFill>
              <a:srgbClr val="FFFFFF"/>
            </a:solidFill>
            <a:ln w="17145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032891" y="3131439"/>
            <a:ext cx="9867138" cy="869442"/>
            <a:chOff x="0" y="0"/>
            <a:chExt cx="13156184" cy="11592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156185" cy="1159256"/>
            </a:xfrm>
            <a:custGeom>
              <a:avLst/>
              <a:gdLst/>
              <a:ahLst/>
              <a:cxnLst/>
              <a:rect r="r" b="b" t="t" l="l"/>
              <a:pathLst>
                <a:path h="1159256" w="13156185">
                  <a:moveTo>
                    <a:pt x="0" y="0"/>
                  </a:moveTo>
                  <a:lnTo>
                    <a:pt x="13156185" y="0"/>
                  </a:lnTo>
                  <a:lnTo>
                    <a:pt x="13156185" y="1159256"/>
                  </a:lnTo>
                  <a:lnTo>
                    <a:pt x="0" y="1159256"/>
                  </a:lnTo>
                  <a:close/>
                </a:path>
              </a:pathLst>
            </a:custGeom>
            <a:solidFill>
              <a:srgbClr val="EEE7FA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99032" y="3387852"/>
            <a:ext cx="4320540" cy="315468"/>
            <a:chOff x="0" y="0"/>
            <a:chExt cx="5760720" cy="42062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760720" cy="420624"/>
            </a:xfrm>
            <a:custGeom>
              <a:avLst/>
              <a:gdLst/>
              <a:ahLst/>
              <a:cxnLst/>
              <a:rect r="r" b="b" t="t" l="l"/>
              <a:pathLst>
                <a:path h="420624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860" r="0" b="-21686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576072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5D2DC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МЕТОД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036308" y="3387852"/>
            <a:ext cx="1495044" cy="315468"/>
            <a:chOff x="0" y="0"/>
            <a:chExt cx="1993392" cy="42062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993392" cy="420624"/>
            </a:xfrm>
            <a:custGeom>
              <a:avLst/>
              <a:gdLst/>
              <a:ahLst/>
              <a:cxnLst/>
              <a:rect r="r" b="b" t="t" l="l"/>
              <a:pathLst>
                <a:path h="420624" w="1993392">
                  <a:moveTo>
                    <a:pt x="0" y="0"/>
                  </a:moveTo>
                  <a:lnTo>
                    <a:pt x="1993392" y="0"/>
                  </a:lnTo>
                  <a:lnTo>
                    <a:pt x="1993392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342" r="0" b="-4234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1993392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5D2DC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MAE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833104" y="3387852"/>
            <a:ext cx="1563624" cy="315468"/>
            <a:chOff x="0" y="0"/>
            <a:chExt cx="2084832" cy="42062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084832" cy="420624"/>
            </a:xfrm>
            <a:custGeom>
              <a:avLst/>
              <a:gdLst/>
              <a:ahLst/>
              <a:cxnLst/>
              <a:rect r="r" b="b" t="t" l="l"/>
              <a:pathLst>
                <a:path h="420624" w="2084832">
                  <a:moveTo>
                    <a:pt x="0" y="0"/>
                  </a:moveTo>
                  <a:lnTo>
                    <a:pt x="2084832" y="0"/>
                  </a:lnTo>
                  <a:lnTo>
                    <a:pt x="2084832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578" r="0" b="-46578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2084832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5D2DC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RMSE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85316" y="4238244"/>
            <a:ext cx="4869180" cy="521208"/>
            <a:chOff x="0" y="0"/>
            <a:chExt cx="6492240" cy="69494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492240" cy="694944"/>
            </a:xfrm>
            <a:custGeom>
              <a:avLst/>
              <a:gdLst/>
              <a:ahLst/>
              <a:cxnLst/>
              <a:rect r="r" b="b" t="t" l="l"/>
              <a:pathLst>
                <a:path h="694944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2031" r="0" b="-13203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649224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Calendar MLP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926580" y="4238244"/>
            <a:ext cx="1645920" cy="521208"/>
            <a:chOff x="0" y="0"/>
            <a:chExt cx="2194560" cy="69494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94560" cy="694944"/>
            </a:xfrm>
            <a:custGeom>
              <a:avLst/>
              <a:gdLst/>
              <a:ahLst/>
              <a:cxnLst/>
              <a:rect r="r" b="b" t="t" l="l"/>
              <a:pathLst>
                <a:path h="69494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531" r="0" b="-1153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2194560" cy="704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3,799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8791956" y="4238244"/>
            <a:ext cx="1673352" cy="521208"/>
            <a:chOff x="0" y="0"/>
            <a:chExt cx="2231136" cy="69494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231136" cy="694944"/>
            </a:xfrm>
            <a:custGeom>
              <a:avLst/>
              <a:gdLst/>
              <a:ahLst/>
              <a:cxnLst/>
              <a:rect r="r" b="b" t="t" l="l"/>
              <a:pathLst>
                <a:path h="694944" w="2231136">
                  <a:moveTo>
                    <a:pt x="0" y="0"/>
                  </a:moveTo>
                  <a:lnTo>
                    <a:pt x="2231136" y="0"/>
                  </a:lnTo>
                  <a:lnTo>
                    <a:pt x="223113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57" r="0" b="-1255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2231136" cy="704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5,179</a:t>
              </a:r>
            </a:p>
          </p:txBody>
        </p:sp>
      </p:grpSp>
      <p:sp>
        <p:nvSpPr>
          <p:cNvPr name="AutoShape 60" id="60"/>
          <p:cNvSpPr/>
          <p:nvPr/>
        </p:nvSpPr>
        <p:spPr>
          <a:xfrm rot="5700">
            <a:off x="1377686" y="5138738"/>
            <a:ext cx="9218686" cy="0"/>
          </a:xfrm>
          <a:prstGeom prst="line">
            <a:avLst/>
          </a:prstGeom>
          <a:ln cap="rnd" w="9525">
            <a:solidFill>
              <a:srgbClr val="E4E9F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1" id="61"/>
          <p:cNvGrpSpPr/>
          <p:nvPr/>
        </p:nvGrpSpPr>
        <p:grpSpPr>
          <a:xfrm rot="0">
            <a:off x="1385316" y="5294376"/>
            <a:ext cx="4869180" cy="521208"/>
            <a:chOff x="0" y="0"/>
            <a:chExt cx="6492240" cy="69494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492240" cy="694944"/>
            </a:xfrm>
            <a:custGeom>
              <a:avLst/>
              <a:gdLst/>
              <a:ahLst/>
              <a:cxnLst/>
              <a:rect r="r" b="b" t="t" l="l"/>
              <a:pathLst>
                <a:path h="694944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2031" r="0" b="-132031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649224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9243A"/>
                  </a:solidFill>
                  <a:latin typeface="Inter"/>
                  <a:ea typeface="Inter"/>
                  <a:cs typeface="Inter"/>
                  <a:sym typeface="Inter"/>
                </a:rPr>
                <a:t>Сезонный baseline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6926580" y="5294376"/>
            <a:ext cx="1645920" cy="521208"/>
            <a:chOff x="0" y="0"/>
            <a:chExt cx="2194560" cy="69494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194560" cy="694944"/>
            </a:xfrm>
            <a:custGeom>
              <a:avLst/>
              <a:gdLst/>
              <a:ahLst/>
              <a:cxnLst/>
              <a:rect r="r" b="b" t="t" l="l"/>
              <a:pathLst>
                <a:path h="69494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531" r="0" b="-11531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2194560" cy="704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0F986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3,671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8791956" y="5294376"/>
            <a:ext cx="1673352" cy="521208"/>
            <a:chOff x="0" y="0"/>
            <a:chExt cx="2231136" cy="69494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231136" cy="694944"/>
            </a:xfrm>
            <a:custGeom>
              <a:avLst/>
              <a:gdLst/>
              <a:ahLst/>
              <a:cxnLst/>
              <a:rect r="r" b="b" t="t" l="l"/>
              <a:pathLst>
                <a:path h="694944" w="2231136">
                  <a:moveTo>
                    <a:pt x="0" y="0"/>
                  </a:moveTo>
                  <a:lnTo>
                    <a:pt x="2231136" y="0"/>
                  </a:lnTo>
                  <a:lnTo>
                    <a:pt x="223113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57" r="0" b="-12557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2231136" cy="704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5,108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279696" y="3146108"/>
            <a:ext cx="5942457" cy="3487293"/>
            <a:chOff x="0" y="0"/>
            <a:chExt cx="7923276" cy="464972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923276" cy="4649724"/>
            </a:xfrm>
            <a:custGeom>
              <a:avLst/>
              <a:gdLst/>
              <a:ahLst/>
              <a:cxnLst/>
              <a:rect r="r" b="b" t="t" l="l"/>
              <a:pathLst>
                <a:path h="4649724" w="7923276">
                  <a:moveTo>
                    <a:pt x="0" y="294005"/>
                  </a:moveTo>
                  <a:cubicBezTo>
                    <a:pt x="0" y="131699"/>
                    <a:pt x="131699" y="0"/>
                    <a:pt x="294005" y="0"/>
                  </a:cubicBezTo>
                  <a:lnTo>
                    <a:pt x="7629271" y="0"/>
                  </a:lnTo>
                  <a:cubicBezTo>
                    <a:pt x="7791703" y="0"/>
                    <a:pt x="7923276" y="131699"/>
                    <a:pt x="7923276" y="294005"/>
                  </a:cubicBezTo>
                  <a:lnTo>
                    <a:pt x="7923276" y="4355719"/>
                  </a:lnTo>
                  <a:cubicBezTo>
                    <a:pt x="7923276" y="4518152"/>
                    <a:pt x="7791577" y="4649724"/>
                    <a:pt x="7629271" y="4649724"/>
                  </a:cubicBezTo>
                  <a:lnTo>
                    <a:pt x="294005" y="4649724"/>
                  </a:lnTo>
                  <a:cubicBezTo>
                    <a:pt x="131699" y="4649724"/>
                    <a:pt x="0" y="4518025"/>
                    <a:pt x="0" y="4355719"/>
                  </a:cubicBezTo>
                  <a:close/>
                </a:path>
              </a:pathLst>
            </a:custGeom>
            <a:solidFill>
              <a:srgbClr val="EAF8F2"/>
            </a:solidFill>
            <a:ln w="17145" cap="sq">
              <a:solidFill>
                <a:srgbClr val="C3E7D5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1795760" y="3579876"/>
            <a:ext cx="4814316" cy="973836"/>
            <a:chOff x="0" y="0"/>
            <a:chExt cx="6419088" cy="129844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419088" cy="1298448"/>
            </a:xfrm>
            <a:custGeom>
              <a:avLst/>
              <a:gdLst/>
              <a:ahLst/>
              <a:cxnLst/>
              <a:rect r="r" b="b" t="t" l="l"/>
              <a:pathLst>
                <a:path h="1298448" w="6419088">
                  <a:moveTo>
                    <a:pt x="0" y="0"/>
                  </a:moveTo>
                  <a:lnTo>
                    <a:pt x="6419088" y="0"/>
                  </a:lnTo>
                  <a:lnTo>
                    <a:pt x="6419088" y="1298448"/>
                  </a:lnTo>
                  <a:lnTo>
                    <a:pt x="0" y="1298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327" r="0" b="-46327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6419088" cy="1298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39"/>
                </a:lnSpc>
              </a:pPr>
              <a:r>
                <a:rPr lang="en-US" sz="5700" b="true">
                  <a:solidFill>
                    <a:srgbClr val="0F986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3,49%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1782044" y="4763643"/>
            <a:ext cx="5033772" cy="997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9243A"/>
                </a:solidFill>
                <a:latin typeface="Inter Bold"/>
                <a:ea typeface="Inter Bold"/>
                <a:cs typeface="Inter Bold"/>
                <a:sym typeface="Inter Bold"/>
              </a:rPr>
              <a:t>настолько ниже MAE у простого</a:t>
            </a:r>
          </a:p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9243A"/>
                </a:solidFill>
                <a:latin typeface="Inter Bold"/>
                <a:ea typeface="Inter Bold"/>
                <a:cs typeface="Inter Bold"/>
                <a:sym typeface="Inter Bold"/>
              </a:rPr>
              <a:t>сезонного baseline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1032891" y="7355967"/>
            <a:ext cx="16162782" cy="1034034"/>
            <a:chOff x="0" y="0"/>
            <a:chExt cx="21550376" cy="137871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1550376" cy="1378712"/>
            </a:xfrm>
            <a:custGeom>
              <a:avLst/>
              <a:gdLst/>
              <a:ahLst/>
              <a:cxnLst/>
              <a:rect r="r" b="b" t="t" l="l"/>
              <a:pathLst>
                <a:path h="1378712" w="21550376">
                  <a:moveTo>
                    <a:pt x="0" y="223520"/>
                  </a:moveTo>
                  <a:cubicBezTo>
                    <a:pt x="0" y="100076"/>
                    <a:pt x="100076" y="0"/>
                    <a:pt x="223520" y="0"/>
                  </a:cubicBezTo>
                  <a:lnTo>
                    <a:pt x="21326856" y="0"/>
                  </a:lnTo>
                  <a:cubicBezTo>
                    <a:pt x="21450300" y="0"/>
                    <a:pt x="21550376" y="100076"/>
                    <a:pt x="21550376" y="223520"/>
                  </a:cubicBezTo>
                  <a:lnTo>
                    <a:pt x="21550376" y="1155192"/>
                  </a:lnTo>
                  <a:cubicBezTo>
                    <a:pt x="21550376" y="1278636"/>
                    <a:pt x="21450300" y="1378712"/>
                    <a:pt x="21326856" y="1378712"/>
                  </a:cubicBezTo>
                  <a:lnTo>
                    <a:pt x="223520" y="1378712"/>
                  </a:lnTo>
                  <a:cubicBezTo>
                    <a:pt x="100076" y="1378712"/>
                    <a:pt x="0" y="1278636"/>
                    <a:pt x="0" y="1155192"/>
                  </a:cubicBezTo>
                  <a:close/>
                </a:path>
              </a:pathLst>
            </a:custGeom>
            <a:solidFill>
              <a:srgbClr val="FFF6E9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316736" y="7530084"/>
            <a:ext cx="15595092" cy="685800"/>
            <a:chOff x="0" y="0"/>
            <a:chExt cx="20793456" cy="9144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0793456" cy="914400"/>
            </a:xfrm>
            <a:custGeom>
              <a:avLst/>
              <a:gdLst/>
              <a:ahLst/>
              <a:cxnLst/>
              <a:rect r="r" b="b" t="t" l="l"/>
              <a:pathLst>
                <a:path h="914400" w="20793456">
                  <a:moveTo>
                    <a:pt x="0" y="0"/>
                  </a:moveTo>
                  <a:lnTo>
                    <a:pt x="20793456" y="0"/>
                  </a:lnTo>
                  <a:lnTo>
                    <a:pt x="2079345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3089" r="0" b="-393089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0"/>
              <a:ext cx="20793456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98600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Честный вывод: нейросеть работает, но простой метод на тесте немного точнее.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083564" y="8668512"/>
            <a:ext cx="15965424" cy="562356"/>
            <a:chOff x="0" y="0"/>
            <a:chExt cx="21287232" cy="74980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1287232" cy="749808"/>
            </a:xfrm>
            <a:custGeom>
              <a:avLst/>
              <a:gdLst/>
              <a:ahLst/>
              <a:cxnLst/>
              <a:rect r="r" b="b" t="t" l="l"/>
              <a:pathLst>
                <a:path h="749808" w="21287232">
                  <a:moveTo>
                    <a:pt x="0" y="0"/>
                  </a:moveTo>
                  <a:lnTo>
                    <a:pt x="21287232" y="0"/>
                  </a:lnTo>
                  <a:lnTo>
                    <a:pt x="21287232" y="749808"/>
                  </a:lnTo>
                  <a:lnTo>
                    <a:pt x="0" y="749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3184" r="0" b="-503184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9525"/>
              <a:ext cx="21287232" cy="759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4738C"/>
                  </a:solidFill>
                  <a:latin typeface="Inter"/>
                  <a:ea typeface="Inter"/>
                  <a:cs typeface="Inter"/>
                  <a:sym typeface="Inter"/>
                </a:rPr>
                <a:t>MAE и RMSE — ошибка в количестве обращений; меньше означает лучше.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0392" y="315468"/>
            <a:ext cx="10972800" cy="370332"/>
            <a:chOff x="0" y="0"/>
            <a:chExt cx="14630400" cy="4937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493776"/>
            </a:xfrm>
            <a:custGeom>
              <a:avLst/>
              <a:gdLst/>
              <a:ahLst/>
              <a:cxnLst/>
              <a:rect r="r" b="b" t="t" l="l"/>
              <a:pathLst>
                <a:path h="49377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7334" r="0" b="-52733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4630400" cy="49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94">
                  <a:solidFill>
                    <a:srgbClr val="64738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UNIFORECAST · ML-ПРОЕКТ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51224" y="315468"/>
            <a:ext cx="795528" cy="452628"/>
            <a:chOff x="0" y="0"/>
            <a:chExt cx="1060704" cy="6035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0704" cy="603504"/>
            </a:xfrm>
            <a:custGeom>
              <a:avLst/>
              <a:gdLst/>
              <a:ahLst/>
              <a:cxnLst/>
              <a:rect r="r" b="b" t="t" l="l"/>
              <a:pathLst>
                <a:path h="603504" w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000" t="0" r="-2300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060704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B9AB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10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0392" y="891540"/>
            <a:ext cx="16527780" cy="877824"/>
            <a:chOff x="0" y="0"/>
            <a:chExt cx="22037040" cy="11704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037039" cy="1170432"/>
            </a:xfrm>
            <a:custGeom>
              <a:avLst/>
              <a:gdLst/>
              <a:ahLst/>
              <a:cxnLst/>
              <a:rect r="r" b="b" t="t" l="l"/>
              <a:pathLst>
                <a:path h="1170432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6866" r="0" b="-31686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037040" cy="1170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КАЧЕСТВО ПО ПОДРАЗДЕЛЕНИЯМ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40867" y="1896999"/>
            <a:ext cx="773430" cy="108204"/>
            <a:chOff x="0" y="0"/>
            <a:chExt cx="1031240" cy="1442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1240" cy="144272"/>
            </a:xfrm>
            <a:custGeom>
              <a:avLst/>
              <a:gdLst/>
              <a:ahLst/>
              <a:cxnLst/>
              <a:rect r="r" b="b" t="t" l="l"/>
              <a:pathLst>
                <a:path h="144272" w="1031240">
                  <a:moveTo>
                    <a:pt x="0" y="0"/>
                  </a:moveTo>
                  <a:lnTo>
                    <a:pt x="1031240" y="0"/>
                  </a:lnTo>
                  <a:lnTo>
                    <a:pt x="1031240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95247" y="1896999"/>
            <a:ext cx="773430" cy="108204"/>
            <a:chOff x="0" y="0"/>
            <a:chExt cx="1031240" cy="1442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31240" cy="144272"/>
            </a:xfrm>
            <a:custGeom>
              <a:avLst/>
              <a:gdLst/>
              <a:ahLst/>
              <a:cxnLst/>
              <a:rect r="r" b="b" t="t" l="l"/>
              <a:pathLst>
                <a:path h="144272" w="1031240">
                  <a:moveTo>
                    <a:pt x="0" y="0"/>
                  </a:moveTo>
                  <a:lnTo>
                    <a:pt x="1031240" y="0"/>
                  </a:lnTo>
                  <a:lnTo>
                    <a:pt x="1031240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8C14D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349627" y="1896999"/>
            <a:ext cx="457962" cy="108204"/>
            <a:chOff x="0" y="0"/>
            <a:chExt cx="610616" cy="1442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0616" cy="144272"/>
            </a:xfrm>
            <a:custGeom>
              <a:avLst/>
              <a:gdLst/>
              <a:ahLst/>
              <a:cxnLst/>
              <a:rect r="r" b="b" t="t" l="l"/>
              <a:pathLst>
                <a:path h="144272" w="610616">
                  <a:moveTo>
                    <a:pt x="0" y="0"/>
                  </a:moveTo>
                  <a:lnTo>
                    <a:pt x="610616" y="0"/>
                  </a:lnTo>
                  <a:lnTo>
                    <a:pt x="610616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788539" y="1896999"/>
            <a:ext cx="869442" cy="108204"/>
            <a:chOff x="0" y="0"/>
            <a:chExt cx="1159256" cy="1442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59256" cy="144272"/>
            </a:xfrm>
            <a:custGeom>
              <a:avLst/>
              <a:gdLst/>
              <a:ahLst/>
              <a:cxnLst/>
              <a:rect r="r" b="b" t="t" l="l"/>
              <a:pathLst>
                <a:path h="144272" w="1159256">
                  <a:moveTo>
                    <a:pt x="0" y="0"/>
                  </a:moveTo>
                  <a:lnTo>
                    <a:pt x="1159256" y="0"/>
                  </a:lnTo>
                  <a:lnTo>
                    <a:pt x="1159256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B4DAE2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-9525" y="10071735"/>
            <a:ext cx="1843278" cy="224790"/>
            <a:chOff x="0" y="0"/>
            <a:chExt cx="2457704" cy="2997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57704" cy="299720"/>
            </a:xfrm>
            <a:custGeom>
              <a:avLst/>
              <a:gdLst/>
              <a:ahLst/>
              <a:cxnLst/>
              <a:rect r="r" b="b" t="t" l="l"/>
              <a:pathLst>
                <a:path h="299720" w="2457704">
                  <a:moveTo>
                    <a:pt x="0" y="0"/>
                  </a:moveTo>
                  <a:lnTo>
                    <a:pt x="2457704" y="0"/>
                  </a:lnTo>
                  <a:lnTo>
                    <a:pt x="2457704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814703" y="10071735"/>
            <a:ext cx="3036570" cy="224790"/>
            <a:chOff x="0" y="0"/>
            <a:chExt cx="4048760" cy="299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48760" cy="299720"/>
            </a:xfrm>
            <a:custGeom>
              <a:avLst/>
              <a:gdLst/>
              <a:ahLst/>
              <a:cxnLst/>
              <a:rect r="r" b="b" t="t" l="l"/>
              <a:pathLst>
                <a:path h="299720" w="4048760">
                  <a:moveTo>
                    <a:pt x="0" y="0"/>
                  </a:moveTo>
                  <a:lnTo>
                    <a:pt x="4048760" y="0"/>
                  </a:lnTo>
                  <a:lnTo>
                    <a:pt x="404876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8C14D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832223" y="10071735"/>
            <a:ext cx="1843278" cy="224790"/>
            <a:chOff x="0" y="0"/>
            <a:chExt cx="2457704" cy="299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57704" cy="299720"/>
            </a:xfrm>
            <a:custGeom>
              <a:avLst/>
              <a:gdLst/>
              <a:ahLst/>
              <a:cxnLst/>
              <a:rect r="r" b="b" t="t" l="l"/>
              <a:pathLst>
                <a:path h="299720" w="2457704">
                  <a:moveTo>
                    <a:pt x="0" y="0"/>
                  </a:moveTo>
                  <a:lnTo>
                    <a:pt x="2457704" y="0"/>
                  </a:lnTo>
                  <a:lnTo>
                    <a:pt x="2457704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4B5C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656451" y="10071735"/>
            <a:ext cx="3036570" cy="224790"/>
            <a:chOff x="0" y="0"/>
            <a:chExt cx="4048760" cy="2997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48760" cy="299720"/>
            </a:xfrm>
            <a:custGeom>
              <a:avLst/>
              <a:gdLst/>
              <a:ahLst/>
              <a:cxnLst/>
              <a:rect r="r" b="b" t="t" l="l"/>
              <a:pathLst>
                <a:path h="299720" w="4048760">
                  <a:moveTo>
                    <a:pt x="0" y="0"/>
                  </a:moveTo>
                  <a:lnTo>
                    <a:pt x="4048760" y="0"/>
                  </a:lnTo>
                  <a:lnTo>
                    <a:pt x="404876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73971" y="10071735"/>
            <a:ext cx="1843278" cy="224790"/>
            <a:chOff x="0" y="0"/>
            <a:chExt cx="2457704" cy="2997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57704" cy="299720"/>
            </a:xfrm>
            <a:custGeom>
              <a:avLst/>
              <a:gdLst/>
              <a:ahLst/>
              <a:cxnLst/>
              <a:rect r="r" b="b" t="t" l="l"/>
              <a:pathLst>
                <a:path h="299720" w="2457704">
                  <a:moveTo>
                    <a:pt x="0" y="0"/>
                  </a:moveTo>
                  <a:lnTo>
                    <a:pt x="2457704" y="0"/>
                  </a:lnTo>
                  <a:lnTo>
                    <a:pt x="2457704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498199" y="10071735"/>
            <a:ext cx="1802130" cy="224790"/>
            <a:chOff x="0" y="0"/>
            <a:chExt cx="2402840" cy="299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02840" cy="299720"/>
            </a:xfrm>
            <a:custGeom>
              <a:avLst/>
              <a:gdLst/>
              <a:ahLst/>
              <a:cxnLst/>
              <a:rect r="r" b="b" t="t" l="l"/>
              <a:pathLst>
                <a:path h="299720" w="2402840">
                  <a:moveTo>
                    <a:pt x="0" y="0"/>
                  </a:moveTo>
                  <a:lnTo>
                    <a:pt x="2402840" y="0"/>
                  </a:lnTo>
                  <a:lnTo>
                    <a:pt x="240284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281279" y="10071735"/>
            <a:ext cx="1390650" cy="224790"/>
            <a:chOff x="0" y="0"/>
            <a:chExt cx="1854200" cy="299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54200" cy="299720"/>
            </a:xfrm>
            <a:custGeom>
              <a:avLst/>
              <a:gdLst/>
              <a:ahLst/>
              <a:cxnLst/>
              <a:rect r="r" b="b" t="t" l="l"/>
              <a:pathLst>
                <a:path h="299720" w="1854200">
                  <a:moveTo>
                    <a:pt x="0" y="0"/>
                  </a:moveTo>
                  <a:lnTo>
                    <a:pt x="1854200" y="0"/>
                  </a:lnTo>
                  <a:lnTo>
                    <a:pt x="185420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4B5C1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652879" y="10071735"/>
            <a:ext cx="3645560" cy="224790"/>
            <a:chOff x="0" y="0"/>
            <a:chExt cx="4860747" cy="2997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60798" cy="299720"/>
            </a:xfrm>
            <a:custGeom>
              <a:avLst/>
              <a:gdLst/>
              <a:ahLst/>
              <a:cxnLst/>
              <a:rect r="r" b="b" t="t" l="l"/>
              <a:pathLst>
                <a:path h="299720" w="4860798">
                  <a:moveTo>
                    <a:pt x="0" y="0"/>
                  </a:moveTo>
                  <a:lnTo>
                    <a:pt x="4860798" y="0"/>
                  </a:lnTo>
                  <a:lnTo>
                    <a:pt x="4860798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B4DAE2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28700" y="2304288"/>
            <a:ext cx="15087600" cy="534924"/>
            <a:chOff x="0" y="0"/>
            <a:chExt cx="20116800" cy="71323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116800" cy="713232"/>
            </a:xfrm>
            <a:custGeom>
              <a:avLst/>
              <a:gdLst/>
              <a:ahLst/>
              <a:cxnLst/>
              <a:rect r="r" b="b" t="t" l="l"/>
              <a:pathLst>
                <a:path h="713232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713232"/>
                  </a:lnTo>
                  <a:lnTo>
                    <a:pt x="0" y="713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9578" r="0" b="-49957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20116800" cy="7132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Средняя абсолютная ошибка MAE, обращения в день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83564" y="3099816"/>
            <a:ext cx="4155948" cy="548640"/>
            <a:chOff x="0" y="0"/>
            <a:chExt cx="5541264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541264" cy="731520"/>
            </a:xfrm>
            <a:custGeom>
              <a:avLst/>
              <a:gdLst/>
              <a:ahLst/>
              <a:cxnLst/>
              <a:rect r="r" b="b" t="t" l="l"/>
              <a:pathLst>
                <a:path h="731520" w="5541264">
                  <a:moveTo>
                    <a:pt x="0" y="0"/>
                  </a:moveTo>
                  <a:lnTo>
                    <a:pt x="5541264" y="0"/>
                  </a:lnTo>
                  <a:lnTo>
                    <a:pt x="554126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599" r="0" b="-9759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5541264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IT-поддержка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627751" y="2939415"/>
            <a:ext cx="9071610" cy="279654"/>
            <a:chOff x="0" y="0"/>
            <a:chExt cx="12095480" cy="37287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095480" cy="372872"/>
            </a:xfrm>
            <a:custGeom>
              <a:avLst/>
              <a:gdLst/>
              <a:ahLst/>
              <a:cxnLst/>
              <a:rect r="r" b="b" t="t" l="l"/>
              <a:pathLst>
                <a:path h="372872" w="12095480">
                  <a:moveTo>
                    <a:pt x="0" y="0"/>
                  </a:moveTo>
                  <a:lnTo>
                    <a:pt x="12095480" y="0"/>
                  </a:lnTo>
                  <a:lnTo>
                    <a:pt x="12095480" y="372872"/>
                  </a:lnTo>
                  <a:lnTo>
                    <a:pt x="0" y="372872"/>
                  </a:lnTo>
                  <a:close/>
                </a:path>
              </a:pathLst>
            </a:custGeom>
            <a:solidFill>
              <a:srgbClr val="F0F2F8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5627751" y="2939415"/>
            <a:ext cx="7355938" cy="279654"/>
            <a:chOff x="0" y="0"/>
            <a:chExt cx="9807918" cy="37287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807956" cy="372872"/>
            </a:xfrm>
            <a:custGeom>
              <a:avLst/>
              <a:gdLst/>
              <a:ahLst/>
              <a:cxnLst/>
              <a:rect r="r" b="b" t="t" l="l"/>
              <a:pathLst>
                <a:path h="372872" w="9807956">
                  <a:moveTo>
                    <a:pt x="0" y="0"/>
                  </a:moveTo>
                  <a:lnTo>
                    <a:pt x="9807956" y="0"/>
                  </a:lnTo>
                  <a:lnTo>
                    <a:pt x="9807956" y="372872"/>
                  </a:lnTo>
                  <a:lnTo>
                    <a:pt x="0" y="372872"/>
                  </a:lnTo>
                  <a:close/>
                </a:path>
              </a:pathLst>
            </a:custGeom>
            <a:solidFill>
              <a:srgbClr val="8C14DB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5627751" y="3309747"/>
            <a:ext cx="9071610" cy="279654"/>
            <a:chOff x="0" y="0"/>
            <a:chExt cx="12095480" cy="37287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095480" cy="372872"/>
            </a:xfrm>
            <a:custGeom>
              <a:avLst/>
              <a:gdLst/>
              <a:ahLst/>
              <a:cxnLst/>
              <a:rect r="r" b="b" t="t" l="l"/>
              <a:pathLst>
                <a:path h="372872" w="12095480">
                  <a:moveTo>
                    <a:pt x="0" y="0"/>
                  </a:moveTo>
                  <a:lnTo>
                    <a:pt x="12095480" y="0"/>
                  </a:lnTo>
                  <a:lnTo>
                    <a:pt x="12095480" y="372872"/>
                  </a:lnTo>
                  <a:lnTo>
                    <a:pt x="0" y="372872"/>
                  </a:lnTo>
                  <a:close/>
                </a:path>
              </a:pathLst>
            </a:custGeom>
            <a:solidFill>
              <a:srgbClr val="F0F2F8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5627751" y="3309747"/>
            <a:ext cx="7311104" cy="279654"/>
            <a:chOff x="0" y="0"/>
            <a:chExt cx="9748139" cy="37287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748139" cy="372872"/>
            </a:xfrm>
            <a:custGeom>
              <a:avLst/>
              <a:gdLst/>
              <a:ahLst/>
              <a:cxnLst/>
              <a:rect r="r" b="b" t="t" l="l"/>
              <a:pathLst>
                <a:path h="372872" w="9748139">
                  <a:moveTo>
                    <a:pt x="0" y="0"/>
                  </a:moveTo>
                  <a:lnTo>
                    <a:pt x="9748139" y="0"/>
                  </a:lnTo>
                  <a:lnTo>
                    <a:pt x="9748139" y="372872"/>
                  </a:lnTo>
                  <a:lnTo>
                    <a:pt x="0" y="372872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4964156" y="2921508"/>
            <a:ext cx="1440180" cy="356616"/>
            <a:chOff x="0" y="0"/>
            <a:chExt cx="1920240" cy="47548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920240" cy="475488"/>
            </a:xfrm>
            <a:custGeom>
              <a:avLst/>
              <a:gdLst/>
              <a:ahLst/>
              <a:cxnLst/>
              <a:rect r="r" b="b" t="t" l="l"/>
              <a:pathLst>
                <a:path h="475488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1920240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5D2DC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4,255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4964156" y="3305556"/>
            <a:ext cx="1440180" cy="356616"/>
            <a:chOff x="0" y="0"/>
            <a:chExt cx="1920240" cy="47548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920240" cy="475488"/>
            </a:xfrm>
            <a:custGeom>
              <a:avLst/>
              <a:gdLst/>
              <a:ahLst/>
              <a:cxnLst/>
              <a:rect r="r" b="b" t="t" l="l"/>
              <a:pathLst>
                <a:path h="475488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1920240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A66B1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4,229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83564" y="4251960"/>
            <a:ext cx="4155948" cy="548640"/>
            <a:chOff x="0" y="0"/>
            <a:chExt cx="5541264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541264" cy="731520"/>
            </a:xfrm>
            <a:custGeom>
              <a:avLst/>
              <a:gdLst/>
              <a:ahLst/>
              <a:cxnLst/>
              <a:rect r="r" b="b" t="t" l="l"/>
              <a:pathLst>
                <a:path h="731520" w="5541264">
                  <a:moveTo>
                    <a:pt x="0" y="0"/>
                  </a:moveTo>
                  <a:lnTo>
                    <a:pt x="5541264" y="0"/>
                  </a:lnTo>
                  <a:lnTo>
                    <a:pt x="554126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599" r="0" b="-97599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5541264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Бухгалтерия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5627751" y="4091559"/>
            <a:ext cx="9071610" cy="279654"/>
            <a:chOff x="0" y="0"/>
            <a:chExt cx="12095480" cy="37287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2095480" cy="372872"/>
            </a:xfrm>
            <a:custGeom>
              <a:avLst/>
              <a:gdLst/>
              <a:ahLst/>
              <a:cxnLst/>
              <a:rect r="r" b="b" t="t" l="l"/>
              <a:pathLst>
                <a:path h="372872" w="12095480">
                  <a:moveTo>
                    <a:pt x="0" y="0"/>
                  </a:moveTo>
                  <a:lnTo>
                    <a:pt x="12095480" y="0"/>
                  </a:lnTo>
                  <a:lnTo>
                    <a:pt x="12095480" y="372872"/>
                  </a:lnTo>
                  <a:lnTo>
                    <a:pt x="0" y="372872"/>
                  </a:lnTo>
                  <a:close/>
                </a:path>
              </a:pathLst>
            </a:custGeom>
            <a:solidFill>
              <a:srgbClr val="F0F2F8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5627751" y="4091559"/>
            <a:ext cx="5971327" cy="279654"/>
            <a:chOff x="0" y="0"/>
            <a:chExt cx="7961770" cy="37287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961757" cy="372872"/>
            </a:xfrm>
            <a:custGeom>
              <a:avLst/>
              <a:gdLst/>
              <a:ahLst/>
              <a:cxnLst/>
              <a:rect r="r" b="b" t="t" l="l"/>
              <a:pathLst>
                <a:path h="372872" w="7961757">
                  <a:moveTo>
                    <a:pt x="0" y="0"/>
                  </a:moveTo>
                  <a:lnTo>
                    <a:pt x="7961757" y="0"/>
                  </a:lnTo>
                  <a:lnTo>
                    <a:pt x="7961757" y="372872"/>
                  </a:lnTo>
                  <a:lnTo>
                    <a:pt x="0" y="372872"/>
                  </a:lnTo>
                  <a:close/>
                </a:path>
              </a:pathLst>
            </a:custGeom>
            <a:solidFill>
              <a:srgbClr val="8C14DB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5627751" y="4461891"/>
            <a:ext cx="9071610" cy="279654"/>
            <a:chOff x="0" y="0"/>
            <a:chExt cx="12095480" cy="37287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2095480" cy="372872"/>
            </a:xfrm>
            <a:custGeom>
              <a:avLst/>
              <a:gdLst/>
              <a:ahLst/>
              <a:cxnLst/>
              <a:rect r="r" b="b" t="t" l="l"/>
              <a:pathLst>
                <a:path h="372872" w="12095480">
                  <a:moveTo>
                    <a:pt x="0" y="0"/>
                  </a:moveTo>
                  <a:lnTo>
                    <a:pt x="12095480" y="0"/>
                  </a:lnTo>
                  <a:lnTo>
                    <a:pt x="12095480" y="372872"/>
                  </a:lnTo>
                  <a:lnTo>
                    <a:pt x="0" y="372872"/>
                  </a:lnTo>
                  <a:close/>
                </a:path>
              </a:pathLst>
            </a:custGeom>
            <a:solidFill>
              <a:srgbClr val="F0F2F8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5627751" y="4461891"/>
            <a:ext cx="5626465" cy="279654"/>
            <a:chOff x="0" y="0"/>
            <a:chExt cx="7501954" cy="37287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501890" cy="372872"/>
            </a:xfrm>
            <a:custGeom>
              <a:avLst/>
              <a:gdLst/>
              <a:ahLst/>
              <a:cxnLst/>
              <a:rect r="r" b="b" t="t" l="l"/>
              <a:pathLst>
                <a:path h="372872" w="7501890">
                  <a:moveTo>
                    <a:pt x="0" y="0"/>
                  </a:moveTo>
                  <a:lnTo>
                    <a:pt x="7501890" y="0"/>
                  </a:lnTo>
                  <a:lnTo>
                    <a:pt x="7501890" y="372872"/>
                  </a:lnTo>
                  <a:lnTo>
                    <a:pt x="0" y="372872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4964156" y="4073652"/>
            <a:ext cx="1440180" cy="356616"/>
            <a:chOff x="0" y="0"/>
            <a:chExt cx="1920240" cy="47548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920240" cy="475488"/>
            </a:xfrm>
            <a:custGeom>
              <a:avLst/>
              <a:gdLst/>
              <a:ahLst/>
              <a:cxnLst/>
              <a:rect r="r" b="b" t="t" l="l"/>
              <a:pathLst>
                <a:path h="475488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1920240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5D2DC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3,452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4964156" y="4457700"/>
            <a:ext cx="1440180" cy="356616"/>
            <a:chOff x="0" y="0"/>
            <a:chExt cx="1920240" cy="47548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920240" cy="475488"/>
            </a:xfrm>
            <a:custGeom>
              <a:avLst/>
              <a:gdLst/>
              <a:ahLst/>
              <a:cxnLst/>
              <a:rect r="r" b="b" t="t" l="l"/>
              <a:pathLst>
                <a:path h="475488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1920240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A66B1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3,252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083564" y="5404104"/>
            <a:ext cx="4155948" cy="548640"/>
            <a:chOff x="0" y="0"/>
            <a:chExt cx="5541264" cy="7315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541264" cy="731520"/>
            </a:xfrm>
            <a:custGeom>
              <a:avLst/>
              <a:gdLst/>
              <a:ahLst/>
              <a:cxnLst/>
              <a:rect r="r" b="b" t="t" l="l"/>
              <a:pathLst>
                <a:path h="731520" w="5541264">
                  <a:moveTo>
                    <a:pt x="0" y="0"/>
                  </a:moveTo>
                  <a:lnTo>
                    <a:pt x="5541264" y="0"/>
                  </a:lnTo>
                  <a:lnTo>
                    <a:pt x="554126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599" r="0" b="-97599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5541264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Общежития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5627751" y="5243703"/>
            <a:ext cx="9071610" cy="279654"/>
            <a:chOff x="0" y="0"/>
            <a:chExt cx="12095480" cy="37287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2095480" cy="372872"/>
            </a:xfrm>
            <a:custGeom>
              <a:avLst/>
              <a:gdLst/>
              <a:ahLst/>
              <a:cxnLst/>
              <a:rect r="r" b="b" t="t" l="l"/>
              <a:pathLst>
                <a:path h="372872" w="12095480">
                  <a:moveTo>
                    <a:pt x="0" y="0"/>
                  </a:moveTo>
                  <a:lnTo>
                    <a:pt x="12095480" y="0"/>
                  </a:lnTo>
                  <a:lnTo>
                    <a:pt x="12095480" y="372872"/>
                  </a:lnTo>
                  <a:lnTo>
                    <a:pt x="0" y="372872"/>
                  </a:lnTo>
                  <a:close/>
                </a:path>
              </a:pathLst>
            </a:custGeom>
            <a:solidFill>
              <a:srgbClr val="F0F2F8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5627751" y="5243703"/>
            <a:ext cx="6090304" cy="279654"/>
            <a:chOff x="0" y="0"/>
            <a:chExt cx="8120405" cy="37287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120380" cy="372872"/>
            </a:xfrm>
            <a:custGeom>
              <a:avLst/>
              <a:gdLst/>
              <a:ahLst/>
              <a:cxnLst/>
              <a:rect r="r" b="b" t="t" l="l"/>
              <a:pathLst>
                <a:path h="372872" w="8120380">
                  <a:moveTo>
                    <a:pt x="0" y="0"/>
                  </a:moveTo>
                  <a:lnTo>
                    <a:pt x="8120380" y="0"/>
                  </a:lnTo>
                  <a:lnTo>
                    <a:pt x="8120380" y="372872"/>
                  </a:lnTo>
                  <a:lnTo>
                    <a:pt x="0" y="372872"/>
                  </a:lnTo>
                  <a:close/>
                </a:path>
              </a:pathLst>
            </a:custGeom>
            <a:solidFill>
              <a:srgbClr val="8C14DB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5627751" y="5614035"/>
            <a:ext cx="9071610" cy="279654"/>
            <a:chOff x="0" y="0"/>
            <a:chExt cx="12095480" cy="37287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2095480" cy="372872"/>
            </a:xfrm>
            <a:custGeom>
              <a:avLst/>
              <a:gdLst/>
              <a:ahLst/>
              <a:cxnLst/>
              <a:rect r="r" b="b" t="t" l="l"/>
              <a:pathLst>
                <a:path h="372872" w="12095480">
                  <a:moveTo>
                    <a:pt x="0" y="0"/>
                  </a:moveTo>
                  <a:lnTo>
                    <a:pt x="12095480" y="0"/>
                  </a:lnTo>
                  <a:lnTo>
                    <a:pt x="12095480" y="372872"/>
                  </a:lnTo>
                  <a:lnTo>
                    <a:pt x="0" y="372872"/>
                  </a:lnTo>
                  <a:close/>
                </a:path>
              </a:pathLst>
            </a:custGeom>
            <a:solidFill>
              <a:srgbClr val="F0F2F8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5627751" y="5614035"/>
            <a:ext cx="5717848" cy="279654"/>
            <a:chOff x="0" y="0"/>
            <a:chExt cx="7623797" cy="37287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623810" cy="372872"/>
            </a:xfrm>
            <a:custGeom>
              <a:avLst/>
              <a:gdLst/>
              <a:ahLst/>
              <a:cxnLst/>
              <a:rect r="r" b="b" t="t" l="l"/>
              <a:pathLst>
                <a:path h="372872" w="7623810">
                  <a:moveTo>
                    <a:pt x="0" y="0"/>
                  </a:moveTo>
                  <a:lnTo>
                    <a:pt x="7623810" y="0"/>
                  </a:lnTo>
                  <a:lnTo>
                    <a:pt x="7623810" y="372872"/>
                  </a:lnTo>
                  <a:lnTo>
                    <a:pt x="0" y="372872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4964156" y="5225796"/>
            <a:ext cx="1440180" cy="356616"/>
            <a:chOff x="0" y="0"/>
            <a:chExt cx="1920240" cy="47548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920240" cy="475488"/>
            </a:xfrm>
            <a:custGeom>
              <a:avLst/>
              <a:gdLst/>
              <a:ahLst/>
              <a:cxnLst/>
              <a:rect r="r" b="b" t="t" l="l"/>
              <a:pathLst>
                <a:path h="475488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0"/>
              <a:ext cx="1920240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5D2DC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3,521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4964156" y="5609844"/>
            <a:ext cx="1440180" cy="356616"/>
            <a:chOff x="0" y="0"/>
            <a:chExt cx="1920240" cy="47548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920240" cy="475488"/>
            </a:xfrm>
            <a:custGeom>
              <a:avLst/>
              <a:gdLst/>
              <a:ahLst/>
              <a:cxnLst/>
              <a:rect r="r" b="b" t="t" l="l"/>
              <a:pathLst>
                <a:path h="475488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1920240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A66B1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3,305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83564" y="6556248"/>
            <a:ext cx="4155948" cy="548640"/>
            <a:chOff x="0" y="0"/>
            <a:chExt cx="5541264" cy="7315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541264" cy="731520"/>
            </a:xfrm>
            <a:custGeom>
              <a:avLst/>
              <a:gdLst/>
              <a:ahLst/>
              <a:cxnLst/>
              <a:rect r="r" b="b" t="t" l="l"/>
              <a:pathLst>
                <a:path h="731520" w="5541264">
                  <a:moveTo>
                    <a:pt x="0" y="0"/>
                  </a:moveTo>
                  <a:lnTo>
                    <a:pt x="5541264" y="0"/>
                  </a:lnTo>
                  <a:lnTo>
                    <a:pt x="554126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599" r="0" b="-97599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9525"/>
              <a:ext cx="5541264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Приёмная комиссия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5627751" y="6395847"/>
            <a:ext cx="9071610" cy="279654"/>
            <a:chOff x="0" y="0"/>
            <a:chExt cx="12095480" cy="37287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2095480" cy="372872"/>
            </a:xfrm>
            <a:custGeom>
              <a:avLst/>
              <a:gdLst/>
              <a:ahLst/>
              <a:cxnLst/>
              <a:rect r="r" b="b" t="t" l="l"/>
              <a:pathLst>
                <a:path h="372872" w="12095480">
                  <a:moveTo>
                    <a:pt x="0" y="0"/>
                  </a:moveTo>
                  <a:lnTo>
                    <a:pt x="12095480" y="0"/>
                  </a:lnTo>
                  <a:lnTo>
                    <a:pt x="12095480" y="372872"/>
                  </a:lnTo>
                  <a:lnTo>
                    <a:pt x="0" y="372872"/>
                  </a:lnTo>
                  <a:close/>
                </a:path>
              </a:pathLst>
            </a:custGeom>
            <a:solidFill>
              <a:srgbClr val="F0F2F8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5627751" y="6395847"/>
            <a:ext cx="5029857" cy="279654"/>
            <a:chOff x="0" y="0"/>
            <a:chExt cx="6706476" cy="37287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6706489" cy="372872"/>
            </a:xfrm>
            <a:custGeom>
              <a:avLst/>
              <a:gdLst/>
              <a:ahLst/>
              <a:cxnLst/>
              <a:rect r="r" b="b" t="t" l="l"/>
              <a:pathLst>
                <a:path h="372872" w="6706489">
                  <a:moveTo>
                    <a:pt x="0" y="0"/>
                  </a:moveTo>
                  <a:lnTo>
                    <a:pt x="6706489" y="0"/>
                  </a:lnTo>
                  <a:lnTo>
                    <a:pt x="6706489" y="372872"/>
                  </a:lnTo>
                  <a:lnTo>
                    <a:pt x="0" y="372872"/>
                  </a:lnTo>
                  <a:close/>
                </a:path>
              </a:pathLst>
            </a:custGeom>
            <a:solidFill>
              <a:srgbClr val="8C14DB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5627751" y="6766179"/>
            <a:ext cx="9071610" cy="279654"/>
            <a:chOff x="0" y="0"/>
            <a:chExt cx="12095480" cy="37287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2095480" cy="372872"/>
            </a:xfrm>
            <a:custGeom>
              <a:avLst/>
              <a:gdLst/>
              <a:ahLst/>
              <a:cxnLst/>
              <a:rect r="r" b="b" t="t" l="l"/>
              <a:pathLst>
                <a:path h="372872" w="12095480">
                  <a:moveTo>
                    <a:pt x="0" y="0"/>
                  </a:moveTo>
                  <a:lnTo>
                    <a:pt x="12095480" y="0"/>
                  </a:lnTo>
                  <a:lnTo>
                    <a:pt x="12095480" y="372872"/>
                  </a:lnTo>
                  <a:lnTo>
                    <a:pt x="0" y="372872"/>
                  </a:lnTo>
                  <a:close/>
                </a:path>
              </a:pathLst>
            </a:custGeom>
            <a:solidFill>
              <a:srgbClr val="F0F2F8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5627751" y="6766179"/>
            <a:ext cx="4967783" cy="279654"/>
            <a:chOff x="0" y="0"/>
            <a:chExt cx="6623710" cy="37287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623685" cy="372872"/>
            </a:xfrm>
            <a:custGeom>
              <a:avLst/>
              <a:gdLst/>
              <a:ahLst/>
              <a:cxnLst/>
              <a:rect r="r" b="b" t="t" l="l"/>
              <a:pathLst>
                <a:path h="372872" w="6623685">
                  <a:moveTo>
                    <a:pt x="0" y="0"/>
                  </a:moveTo>
                  <a:lnTo>
                    <a:pt x="6623685" y="0"/>
                  </a:lnTo>
                  <a:lnTo>
                    <a:pt x="6623685" y="372872"/>
                  </a:lnTo>
                  <a:lnTo>
                    <a:pt x="0" y="372872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4964156" y="6377940"/>
            <a:ext cx="1440180" cy="356616"/>
            <a:chOff x="0" y="0"/>
            <a:chExt cx="1920240" cy="47548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920240" cy="475488"/>
            </a:xfrm>
            <a:custGeom>
              <a:avLst/>
              <a:gdLst/>
              <a:ahLst/>
              <a:cxnLst/>
              <a:rect r="r" b="b" t="t" l="l"/>
              <a:pathLst>
                <a:path h="475488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0"/>
              <a:ext cx="1920240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5D2DC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2,906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4964156" y="6761988"/>
            <a:ext cx="1440180" cy="356616"/>
            <a:chOff x="0" y="0"/>
            <a:chExt cx="1920240" cy="475488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920240" cy="475488"/>
            </a:xfrm>
            <a:custGeom>
              <a:avLst/>
              <a:gdLst/>
              <a:ahLst/>
              <a:cxnLst/>
              <a:rect r="r" b="b" t="t" l="l"/>
              <a:pathLst>
                <a:path h="475488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1920240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A66B1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2,870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083564" y="7708392"/>
            <a:ext cx="4155948" cy="548640"/>
            <a:chOff x="0" y="0"/>
            <a:chExt cx="5541264" cy="73152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5541264" cy="731520"/>
            </a:xfrm>
            <a:custGeom>
              <a:avLst/>
              <a:gdLst/>
              <a:ahLst/>
              <a:cxnLst/>
              <a:rect r="r" b="b" t="t" l="l"/>
              <a:pathLst>
                <a:path h="731520" w="5541264">
                  <a:moveTo>
                    <a:pt x="0" y="0"/>
                  </a:moveTo>
                  <a:lnTo>
                    <a:pt x="5541264" y="0"/>
                  </a:lnTo>
                  <a:lnTo>
                    <a:pt x="554126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599" r="0" b="-97599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9525"/>
              <a:ext cx="5541264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Учебный отдел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5627751" y="7547991"/>
            <a:ext cx="9071610" cy="279654"/>
            <a:chOff x="0" y="0"/>
            <a:chExt cx="12095480" cy="37287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2095480" cy="372872"/>
            </a:xfrm>
            <a:custGeom>
              <a:avLst/>
              <a:gdLst/>
              <a:ahLst/>
              <a:cxnLst/>
              <a:rect r="r" b="b" t="t" l="l"/>
              <a:pathLst>
                <a:path h="372872" w="12095480">
                  <a:moveTo>
                    <a:pt x="0" y="0"/>
                  </a:moveTo>
                  <a:lnTo>
                    <a:pt x="12095480" y="0"/>
                  </a:lnTo>
                  <a:lnTo>
                    <a:pt x="12095480" y="372872"/>
                  </a:lnTo>
                  <a:lnTo>
                    <a:pt x="0" y="372872"/>
                  </a:lnTo>
                  <a:close/>
                </a:path>
              </a:pathLst>
            </a:custGeom>
            <a:solidFill>
              <a:srgbClr val="F0F2F8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5627751" y="7547991"/>
            <a:ext cx="8404308" cy="279654"/>
            <a:chOff x="0" y="0"/>
            <a:chExt cx="11205743" cy="372872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1205718" cy="372872"/>
            </a:xfrm>
            <a:custGeom>
              <a:avLst/>
              <a:gdLst/>
              <a:ahLst/>
              <a:cxnLst/>
              <a:rect r="r" b="b" t="t" l="l"/>
              <a:pathLst>
                <a:path h="372872" w="11205718">
                  <a:moveTo>
                    <a:pt x="0" y="0"/>
                  </a:moveTo>
                  <a:lnTo>
                    <a:pt x="11205718" y="0"/>
                  </a:lnTo>
                  <a:lnTo>
                    <a:pt x="11205718" y="372872"/>
                  </a:lnTo>
                  <a:lnTo>
                    <a:pt x="0" y="372872"/>
                  </a:lnTo>
                  <a:close/>
                </a:path>
              </a:pathLst>
            </a:custGeom>
            <a:solidFill>
              <a:srgbClr val="8C14DB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5627751" y="7918323"/>
            <a:ext cx="9071610" cy="279654"/>
            <a:chOff x="0" y="0"/>
            <a:chExt cx="12095480" cy="37287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2095480" cy="372872"/>
            </a:xfrm>
            <a:custGeom>
              <a:avLst/>
              <a:gdLst/>
              <a:ahLst/>
              <a:cxnLst/>
              <a:rect r="r" b="b" t="t" l="l"/>
              <a:pathLst>
                <a:path h="372872" w="12095480">
                  <a:moveTo>
                    <a:pt x="0" y="0"/>
                  </a:moveTo>
                  <a:lnTo>
                    <a:pt x="12095480" y="0"/>
                  </a:lnTo>
                  <a:lnTo>
                    <a:pt x="12095480" y="372872"/>
                  </a:lnTo>
                  <a:lnTo>
                    <a:pt x="0" y="372872"/>
                  </a:lnTo>
                  <a:close/>
                </a:path>
              </a:pathLst>
            </a:custGeom>
            <a:solidFill>
              <a:srgbClr val="F0F2F8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5627751" y="7918323"/>
            <a:ext cx="8123244" cy="279654"/>
            <a:chOff x="0" y="0"/>
            <a:chExt cx="10830992" cy="372872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0830941" cy="372872"/>
            </a:xfrm>
            <a:custGeom>
              <a:avLst/>
              <a:gdLst/>
              <a:ahLst/>
              <a:cxnLst/>
              <a:rect r="r" b="b" t="t" l="l"/>
              <a:pathLst>
                <a:path h="372872" w="10830941">
                  <a:moveTo>
                    <a:pt x="0" y="0"/>
                  </a:moveTo>
                  <a:lnTo>
                    <a:pt x="10830941" y="0"/>
                  </a:lnTo>
                  <a:lnTo>
                    <a:pt x="10830941" y="372872"/>
                  </a:lnTo>
                  <a:lnTo>
                    <a:pt x="0" y="372872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4964156" y="7530084"/>
            <a:ext cx="1440180" cy="356616"/>
            <a:chOff x="0" y="0"/>
            <a:chExt cx="1920240" cy="475488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920240" cy="475488"/>
            </a:xfrm>
            <a:custGeom>
              <a:avLst/>
              <a:gdLst/>
              <a:ahLst/>
              <a:cxnLst/>
              <a:rect r="r" b="b" t="t" l="l"/>
              <a:pathLst>
                <a:path h="475488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0"/>
              <a:ext cx="1920240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5D2DC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4,863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4964156" y="7914132"/>
            <a:ext cx="1440180" cy="356616"/>
            <a:chOff x="0" y="0"/>
            <a:chExt cx="1920240" cy="475488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920240" cy="475488"/>
            </a:xfrm>
            <a:custGeom>
              <a:avLst/>
              <a:gdLst/>
              <a:ahLst/>
              <a:cxnLst/>
              <a:rect r="r" b="b" t="t" l="l"/>
              <a:pathLst>
                <a:path h="475488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0"/>
              <a:ext cx="1920240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A66B1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4,700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074039" y="9070467"/>
            <a:ext cx="238506" cy="238506"/>
            <a:chOff x="0" y="0"/>
            <a:chExt cx="318008" cy="318008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318008" cy="318008"/>
            </a:xfrm>
            <a:custGeom>
              <a:avLst/>
              <a:gdLst/>
              <a:ahLst/>
              <a:cxnLst/>
              <a:rect r="r" b="b" t="t" l="l"/>
              <a:pathLst>
                <a:path h="318008" w="318008">
                  <a:moveTo>
                    <a:pt x="0" y="0"/>
                  </a:moveTo>
                  <a:lnTo>
                    <a:pt x="318008" y="0"/>
                  </a:lnTo>
                  <a:lnTo>
                    <a:pt x="318008" y="318008"/>
                  </a:lnTo>
                  <a:lnTo>
                    <a:pt x="0" y="318008"/>
                  </a:lnTo>
                  <a:close/>
                </a:path>
              </a:pathLst>
            </a:custGeom>
            <a:solidFill>
              <a:srgbClr val="8C14DB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412748" y="9025128"/>
            <a:ext cx="3291840" cy="370332"/>
            <a:chOff x="0" y="0"/>
            <a:chExt cx="4389120" cy="493776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4389120" cy="493776"/>
            </a:xfrm>
            <a:custGeom>
              <a:avLst/>
              <a:gdLst/>
              <a:ahLst/>
              <a:cxnLst/>
              <a:rect r="r" b="b" t="t" l="l"/>
              <a:pathLst>
                <a:path h="493776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9525"/>
              <a:ext cx="4389120" cy="503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4738C"/>
                  </a:solidFill>
                  <a:latin typeface="Inter"/>
                  <a:ea typeface="Inter"/>
                  <a:cs typeface="Inter"/>
                  <a:sym typeface="Inter"/>
                </a:rPr>
                <a:t>Календарная MLP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5051679" y="9070467"/>
            <a:ext cx="238506" cy="238506"/>
            <a:chOff x="0" y="0"/>
            <a:chExt cx="318008" cy="318008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318008" cy="318008"/>
            </a:xfrm>
            <a:custGeom>
              <a:avLst/>
              <a:gdLst/>
              <a:ahLst/>
              <a:cxnLst/>
              <a:rect r="r" b="b" t="t" l="l"/>
              <a:pathLst>
                <a:path h="318008" w="318008">
                  <a:moveTo>
                    <a:pt x="0" y="0"/>
                  </a:moveTo>
                  <a:lnTo>
                    <a:pt x="318008" y="0"/>
                  </a:lnTo>
                  <a:lnTo>
                    <a:pt x="318008" y="318008"/>
                  </a:lnTo>
                  <a:lnTo>
                    <a:pt x="0" y="318008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5362956" y="9025128"/>
            <a:ext cx="3963924" cy="370332"/>
            <a:chOff x="0" y="0"/>
            <a:chExt cx="5285232" cy="49377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5285232" cy="493776"/>
            </a:xfrm>
            <a:custGeom>
              <a:avLst/>
              <a:gdLst/>
              <a:ahLst/>
              <a:cxnLst/>
              <a:rect r="r" b="b" t="t" l="l"/>
              <a:pathLst>
                <a:path h="493776" w="5285232">
                  <a:moveTo>
                    <a:pt x="0" y="0"/>
                  </a:moveTo>
                  <a:lnTo>
                    <a:pt x="5285232" y="0"/>
                  </a:lnTo>
                  <a:lnTo>
                    <a:pt x="5285232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562" r="0" b="-158562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9525"/>
              <a:ext cx="5285232" cy="503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4738C"/>
                  </a:solidFill>
                  <a:latin typeface="Inter"/>
                  <a:ea typeface="Inter"/>
                  <a:cs typeface="Inter"/>
                  <a:sym typeface="Inter"/>
                </a:rPr>
                <a:t>Сезонный baseline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9848088" y="9025128"/>
            <a:ext cx="7338060" cy="425196"/>
            <a:chOff x="0" y="0"/>
            <a:chExt cx="9784080" cy="566928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9784080" cy="566928"/>
            </a:xfrm>
            <a:custGeom>
              <a:avLst/>
              <a:gdLst/>
              <a:ahLst/>
              <a:cxnLst/>
              <a:rect r="r" b="b" t="t" l="l"/>
              <a:pathLst>
                <a:path h="566928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566928"/>
                  </a:lnTo>
                  <a:lnTo>
                    <a:pt x="0" y="5669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274" r="0" b="-286274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9525"/>
              <a:ext cx="9784080" cy="5764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64738C"/>
                  </a:solidFill>
                  <a:latin typeface="Inter"/>
                  <a:ea typeface="Inter"/>
                  <a:cs typeface="Inter"/>
                  <a:sym typeface="Inter"/>
                </a:rPr>
                <a:t>Чем короче полоса, тем меньше ошибка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0392" y="315468"/>
            <a:ext cx="10972800" cy="370332"/>
            <a:chOff x="0" y="0"/>
            <a:chExt cx="14630400" cy="4937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493776"/>
            </a:xfrm>
            <a:custGeom>
              <a:avLst/>
              <a:gdLst/>
              <a:ahLst/>
              <a:cxnLst/>
              <a:rect r="r" b="b" t="t" l="l"/>
              <a:pathLst>
                <a:path h="49377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7334" r="0" b="-52733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4630400" cy="49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94">
                  <a:solidFill>
                    <a:srgbClr val="64738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UNIFORECAST · ML-ПРОЕКТ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51224" y="315468"/>
            <a:ext cx="795528" cy="452628"/>
            <a:chOff x="0" y="0"/>
            <a:chExt cx="1060704" cy="6035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0704" cy="603504"/>
            </a:xfrm>
            <a:custGeom>
              <a:avLst/>
              <a:gdLst/>
              <a:ahLst/>
              <a:cxnLst/>
              <a:rect r="r" b="b" t="t" l="l"/>
              <a:pathLst>
                <a:path h="603504" w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000" t="0" r="-2300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060704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B9AB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0392" y="891540"/>
            <a:ext cx="16527780" cy="877824"/>
            <a:chOff x="0" y="0"/>
            <a:chExt cx="22037040" cy="11704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037039" cy="1170432"/>
            </a:xfrm>
            <a:custGeom>
              <a:avLst/>
              <a:gdLst/>
              <a:ahLst/>
              <a:cxnLst/>
              <a:rect r="r" b="b" t="t" l="l"/>
              <a:pathLst>
                <a:path h="1170432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6866" r="0" b="-31686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037040" cy="1170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ПРИМЕР ПРОГНОЗА: ИЮЛЬ 2026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40867" y="1896999"/>
            <a:ext cx="773430" cy="108204"/>
            <a:chOff x="0" y="0"/>
            <a:chExt cx="1031240" cy="1442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1240" cy="144272"/>
            </a:xfrm>
            <a:custGeom>
              <a:avLst/>
              <a:gdLst/>
              <a:ahLst/>
              <a:cxnLst/>
              <a:rect r="r" b="b" t="t" l="l"/>
              <a:pathLst>
                <a:path h="144272" w="1031240">
                  <a:moveTo>
                    <a:pt x="0" y="0"/>
                  </a:moveTo>
                  <a:lnTo>
                    <a:pt x="1031240" y="0"/>
                  </a:lnTo>
                  <a:lnTo>
                    <a:pt x="1031240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95247" y="1896999"/>
            <a:ext cx="773430" cy="108204"/>
            <a:chOff x="0" y="0"/>
            <a:chExt cx="1031240" cy="1442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31240" cy="144272"/>
            </a:xfrm>
            <a:custGeom>
              <a:avLst/>
              <a:gdLst/>
              <a:ahLst/>
              <a:cxnLst/>
              <a:rect r="r" b="b" t="t" l="l"/>
              <a:pathLst>
                <a:path h="144272" w="1031240">
                  <a:moveTo>
                    <a:pt x="0" y="0"/>
                  </a:moveTo>
                  <a:lnTo>
                    <a:pt x="1031240" y="0"/>
                  </a:lnTo>
                  <a:lnTo>
                    <a:pt x="1031240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8C14D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349627" y="1896999"/>
            <a:ext cx="457962" cy="108204"/>
            <a:chOff x="0" y="0"/>
            <a:chExt cx="610616" cy="1442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0616" cy="144272"/>
            </a:xfrm>
            <a:custGeom>
              <a:avLst/>
              <a:gdLst/>
              <a:ahLst/>
              <a:cxnLst/>
              <a:rect r="r" b="b" t="t" l="l"/>
              <a:pathLst>
                <a:path h="144272" w="610616">
                  <a:moveTo>
                    <a:pt x="0" y="0"/>
                  </a:moveTo>
                  <a:lnTo>
                    <a:pt x="610616" y="0"/>
                  </a:lnTo>
                  <a:lnTo>
                    <a:pt x="610616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788539" y="1896999"/>
            <a:ext cx="869442" cy="108204"/>
            <a:chOff x="0" y="0"/>
            <a:chExt cx="1159256" cy="1442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59256" cy="144272"/>
            </a:xfrm>
            <a:custGeom>
              <a:avLst/>
              <a:gdLst/>
              <a:ahLst/>
              <a:cxnLst/>
              <a:rect r="r" b="b" t="t" l="l"/>
              <a:pathLst>
                <a:path h="144272" w="1159256">
                  <a:moveTo>
                    <a:pt x="0" y="0"/>
                  </a:moveTo>
                  <a:lnTo>
                    <a:pt x="1159256" y="0"/>
                  </a:lnTo>
                  <a:lnTo>
                    <a:pt x="1159256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B4DAE2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-9525" y="10071735"/>
            <a:ext cx="1843278" cy="224790"/>
            <a:chOff x="0" y="0"/>
            <a:chExt cx="2457704" cy="2997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57704" cy="299720"/>
            </a:xfrm>
            <a:custGeom>
              <a:avLst/>
              <a:gdLst/>
              <a:ahLst/>
              <a:cxnLst/>
              <a:rect r="r" b="b" t="t" l="l"/>
              <a:pathLst>
                <a:path h="299720" w="2457704">
                  <a:moveTo>
                    <a:pt x="0" y="0"/>
                  </a:moveTo>
                  <a:lnTo>
                    <a:pt x="2457704" y="0"/>
                  </a:lnTo>
                  <a:lnTo>
                    <a:pt x="2457704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814703" y="10071735"/>
            <a:ext cx="3036570" cy="224790"/>
            <a:chOff x="0" y="0"/>
            <a:chExt cx="4048760" cy="299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48760" cy="299720"/>
            </a:xfrm>
            <a:custGeom>
              <a:avLst/>
              <a:gdLst/>
              <a:ahLst/>
              <a:cxnLst/>
              <a:rect r="r" b="b" t="t" l="l"/>
              <a:pathLst>
                <a:path h="299720" w="4048760">
                  <a:moveTo>
                    <a:pt x="0" y="0"/>
                  </a:moveTo>
                  <a:lnTo>
                    <a:pt x="4048760" y="0"/>
                  </a:lnTo>
                  <a:lnTo>
                    <a:pt x="404876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8C14D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832223" y="10071735"/>
            <a:ext cx="1843278" cy="224790"/>
            <a:chOff x="0" y="0"/>
            <a:chExt cx="2457704" cy="299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57704" cy="299720"/>
            </a:xfrm>
            <a:custGeom>
              <a:avLst/>
              <a:gdLst/>
              <a:ahLst/>
              <a:cxnLst/>
              <a:rect r="r" b="b" t="t" l="l"/>
              <a:pathLst>
                <a:path h="299720" w="2457704">
                  <a:moveTo>
                    <a:pt x="0" y="0"/>
                  </a:moveTo>
                  <a:lnTo>
                    <a:pt x="2457704" y="0"/>
                  </a:lnTo>
                  <a:lnTo>
                    <a:pt x="2457704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4B5C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656451" y="10071735"/>
            <a:ext cx="3036570" cy="224790"/>
            <a:chOff x="0" y="0"/>
            <a:chExt cx="4048760" cy="2997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48760" cy="299720"/>
            </a:xfrm>
            <a:custGeom>
              <a:avLst/>
              <a:gdLst/>
              <a:ahLst/>
              <a:cxnLst/>
              <a:rect r="r" b="b" t="t" l="l"/>
              <a:pathLst>
                <a:path h="299720" w="4048760">
                  <a:moveTo>
                    <a:pt x="0" y="0"/>
                  </a:moveTo>
                  <a:lnTo>
                    <a:pt x="4048760" y="0"/>
                  </a:lnTo>
                  <a:lnTo>
                    <a:pt x="404876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73971" y="10071735"/>
            <a:ext cx="1843278" cy="224790"/>
            <a:chOff x="0" y="0"/>
            <a:chExt cx="2457704" cy="2997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57704" cy="299720"/>
            </a:xfrm>
            <a:custGeom>
              <a:avLst/>
              <a:gdLst/>
              <a:ahLst/>
              <a:cxnLst/>
              <a:rect r="r" b="b" t="t" l="l"/>
              <a:pathLst>
                <a:path h="299720" w="2457704">
                  <a:moveTo>
                    <a:pt x="0" y="0"/>
                  </a:moveTo>
                  <a:lnTo>
                    <a:pt x="2457704" y="0"/>
                  </a:lnTo>
                  <a:lnTo>
                    <a:pt x="2457704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498199" y="10071735"/>
            <a:ext cx="1802130" cy="224790"/>
            <a:chOff x="0" y="0"/>
            <a:chExt cx="2402840" cy="299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02840" cy="299720"/>
            </a:xfrm>
            <a:custGeom>
              <a:avLst/>
              <a:gdLst/>
              <a:ahLst/>
              <a:cxnLst/>
              <a:rect r="r" b="b" t="t" l="l"/>
              <a:pathLst>
                <a:path h="299720" w="2402840">
                  <a:moveTo>
                    <a:pt x="0" y="0"/>
                  </a:moveTo>
                  <a:lnTo>
                    <a:pt x="2402840" y="0"/>
                  </a:lnTo>
                  <a:lnTo>
                    <a:pt x="240284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281279" y="10071735"/>
            <a:ext cx="1390650" cy="224790"/>
            <a:chOff x="0" y="0"/>
            <a:chExt cx="1854200" cy="299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54200" cy="299720"/>
            </a:xfrm>
            <a:custGeom>
              <a:avLst/>
              <a:gdLst/>
              <a:ahLst/>
              <a:cxnLst/>
              <a:rect r="r" b="b" t="t" l="l"/>
              <a:pathLst>
                <a:path h="299720" w="1854200">
                  <a:moveTo>
                    <a:pt x="0" y="0"/>
                  </a:moveTo>
                  <a:lnTo>
                    <a:pt x="1854200" y="0"/>
                  </a:lnTo>
                  <a:lnTo>
                    <a:pt x="185420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4B5C1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652879" y="10071735"/>
            <a:ext cx="3645560" cy="224790"/>
            <a:chOff x="0" y="0"/>
            <a:chExt cx="4860747" cy="2997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60798" cy="299720"/>
            </a:xfrm>
            <a:custGeom>
              <a:avLst/>
              <a:gdLst/>
              <a:ahLst/>
              <a:cxnLst/>
              <a:rect r="r" b="b" t="t" l="l"/>
              <a:pathLst>
                <a:path h="299720" w="4860798">
                  <a:moveTo>
                    <a:pt x="0" y="0"/>
                  </a:moveTo>
                  <a:lnTo>
                    <a:pt x="4860798" y="0"/>
                  </a:lnTo>
                  <a:lnTo>
                    <a:pt x="4860798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B4DAE2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28700" y="2304288"/>
            <a:ext cx="16047720" cy="548640"/>
            <a:chOff x="0" y="0"/>
            <a:chExt cx="2139696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396961" cy="731520"/>
            </a:xfrm>
            <a:custGeom>
              <a:avLst/>
              <a:gdLst/>
              <a:ahLst/>
              <a:cxnLst/>
              <a:rect r="r" b="b" t="t" l="l"/>
              <a:pathLst>
                <a:path h="73152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9937" r="0" b="-51993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2139696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Приёмная комиссия · тестовый месяц, неизвестный при обучении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92695" y="2954084"/>
            <a:ext cx="12155805" cy="5846445"/>
            <a:chOff x="0" y="0"/>
            <a:chExt cx="16207740" cy="77952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6207739" cy="7795260"/>
            </a:xfrm>
            <a:custGeom>
              <a:avLst/>
              <a:gdLst/>
              <a:ahLst/>
              <a:cxnLst/>
              <a:rect r="r" b="b" t="t" l="l"/>
              <a:pathLst>
                <a:path h="7795260" w="16207739">
                  <a:moveTo>
                    <a:pt x="0" y="293497"/>
                  </a:moveTo>
                  <a:cubicBezTo>
                    <a:pt x="0" y="131445"/>
                    <a:pt x="131445" y="0"/>
                    <a:pt x="293497" y="0"/>
                  </a:cubicBezTo>
                  <a:lnTo>
                    <a:pt x="15914243" y="0"/>
                  </a:lnTo>
                  <a:cubicBezTo>
                    <a:pt x="16076295" y="0"/>
                    <a:pt x="16207739" y="131445"/>
                    <a:pt x="16207739" y="293497"/>
                  </a:cubicBezTo>
                  <a:lnTo>
                    <a:pt x="16207739" y="7501763"/>
                  </a:lnTo>
                  <a:cubicBezTo>
                    <a:pt x="16207739" y="7663815"/>
                    <a:pt x="16076295" y="7795260"/>
                    <a:pt x="15914243" y="7795260"/>
                  </a:cubicBezTo>
                  <a:lnTo>
                    <a:pt x="293497" y="7795260"/>
                  </a:lnTo>
                  <a:cubicBezTo>
                    <a:pt x="131445" y="7795260"/>
                    <a:pt x="0" y="7663815"/>
                    <a:pt x="0" y="7501763"/>
                  </a:cubicBezTo>
                  <a:close/>
                </a:path>
              </a:pathLst>
            </a:custGeom>
            <a:solidFill>
              <a:srgbClr val="FFFFFF"/>
            </a:solidFill>
            <a:ln w="17145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248156" y="3360420"/>
            <a:ext cx="11658600" cy="4677156"/>
            <a:chOff x="0" y="0"/>
            <a:chExt cx="15544800" cy="6236208"/>
          </a:xfrm>
        </p:grpSpPr>
        <p:sp>
          <p:nvSpPr>
            <p:cNvPr name="Freeform 41" id="41" descr="/mnt/data/uf_slide_assets/testplot.png"/>
            <p:cNvSpPr/>
            <p:nvPr/>
          </p:nvSpPr>
          <p:spPr>
            <a:xfrm flipH="false" flipV="false" rot="0">
              <a:off x="0" y="0"/>
              <a:ext cx="15544800" cy="6236208"/>
            </a:xfrm>
            <a:custGeom>
              <a:avLst/>
              <a:gdLst/>
              <a:ahLst/>
              <a:cxnLst/>
              <a:rect r="r" b="b" t="t" l="l"/>
              <a:pathLst>
                <a:path h="6236208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6236208"/>
                  </a:lnTo>
                  <a:lnTo>
                    <a:pt x="0" y="6236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5" r="0" b="-255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487972" y="2967800"/>
            <a:ext cx="3802761" cy="1800225"/>
            <a:chOff x="0" y="0"/>
            <a:chExt cx="5070348" cy="24003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070348" cy="2400300"/>
            </a:xfrm>
            <a:custGeom>
              <a:avLst/>
              <a:gdLst/>
              <a:ahLst/>
              <a:cxnLst/>
              <a:rect r="r" b="b" t="t" l="l"/>
              <a:pathLst>
                <a:path h="2400300" w="5070348">
                  <a:moveTo>
                    <a:pt x="0" y="295402"/>
                  </a:moveTo>
                  <a:cubicBezTo>
                    <a:pt x="0" y="132207"/>
                    <a:pt x="132207" y="0"/>
                    <a:pt x="295402" y="0"/>
                  </a:cubicBezTo>
                  <a:lnTo>
                    <a:pt x="4774946" y="0"/>
                  </a:lnTo>
                  <a:cubicBezTo>
                    <a:pt x="4938141" y="0"/>
                    <a:pt x="5070348" y="132207"/>
                    <a:pt x="5070348" y="295402"/>
                  </a:cubicBezTo>
                  <a:lnTo>
                    <a:pt x="5070348" y="2104898"/>
                  </a:lnTo>
                  <a:cubicBezTo>
                    <a:pt x="5070348" y="2268093"/>
                    <a:pt x="4938141" y="2400300"/>
                    <a:pt x="4774946" y="2400300"/>
                  </a:cubicBezTo>
                  <a:lnTo>
                    <a:pt x="295402" y="2400300"/>
                  </a:lnTo>
                  <a:cubicBezTo>
                    <a:pt x="132207" y="2400300"/>
                    <a:pt x="0" y="2268093"/>
                    <a:pt x="0" y="2104898"/>
                  </a:cubicBezTo>
                  <a:close/>
                </a:path>
              </a:pathLst>
            </a:custGeom>
            <a:solidFill>
              <a:srgbClr val="F6F8FD"/>
            </a:solidFill>
            <a:ln w="17145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812012" y="3223260"/>
            <a:ext cx="3154680" cy="768096"/>
            <a:chOff x="0" y="0"/>
            <a:chExt cx="4206240" cy="102412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2062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27" r="0" b="-3002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420624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16,16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3812012" y="4105275"/>
            <a:ext cx="315468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4738C"/>
                </a:solidFill>
                <a:latin typeface="Inter"/>
                <a:ea typeface="Inter"/>
                <a:cs typeface="Inter"/>
                <a:sym typeface="Inter"/>
              </a:rPr>
              <a:t>факт в день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3487972" y="5066347"/>
            <a:ext cx="3802761" cy="1800225"/>
            <a:chOff x="0" y="0"/>
            <a:chExt cx="5070348" cy="24003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070348" cy="2400300"/>
            </a:xfrm>
            <a:custGeom>
              <a:avLst/>
              <a:gdLst/>
              <a:ahLst/>
              <a:cxnLst/>
              <a:rect r="r" b="b" t="t" l="l"/>
              <a:pathLst>
                <a:path h="2400300" w="5070348">
                  <a:moveTo>
                    <a:pt x="0" y="295402"/>
                  </a:moveTo>
                  <a:cubicBezTo>
                    <a:pt x="0" y="132207"/>
                    <a:pt x="132207" y="0"/>
                    <a:pt x="295402" y="0"/>
                  </a:cubicBezTo>
                  <a:lnTo>
                    <a:pt x="4774946" y="0"/>
                  </a:lnTo>
                  <a:cubicBezTo>
                    <a:pt x="4938141" y="0"/>
                    <a:pt x="5070348" y="132207"/>
                    <a:pt x="5070348" y="295402"/>
                  </a:cubicBezTo>
                  <a:lnTo>
                    <a:pt x="5070348" y="2104898"/>
                  </a:lnTo>
                  <a:cubicBezTo>
                    <a:pt x="5070348" y="2268093"/>
                    <a:pt x="4938141" y="2400300"/>
                    <a:pt x="4774946" y="2400300"/>
                  </a:cubicBezTo>
                  <a:lnTo>
                    <a:pt x="295402" y="2400300"/>
                  </a:lnTo>
                  <a:cubicBezTo>
                    <a:pt x="132207" y="2400300"/>
                    <a:pt x="0" y="2268093"/>
                    <a:pt x="0" y="2104898"/>
                  </a:cubicBezTo>
                  <a:close/>
                </a:path>
              </a:pathLst>
            </a:custGeom>
            <a:solidFill>
              <a:srgbClr val="F2EDFF"/>
            </a:solidFill>
            <a:ln w="17145" cap="sq">
              <a:solidFill>
                <a:srgbClr val="E4E9F2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3812012" y="5321808"/>
            <a:ext cx="3154680" cy="768096"/>
            <a:chOff x="0" y="0"/>
            <a:chExt cx="4206240" cy="102412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2062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27" r="0" b="-3002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420624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16,20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3812012" y="6203823"/>
            <a:ext cx="315468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4738C"/>
                </a:solidFill>
                <a:latin typeface="Inter"/>
                <a:ea typeface="Inter"/>
                <a:cs typeface="Inter"/>
                <a:sym typeface="Inter"/>
              </a:rPr>
              <a:t>прогноз MLP в день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3487019" y="7205091"/>
            <a:ext cx="3790950" cy="1555242"/>
            <a:chOff x="0" y="0"/>
            <a:chExt cx="5054600" cy="207365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054600" cy="2073656"/>
            </a:xfrm>
            <a:custGeom>
              <a:avLst/>
              <a:gdLst/>
              <a:ahLst/>
              <a:cxnLst/>
              <a:rect r="r" b="b" t="t" l="l"/>
              <a:pathLst>
                <a:path h="2073656" w="5054600">
                  <a:moveTo>
                    <a:pt x="0" y="222123"/>
                  </a:moveTo>
                  <a:cubicBezTo>
                    <a:pt x="0" y="99441"/>
                    <a:pt x="99441" y="0"/>
                    <a:pt x="222123" y="0"/>
                  </a:cubicBezTo>
                  <a:lnTo>
                    <a:pt x="4832477" y="0"/>
                  </a:lnTo>
                  <a:cubicBezTo>
                    <a:pt x="4955159" y="0"/>
                    <a:pt x="5054600" y="99441"/>
                    <a:pt x="5054600" y="222123"/>
                  </a:cubicBezTo>
                  <a:lnTo>
                    <a:pt x="5054600" y="1851533"/>
                  </a:lnTo>
                  <a:cubicBezTo>
                    <a:pt x="5054600" y="1974215"/>
                    <a:pt x="4955159" y="2073656"/>
                    <a:pt x="4832477" y="2073656"/>
                  </a:cubicBezTo>
                  <a:lnTo>
                    <a:pt x="222123" y="2073656"/>
                  </a:lnTo>
                  <a:cubicBezTo>
                    <a:pt x="99441" y="2073656"/>
                    <a:pt x="0" y="1974215"/>
                    <a:pt x="0" y="1851533"/>
                  </a:cubicBezTo>
                  <a:close/>
                </a:path>
              </a:pathLst>
            </a:custGeom>
            <a:solidFill>
              <a:srgbClr val="EAF5FF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3770864" y="7379208"/>
            <a:ext cx="3223260" cy="1207008"/>
            <a:chOff x="0" y="0"/>
            <a:chExt cx="4297680" cy="160934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297680" cy="1609344"/>
            </a:xfrm>
            <a:custGeom>
              <a:avLst/>
              <a:gdLst/>
              <a:ahLst/>
              <a:cxnLst/>
              <a:rect r="r" b="b" t="t" l="l"/>
              <a:pathLst>
                <a:path h="1609344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3" r="0" b="-203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4297680" cy="16188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669E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Среднее близко к факту, но отдельные пики сглаживаются.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0392" y="315468"/>
            <a:ext cx="10972800" cy="370332"/>
            <a:chOff x="0" y="0"/>
            <a:chExt cx="14630400" cy="4937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493776"/>
            </a:xfrm>
            <a:custGeom>
              <a:avLst/>
              <a:gdLst/>
              <a:ahLst/>
              <a:cxnLst/>
              <a:rect r="r" b="b" t="t" l="l"/>
              <a:pathLst>
                <a:path h="49377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7334" r="0" b="-52733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4630400" cy="49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94">
                  <a:solidFill>
                    <a:srgbClr val="64738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UNIFORECAST · ML-ПРОЕКТ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51224" y="315468"/>
            <a:ext cx="795528" cy="452628"/>
            <a:chOff x="0" y="0"/>
            <a:chExt cx="1060704" cy="6035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0704" cy="603504"/>
            </a:xfrm>
            <a:custGeom>
              <a:avLst/>
              <a:gdLst/>
              <a:ahLst/>
              <a:cxnLst/>
              <a:rect r="r" b="b" t="t" l="l"/>
              <a:pathLst>
                <a:path h="603504" w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000" t="0" r="-2300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060704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B9AB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0392" y="891540"/>
            <a:ext cx="16527780" cy="877824"/>
            <a:chOff x="0" y="0"/>
            <a:chExt cx="22037040" cy="11704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037039" cy="1170432"/>
            </a:xfrm>
            <a:custGeom>
              <a:avLst/>
              <a:gdLst/>
              <a:ahLst/>
              <a:cxnLst/>
              <a:rect r="r" b="b" t="t" l="l"/>
              <a:pathLst>
                <a:path h="1170432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6866" r="0" b="-31686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037040" cy="1170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РАБОТАЮЩИЙ ПРОТОТИП: АНАЛИТИКА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40867" y="1896999"/>
            <a:ext cx="773430" cy="108204"/>
            <a:chOff x="0" y="0"/>
            <a:chExt cx="1031240" cy="1442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1240" cy="144272"/>
            </a:xfrm>
            <a:custGeom>
              <a:avLst/>
              <a:gdLst/>
              <a:ahLst/>
              <a:cxnLst/>
              <a:rect r="r" b="b" t="t" l="l"/>
              <a:pathLst>
                <a:path h="144272" w="1031240">
                  <a:moveTo>
                    <a:pt x="0" y="0"/>
                  </a:moveTo>
                  <a:lnTo>
                    <a:pt x="1031240" y="0"/>
                  </a:lnTo>
                  <a:lnTo>
                    <a:pt x="1031240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95247" y="1896999"/>
            <a:ext cx="773430" cy="108204"/>
            <a:chOff x="0" y="0"/>
            <a:chExt cx="1031240" cy="1442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31240" cy="144272"/>
            </a:xfrm>
            <a:custGeom>
              <a:avLst/>
              <a:gdLst/>
              <a:ahLst/>
              <a:cxnLst/>
              <a:rect r="r" b="b" t="t" l="l"/>
              <a:pathLst>
                <a:path h="144272" w="1031240">
                  <a:moveTo>
                    <a:pt x="0" y="0"/>
                  </a:moveTo>
                  <a:lnTo>
                    <a:pt x="1031240" y="0"/>
                  </a:lnTo>
                  <a:lnTo>
                    <a:pt x="1031240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8C14D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349627" y="1896999"/>
            <a:ext cx="457962" cy="108204"/>
            <a:chOff x="0" y="0"/>
            <a:chExt cx="610616" cy="1442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0616" cy="144272"/>
            </a:xfrm>
            <a:custGeom>
              <a:avLst/>
              <a:gdLst/>
              <a:ahLst/>
              <a:cxnLst/>
              <a:rect r="r" b="b" t="t" l="l"/>
              <a:pathLst>
                <a:path h="144272" w="610616">
                  <a:moveTo>
                    <a:pt x="0" y="0"/>
                  </a:moveTo>
                  <a:lnTo>
                    <a:pt x="610616" y="0"/>
                  </a:lnTo>
                  <a:lnTo>
                    <a:pt x="610616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788539" y="1896999"/>
            <a:ext cx="869442" cy="108204"/>
            <a:chOff x="0" y="0"/>
            <a:chExt cx="1159256" cy="1442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59256" cy="144272"/>
            </a:xfrm>
            <a:custGeom>
              <a:avLst/>
              <a:gdLst/>
              <a:ahLst/>
              <a:cxnLst/>
              <a:rect r="r" b="b" t="t" l="l"/>
              <a:pathLst>
                <a:path h="144272" w="1159256">
                  <a:moveTo>
                    <a:pt x="0" y="0"/>
                  </a:moveTo>
                  <a:lnTo>
                    <a:pt x="1159256" y="0"/>
                  </a:lnTo>
                  <a:lnTo>
                    <a:pt x="1159256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B4DAE2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-9525" y="10071735"/>
            <a:ext cx="1843278" cy="224790"/>
            <a:chOff x="0" y="0"/>
            <a:chExt cx="2457704" cy="2997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57704" cy="299720"/>
            </a:xfrm>
            <a:custGeom>
              <a:avLst/>
              <a:gdLst/>
              <a:ahLst/>
              <a:cxnLst/>
              <a:rect r="r" b="b" t="t" l="l"/>
              <a:pathLst>
                <a:path h="299720" w="2457704">
                  <a:moveTo>
                    <a:pt x="0" y="0"/>
                  </a:moveTo>
                  <a:lnTo>
                    <a:pt x="2457704" y="0"/>
                  </a:lnTo>
                  <a:lnTo>
                    <a:pt x="2457704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814703" y="10071735"/>
            <a:ext cx="3036570" cy="224790"/>
            <a:chOff x="0" y="0"/>
            <a:chExt cx="4048760" cy="299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48760" cy="299720"/>
            </a:xfrm>
            <a:custGeom>
              <a:avLst/>
              <a:gdLst/>
              <a:ahLst/>
              <a:cxnLst/>
              <a:rect r="r" b="b" t="t" l="l"/>
              <a:pathLst>
                <a:path h="299720" w="4048760">
                  <a:moveTo>
                    <a:pt x="0" y="0"/>
                  </a:moveTo>
                  <a:lnTo>
                    <a:pt x="4048760" y="0"/>
                  </a:lnTo>
                  <a:lnTo>
                    <a:pt x="404876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8C14D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832223" y="10071735"/>
            <a:ext cx="1843278" cy="224790"/>
            <a:chOff x="0" y="0"/>
            <a:chExt cx="2457704" cy="299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57704" cy="299720"/>
            </a:xfrm>
            <a:custGeom>
              <a:avLst/>
              <a:gdLst/>
              <a:ahLst/>
              <a:cxnLst/>
              <a:rect r="r" b="b" t="t" l="l"/>
              <a:pathLst>
                <a:path h="299720" w="2457704">
                  <a:moveTo>
                    <a:pt x="0" y="0"/>
                  </a:moveTo>
                  <a:lnTo>
                    <a:pt x="2457704" y="0"/>
                  </a:lnTo>
                  <a:lnTo>
                    <a:pt x="2457704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4B5C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656451" y="10071735"/>
            <a:ext cx="3036570" cy="224790"/>
            <a:chOff x="0" y="0"/>
            <a:chExt cx="4048760" cy="2997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48760" cy="299720"/>
            </a:xfrm>
            <a:custGeom>
              <a:avLst/>
              <a:gdLst/>
              <a:ahLst/>
              <a:cxnLst/>
              <a:rect r="r" b="b" t="t" l="l"/>
              <a:pathLst>
                <a:path h="299720" w="4048760">
                  <a:moveTo>
                    <a:pt x="0" y="0"/>
                  </a:moveTo>
                  <a:lnTo>
                    <a:pt x="4048760" y="0"/>
                  </a:lnTo>
                  <a:lnTo>
                    <a:pt x="404876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73971" y="10071735"/>
            <a:ext cx="1843278" cy="224790"/>
            <a:chOff x="0" y="0"/>
            <a:chExt cx="2457704" cy="2997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57704" cy="299720"/>
            </a:xfrm>
            <a:custGeom>
              <a:avLst/>
              <a:gdLst/>
              <a:ahLst/>
              <a:cxnLst/>
              <a:rect r="r" b="b" t="t" l="l"/>
              <a:pathLst>
                <a:path h="299720" w="2457704">
                  <a:moveTo>
                    <a:pt x="0" y="0"/>
                  </a:moveTo>
                  <a:lnTo>
                    <a:pt x="2457704" y="0"/>
                  </a:lnTo>
                  <a:lnTo>
                    <a:pt x="2457704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498199" y="10071735"/>
            <a:ext cx="1802130" cy="224790"/>
            <a:chOff x="0" y="0"/>
            <a:chExt cx="2402840" cy="299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02840" cy="299720"/>
            </a:xfrm>
            <a:custGeom>
              <a:avLst/>
              <a:gdLst/>
              <a:ahLst/>
              <a:cxnLst/>
              <a:rect r="r" b="b" t="t" l="l"/>
              <a:pathLst>
                <a:path h="299720" w="2402840">
                  <a:moveTo>
                    <a:pt x="0" y="0"/>
                  </a:moveTo>
                  <a:lnTo>
                    <a:pt x="2402840" y="0"/>
                  </a:lnTo>
                  <a:lnTo>
                    <a:pt x="240284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281279" y="10071735"/>
            <a:ext cx="1390650" cy="224790"/>
            <a:chOff x="0" y="0"/>
            <a:chExt cx="1854200" cy="299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54200" cy="299720"/>
            </a:xfrm>
            <a:custGeom>
              <a:avLst/>
              <a:gdLst/>
              <a:ahLst/>
              <a:cxnLst/>
              <a:rect r="r" b="b" t="t" l="l"/>
              <a:pathLst>
                <a:path h="299720" w="1854200">
                  <a:moveTo>
                    <a:pt x="0" y="0"/>
                  </a:moveTo>
                  <a:lnTo>
                    <a:pt x="1854200" y="0"/>
                  </a:lnTo>
                  <a:lnTo>
                    <a:pt x="185420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4B5C1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652879" y="10071735"/>
            <a:ext cx="3645560" cy="224790"/>
            <a:chOff x="0" y="0"/>
            <a:chExt cx="4860747" cy="2997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60798" cy="299720"/>
            </a:xfrm>
            <a:custGeom>
              <a:avLst/>
              <a:gdLst/>
              <a:ahLst/>
              <a:cxnLst/>
              <a:rect r="r" b="b" t="t" l="l"/>
              <a:pathLst>
                <a:path h="299720" w="4860798">
                  <a:moveTo>
                    <a:pt x="0" y="0"/>
                  </a:moveTo>
                  <a:lnTo>
                    <a:pt x="4860798" y="0"/>
                  </a:lnTo>
                  <a:lnTo>
                    <a:pt x="4860798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B4DAE2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01268" y="2482596"/>
            <a:ext cx="11494008" cy="7050024"/>
            <a:chOff x="0" y="0"/>
            <a:chExt cx="15325344" cy="9400032"/>
          </a:xfrm>
        </p:grpSpPr>
        <p:sp>
          <p:nvSpPr>
            <p:cNvPr name="Freeform 36" id="36" descr="/mnt/data/uf_slide_assets/site_dashboard.png"/>
            <p:cNvSpPr/>
            <p:nvPr/>
          </p:nvSpPr>
          <p:spPr>
            <a:xfrm flipH="false" flipV="false" rot="0">
              <a:off x="0" y="0"/>
              <a:ext cx="15325344" cy="9400032"/>
            </a:xfrm>
            <a:custGeom>
              <a:avLst/>
              <a:gdLst/>
              <a:ahLst/>
              <a:cxnLst/>
              <a:rect r="r" b="b" t="t" l="l"/>
              <a:pathLst>
                <a:path h="9400032" w="15325344">
                  <a:moveTo>
                    <a:pt x="0" y="0"/>
                  </a:moveTo>
                  <a:lnTo>
                    <a:pt x="15325344" y="0"/>
                  </a:lnTo>
                  <a:lnTo>
                    <a:pt x="15325344" y="9400032"/>
                  </a:lnTo>
                  <a:lnTo>
                    <a:pt x="0" y="9400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254" r="0" b="-5254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934188" y="2619756"/>
            <a:ext cx="4416552" cy="768096"/>
            <a:chOff x="0" y="0"/>
            <a:chExt cx="5888736" cy="102412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8887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5888736">
                  <a:moveTo>
                    <a:pt x="0" y="0"/>
                  </a:moveTo>
                  <a:lnTo>
                    <a:pt x="5888736" y="0"/>
                  </a:lnTo>
                  <a:lnTo>
                    <a:pt x="588873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038" r="0" b="-6203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5888736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Веб-панель UniForecast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993243" y="4036695"/>
            <a:ext cx="163068" cy="163068"/>
            <a:chOff x="0" y="0"/>
            <a:chExt cx="217424" cy="21742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7424" cy="217424"/>
            </a:xfrm>
            <a:custGeom>
              <a:avLst/>
              <a:gdLst/>
              <a:ahLst/>
              <a:cxnLst/>
              <a:rect r="r" b="b" t="t" l="l"/>
              <a:pathLst>
                <a:path h="217424" w="217424">
                  <a:moveTo>
                    <a:pt x="0" y="103505"/>
                  </a:moveTo>
                  <a:cubicBezTo>
                    <a:pt x="0" y="46355"/>
                    <a:pt x="46355" y="0"/>
                    <a:pt x="103505" y="0"/>
                  </a:cubicBezTo>
                  <a:lnTo>
                    <a:pt x="113919" y="0"/>
                  </a:lnTo>
                  <a:cubicBezTo>
                    <a:pt x="171069" y="0"/>
                    <a:pt x="217424" y="46355"/>
                    <a:pt x="217424" y="103505"/>
                  </a:cubicBezTo>
                  <a:lnTo>
                    <a:pt x="217424" y="113919"/>
                  </a:lnTo>
                  <a:cubicBezTo>
                    <a:pt x="217424" y="171069"/>
                    <a:pt x="171069" y="217424"/>
                    <a:pt x="113919" y="217424"/>
                  </a:cubicBezTo>
                  <a:lnTo>
                    <a:pt x="103505" y="217424"/>
                  </a:lnTo>
                  <a:cubicBezTo>
                    <a:pt x="46355" y="217424"/>
                    <a:pt x="0" y="171069"/>
                    <a:pt x="0" y="113919"/>
                  </a:cubicBezTo>
                  <a:close/>
                </a:path>
              </a:pathLst>
            </a:custGeom>
            <a:solidFill>
              <a:srgbClr val="8C14DB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3359384" y="3881628"/>
            <a:ext cx="3785616" cy="932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9243A"/>
                </a:solidFill>
                <a:latin typeface="Inter"/>
                <a:ea typeface="Inter"/>
                <a:cs typeface="Inter"/>
                <a:sym typeface="Inter"/>
              </a:rPr>
              <a:t>Переключение между пятью подразделениями.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2993243" y="5545455"/>
            <a:ext cx="163068" cy="163068"/>
            <a:chOff x="0" y="0"/>
            <a:chExt cx="217424" cy="21742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7424" cy="217424"/>
            </a:xfrm>
            <a:custGeom>
              <a:avLst/>
              <a:gdLst/>
              <a:ahLst/>
              <a:cxnLst/>
              <a:rect r="r" b="b" t="t" l="l"/>
              <a:pathLst>
                <a:path h="217424" w="217424">
                  <a:moveTo>
                    <a:pt x="0" y="103505"/>
                  </a:moveTo>
                  <a:cubicBezTo>
                    <a:pt x="0" y="46355"/>
                    <a:pt x="46355" y="0"/>
                    <a:pt x="103505" y="0"/>
                  </a:cubicBezTo>
                  <a:lnTo>
                    <a:pt x="113919" y="0"/>
                  </a:lnTo>
                  <a:cubicBezTo>
                    <a:pt x="171069" y="0"/>
                    <a:pt x="217424" y="46355"/>
                    <a:pt x="217424" y="103505"/>
                  </a:cubicBezTo>
                  <a:lnTo>
                    <a:pt x="217424" y="113919"/>
                  </a:lnTo>
                  <a:cubicBezTo>
                    <a:pt x="217424" y="171069"/>
                    <a:pt x="171069" y="217424"/>
                    <a:pt x="113919" y="217424"/>
                  </a:cubicBezTo>
                  <a:lnTo>
                    <a:pt x="103505" y="217424"/>
                  </a:lnTo>
                  <a:cubicBezTo>
                    <a:pt x="46355" y="217424"/>
                    <a:pt x="0" y="171069"/>
                    <a:pt x="0" y="113919"/>
                  </a:cubicBezTo>
                  <a:close/>
                </a:path>
              </a:pathLst>
            </a:custGeom>
            <a:solidFill>
              <a:srgbClr val="8C14DB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3359384" y="5390388"/>
            <a:ext cx="3785616" cy="932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9243A"/>
                </a:solidFill>
                <a:latin typeface="Inter"/>
                <a:ea typeface="Inter"/>
                <a:cs typeface="Inter"/>
                <a:sym typeface="Inter"/>
              </a:rPr>
              <a:t>История обращений за последние 365 дней.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2993243" y="7054215"/>
            <a:ext cx="163068" cy="163068"/>
            <a:chOff x="0" y="0"/>
            <a:chExt cx="217424" cy="21742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7424" cy="217424"/>
            </a:xfrm>
            <a:custGeom>
              <a:avLst/>
              <a:gdLst/>
              <a:ahLst/>
              <a:cxnLst/>
              <a:rect r="r" b="b" t="t" l="l"/>
              <a:pathLst>
                <a:path h="217424" w="217424">
                  <a:moveTo>
                    <a:pt x="0" y="103505"/>
                  </a:moveTo>
                  <a:cubicBezTo>
                    <a:pt x="0" y="46355"/>
                    <a:pt x="46355" y="0"/>
                    <a:pt x="103505" y="0"/>
                  </a:cubicBezTo>
                  <a:lnTo>
                    <a:pt x="113919" y="0"/>
                  </a:lnTo>
                  <a:cubicBezTo>
                    <a:pt x="171069" y="0"/>
                    <a:pt x="217424" y="46355"/>
                    <a:pt x="217424" y="103505"/>
                  </a:cubicBezTo>
                  <a:lnTo>
                    <a:pt x="217424" y="113919"/>
                  </a:lnTo>
                  <a:cubicBezTo>
                    <a:pt x="217424" y="171069"/>
                    <a:pt x="171069" y="217424"/>
                    <a:pt x="113919" y="217424"/>
                  </a:cubicBezTo>
                  <a:lnTo>
                    <a:pt x="103505" y="217424"/>
                  </a:lnTo>
                  <a:cubicBezTo>
                    <a:pt x="46355" y="217424"/>
                    <a:pt x="0" y="171069"/>
                    <a:pt x="0" y="113919"/>
                  </a:cubicBezTo>
                  <a:close/>
                </a:path>
              </a:pathLst>
            </a:custGeom>
            <a:solidFill>
              <a:srgbClr val="8C14DB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13359384" y="6899148"/>
            <a:ext cx="3785616" cy="932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9243A"/>
                </a:solidFill>
                <a:latin typeface="Inter"/>
                <a:ea typeface="Inter"/>
                <a:cs typeface="Inter"/>
                <a:sym typeface="Inter"/>
              </a:rPr>
              <a:t>Ежедневные значения и скользящее среднее за 7 дней.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2965811" y="8562975"/>
            <a:ext cx="4216146" cy="910590"/>
            <a:chOff x="0" y="0"/>
            <a:chExt cx="5621528" cy="12141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621528" cy="1214120"/>
            </a:xfrm>
            <a:custGeom>
              <a:avLst/>
              <a:gdLst/>
              <a:ahLst/>
              <a:cxnLst/>
              <a:rect r="r" b="b" t="t" l="l"/>
              <a:pathLst>
                <a:path h="1214120" w="5621528">
                  <a:moveTo>
                    <a:pt x="0" y="224155"/>
                  </a:moveTo>
                  <a:cubicBezTo>
                    <a:pt x="0" y="100330"/>
                    <a:pt x="100330" y="0"/>
                    <a:pt x="224155" y="0"/>
                  </a:cubicBezTo>
                  <a:lnTo>
                    <a:pt x="5397373" y="0"/>
                  </a:lnTo>
                  <a:cubicBezTo>
                    <a:pt x="5521198" y="0"/>
                    <a:pt x="5621528" y="100330"/>
                    <a:pt x="5621528" y="224155"/>
                  </a:cubicBezTo>
                  <a:lnTo>
                    <a:pt x="5621528" y="989965"/>
                  </a:lnTo>
                  <a:cubicBezTo>
                    <a:pt x="5621528" y="1113790"/>
                    <a:pt x="5521198" y="1214120"/>
                    <a:pt x="5397373" y="1214120"/>
                  </a:cubicBezTo>
                  <a:lnTo>
                    <a:pt x="224155" y="1214120"/>
                  </a:lnTo>
                  <a:cubicBezTo>
                    <a:pt x="100330" y="1214120"/>
                    <a:pt x="0" y="1113790"/>
                    <a:pt x="0" y="989965"/>
                  </a:cubicBezTo>
                  <a:close/>
                </a:path>
              </a:pathLst>
            </a:custGeom>
            <a:solidFill>
              <a:srgbClr val="F5EAFF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3249656" y="8737092"/>
            <a:ext cx="3648456" cy="562356"/>
            <a:chOff x="0" y="0"/>
            <a:chExt cx="4864608" cy="74980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864608" cy="749808"/>
            </a:xfrm>
            <a:custGeom>
              <a:avLst/>
              <a:gdLst/>
              <a:ahLst/>
              <a:cxnLst/>
              <a:rect r="r" b="b" t="t" l="l"/>
              <a:pathLst>
                <a:path h="749808" w="4864608">
                  <a:moveTo>
                    <a:pt x="0" y="0"/>
                  </a:moveTo>
                  <a:lnTo>
                    <a:pt x="4864608" y="0"/>
                  </a:lnTo>
                  <a:lnTo>
                    <a:pt x="4864608" y="749808"/>
                  </a:lnTo>
                  <a:lnTo>
                    <a:pt x="0" y="749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415" r="0" b="-7641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4864608" cy="7498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Готовый интерфейс запускается локально через FastAPI.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0392" y="315468"/>
            <a:ext cx="10972800" cy="370332"/>
            <a:chOff x="0" y="0"/>
            <a:chExt cx="14630400" cy="4937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493776"/>
            </a:xfrm>
            <a:custGeom>
              <a:avLst/>
              <a:gdLst/>
              <a:ahLst/>
              <a:cxnLst/>
              <a:rect r="r" b="b" t="t" l="l"/>
              <a:pathLst>
                <a:path h="49377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7334" r="0" b="-52733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4630400" cy="49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94">
                  <a:solidFill>
                    <a:srgbClr val="64738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UNIFORECAST · ML-ПРОЕКТ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51224" y="315468"/>
            <a:ext cx="795528" cy="452628"/>
            <a:chOff x="0" y="0"/>
            <a:chExt cx="1060704" cy="6035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0704" cy="603504"/>
            </a:xfrm>
            <a:custGeom>
              <a:avLst/>
              <a:gdLst/>
              <a:ahLst/>
              <a:cxnLst/>
              <a:rect r="r" b="b" t="t" l="l"/>
              <a:pathLst>
                <a:path h="603504" w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000" t="0" r="-2300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060704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B9AB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13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0392" y="891540"/>
            <a:ext cx="16527780" cy="877824"/>
            <a:chOff x="0" y="0"/>
            <a:chExt cx="22037040" cy="11704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037039" cy="1170432"/>
            </a:xfrm>
            <a:custGeom>
              <a:avLst/>
              <a:gdLst/>
              <a:ahLst/>
              <a:cxnLst/>
              <a:rect r="r" b="b" t="t" l="l"/>
              <a:pathLst>
                <a:path h="1170432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6866" r="0" b="-31686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037040" cy="1170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РАБОТАЮЩИЙ ПРОТОТИП: ПРОГНОЗ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40867" y="1896999"/>
            <a:ext cx="773430" cy="108204"/>
            <a:chOff x="0" y="0"/>
            <a:chExt cx="1031240" cy="1442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1240" cy="144272"/>
            </a:xfrm>
            <a:custGeom>
              <a:avLst/>
              <a:gdLst/>
              <a:ahLst/>
              <a:cxnLst/>
              <a:rect r="r" b="b" t="t" l="l"/>
              <a:pathLst>
                <a:path h="144272" w="1031240">
                  <a:moveTo>
                    <a:pt x="0" y="0"/>
                  </a:moveTo>
                  <a:lnTo>
                    <a:pt x="1031240" y="0"/>
                  </a:lnTo>
                  <a:lnTo>
                    <a:pt x="1031240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95247" y="1896999"/>
            <a:ext cx="773430" cy="108204"/>
            <a:chOff x="0" y="0"/>
            <a:chExt cx="1031240" cy="1442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31240" cy="144272"/>
            </a:xfrm>
            <a:custGeom>
              <a:avLst/>
              <a:gdLst/>
              <a:ahLst/>
              <a:cxnLst/>
              <a:rect r="r" b="b" t="t" l="l"/>
              <a:pathLst>
                <a:path h="144272" w="1031240">
                  <a:moveTo>
                    <a:pt x="0" y="0"/>
                  </a:moveTo>
                  <a:lnTo>
                    <a:pt x="1031240" y="0"/>
                  </a:lnTo>
                  <a:lnTo>
                    <a:pt x="1031240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8C14D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349627" y="1896999"/>
            <a:ext cx="457962" cy="108204"/>
            <a:chOff x="0" y="0"/>
            <a:chExt cx="610616" cy="1442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0616" cy="144272"/>
            </a:xfrm>
            <a:custGeom>
              <a:avLst/>
              <a:gdLst/>
              <a:ahLst/>
              <a:cxnLst/>
              <a:rect r="r" b="b" t="t" l="l"/>
              <a:pathLst>
                <a:path h="144272" w="610616">
                  <a:moveTo>
                    <a:pt x="0" y="0"/>
                  </a:moveTo>
                  <a:lnTo>
                    <a:pt x="610616" y="0"/>
                  </a:lnTo>
                  <a:lnTo>
                    <a:pt x="610616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788539" y="1896999"/>
            <a:ext cx="869442" cy="108204"/>
            <a:chOff x="0" y="0"/>
            <a:chExt cx="1159256" cy="1442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59256" cy="144272"/>
            </a:xfrm>
            <a:custGeom>
              <a:avLst/>
              <a:gdLst/>
              <a:ahLst/>
              <a:cxnLst/>
              <a:rect r="r" b="b" t="t" l="l"/>
              <a:pathLst>
                <a:path h="144272" w="1159256">
                  <a:moveTo>
                    <a:pt x="0" y="0"/>
                  </a:moveTo>
                  <a:lnTo>
                    <a:pt x="1159256" y="0"/>
                  </a:lnTo>
                  <a:lnTo>
                    <a:pt x="1159256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B4DAE2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-9525" y="10071735"/>
            <a:ext cx="1843278" cy="224790"/>
            <a:chOff x="0" y="0"/>
            <a:chExt cx="2457704" cy="2997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57704" cy="299720"/>
            </a:xfrm>
            <a:custGeom>
              <a:avLst/>
              <a:gdLst/>
              <a:ahLst/>
              <a:cxnLst/>
              <a:rect r="r" b="b" t="t" l="l"/>
              <a:pathLst>
                <a:path h="299720" w="2457704">
                  <a:moveTo>
                    <a:pt x="0" y="0"/>
                  </a:moveTo>
                  <a:lnTo>
                    <a:pt x="2457704" y="0"/>
                  </a:lnTo>
                  <a:lnTo>
                    <a:pt x="2457704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814703" y="10071735"/>
            <a:ext cx="3036570" cy="224790"/>
            <a:chOff x="0" y="0"/>
            <a:chExt cx="4048760" cy="299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48760" cy="299720"/>
            </a:xfrm>
            <a:custGeom>
              <a:avLst/>
              <a:gdLst/>
              <a:ahLst/>
              <a:cxnLst/>
              <a:rect r="r" b="b" t="t" l="l"/>
              <a:pathLst>
                <a:path h="299720" w="4048760">
                  <a:moveTo>
                    <a:pt x="0" y="0"/>
                  </a:moveTo>
                  <a:lnTo>
                    <a:pt x="4048760" y="0"/>
                  </a:lnTo>
                  <a:lnTo>
                    <a:pt x="404876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8C14D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832223" y="10071735"/>
            <a:ext cx="1843278" cy="224790"/>
            <a:chOff x="0" y="0"/>
            <a:chExt cx="2457704" cy="299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57704" cy="299720"/>
            </a:xfrm>
            <a:custGeom>
              <a:avLst/>
              <a:gdLst/>
              <a:ahLst/>
              <a:cxnLst/>
              <a:rect r="r" b="b" t="t" l="l"/>
              <a:pathLst>
                <a:path h="299720" w="2457704">
                  <a:moveTo>
                    <a:pt x="0" y="0"/>
                  </a:moveTo>
                  <a:lnTo>
                    <a:pt x="2457704" y="0"/>
                  </a:lnTo>
                  <a:lnTo>
                    <a:pt x="2457704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4B5C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656451" y="10071735"/>
            <a:ext cx="3036570" cy="224790"/>
            <a:chOff x="0" y="0"/>
            <a:chExt cx="4048760" cy="2997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48760" cy="299720"/>
            </a:xfrm>
            <a:custGeom>
              <a:avLst/>
              <a:gdLst/>
              <a:ahLst/>
              <a:cxnLst/>
              <a:rect r="r" b="b" t="t" l="l"/>
              <a:pathLst>
                <a:path h="299720" w="4048760">
                  <a:moveTo>
                    <a:pt x="0" y="0"/>
                  </a:moveTo>
                  <a:lnTo>
                    <a:pt x="4048760" y="0"/>
                  </a:lnTo>
                  <a:lnTo>
                    <a:pt x="404876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73971" y="10071735"/>
            <a:ext cx="1843278" cy="224790"/>
            <a:chOff x="0" y="0"/>
            <a:chExt cx="2457704" cy="2997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57704" cy="299720"/>
            </a:xfrm>
            <a:custGeom>
              <a:avLst/>
              <a:gdLst/>
              <a:ahLst/>
              <a:cxnLst/>
              <a:rect r="r" b="b" t="t" l="l"/>
              <a:pathLst>
                <a:path h="299720" w="2457704">
                  <a:moveTo>
                    <a:pt x="0" y="0"/>
                  </a:moveTo>
                  <a:lnTo>
                    <a:pt x="2457704" y="0"/>
                  </a:lnTo>
                  <a:lnTo>
                    <a:pt x="2457704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498199" y="10071735"/>
            <a:ext cx="1802130" cy="224790"/>
            <a:chOff x="0" y="0"/>
            <a:chExt cx="2402840" cy="299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02840" cy="299720"/>
            </a:xfrm>
            <a:custGeom>
              <a:avLst/>
              <a:gdLst/>
              <a:ahLst/>
              <a:cxnLst/>
              <a:rect r="r" b="b" t="t" l="l"/>
              <a:pathLst>
                <a:path h="299720" w="2402840">
                  <a:moveTo>
                    <a:pt x="0" y="0"/>
                  </a:moveTo>
                  <a:lnTo>
                    <a:pt x="2402840" y="0"/>
                  </a:lnTo>
                  <a:lnTo>
                    <a:pt x="240284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281279" y="10071735"/>
            <a:ext cx="1390650" cy="224790"/>
            <a:chOff x="0" y="0"/>
            <a:chExt cx="1854200" cy="299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54200" cy="299720"/>
            </a:xfrm>
            <a:custGeom>
              <a:avLst/>
              <a:gdLst/>
              <a:ahLst/>
              <a:cxnLst/>
              <a:rect r="r" b="b" t="t" l="l"/>
              <a:pathLst>
                <a:path h="299720" w="1854200">
                  <a:moveTo>
                    <a:pt x="0" y="0"/>
                  </a:moveTo>
                  <a:lnTo>
                    <a:pt x="1854200" y="0"/>
                  </a:lnTo>
                  <a:lnTo>
                    <a:pt x="185420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4B5C1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652879" y="10071735"/>
            <a:ext cx="3645560" cy="224790"/>
            <a:chOff x="0" y="0"/>
            <a:chExt cx="4860747" cy="2997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60798" cy="299720"/>
            </a:xfrm>
            <a:custGeom>
              <a:avLst/>
              <a:gdLst/>
              <a:ahLst/>
              <a:cxnLst/>
              <a:rect r="r" b="b" t="t" l="l"/>
              <a:pathLst>
                <a:path h="299720" w="4860798">
                  <a:moveTo>
                    <a:pt x="0" y="0"/>
                  </a:moveTo>
                  <a:lnTo>
                    <a:pt x="4860798" y="0"/>
                  </a:lnTo>
                  <a:lnTo>
                    <a:pt x="4860798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B4DAE2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01268" y="2482596"/>
            <a:ext cx="10492740" cy="7091172"/>
            <a:chOff x="0" y="0"/>
            <a:chExt cx="13990320" cy="9454896"/>
          </a:xfrm>
        </p:grpSpPr>
        <p:sp>
          <p:nvSpPr>
            <p:cNvPr name="Freeform 36" id="36" descr="/mnt/data/uf_slide_assets/site_forecast.png"/>
            <p:cNvSpPr/>
            <p:nvPr/>
          </p:nvSpPr>
          <p:spPr>
            <a:xfrm flipH="false" flipV="false" rot="0">
              <a:off x="0" y="0"/>
              <a:ext cx="13990320" cy="9454896"/>
            </a:xfrm>
            <a:custGeom>
              <a:avLst/>
              <a:gdLst/>
              <a:ahLst/>
              <a:cxnLst/>
              <a:rect r="r" b="b" t="t" l="l"/>
              <a:pathLst>
                <a:path h="9454896" w="13990320">
                  <a:moveTo>
                    <a:pt x="0" y="0"/>
                  </a:moveTo>
                  <a:lnTo>
                    <a:pt x="13990320" y="0"/>
                  </a:lnTo>
                  <a:lnTo>
                    <a:pt x="13990320" y="9454896"/>
                  </a:lnTo>
                  <a:lnTo>
                    <a:pt x="0" y="9454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002" r="0" b="-1002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028932" y="2647188"/>
            <a:ext cx="5294376" cy="699516"/>
            <a:chOff x="0" y="0"/>
            <a:chExt cx="7059168" cy="9326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059168" cy="932688"/>
            </a:xfrm>
            <a:custGeom>
              <a:avLst/>
              <a:gdLst/>
              <a:ahLst/>
              <a:cxnLst/>
              <a:rect r="r" b="b" t="t" l="l"/>
              <a:pathLst>
                <a:path h="932688" w="7059168">
                  <a:moveTo>
                    <a:pt x="0" y="0"/>
                  </a:moveTo>
                  <a:lnTo>
                    <a:pt x="7059168" y="0"/>
                  </a:lnTo>
                  <a:lnTo>
                    <a:pt x="7059168" y="932688"/>
                  </a:lnTo>
                  <a:lnTo>
                    <a:pt x="0" y="9326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474" r="0" b="-9747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7059168" cy="9422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Выбираем любой период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033123" y="3748659"/>
            <a:ext cx="5148834" cy="1184910"/>
            <a:chOff x="0" y="0"/>
            <a:chExt cx="6865112" cy="15798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865112" cy="1579753"/>
            </a:xfrm>
            <a:custGeom>
              <a:avLst/>
              <a:gdLst/>
              <a:ahLst/>
              <a:cxnLst/>
              <a:rect r="r" b="b" t="t" l="l"/>
              <a:pathLst>
                <a:path h="1579753" w="6865112">
                  <a:moveTo>
                    <a:pt x="0" y="223012"/>
                  </a:moveTo>
                  <a:cubicBezTo>
                    <a:pt x="0" y="99822"/>
                    <a:pt x="99822" y="0"/>
                    <a:pt x="223012" y="0"/>
                  </a:cubicBezTo>
                  <a:lnTo>
                    <a:pt x="6642100" y="0"/>
                  </a:lnTo>
                  <a:cubicBezTo>
                    <a:pt x="6765290" y="0"/>
                    <a:pt x="6865112" y="99822"/>
                    <a:pt x="6865112" y="223012"/>
                  </a:cubicBezTo>
                  <a:lnTo>
                    <a:pt x="6865112" y="1356741"/>
                  </a:lnTo>
                  <a:cubicBezTo>
                    <a:pt x="6865112" y="1479931"/>
                    <a:pt x="6765290" y="1579753"/>
                    <a:pt x="6642100" y="1579753"/>
                  </a:cubicBezTo>
                  <a:lnTo>
                    <a:pt x="223012" y="1579753"/>
                  </a:lnTo>
                  <a:cubicBezTo>
                    <a:pt x="99822" y="1579880"/>
                    <a:pt x="0" y="1480058"/>
                    <a:pt x="0" y="1356868"/>
                  </a:cubicBezTo>
                  <a:close/>
                </a:path>
              </a:pathLst>
            </a:custGeom>
            <a:solidFill>
              <a:srgbClr val="F4ED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358116" y="3922776"/>
            <a:ext cx="1783080" cy="384048"/>
            <a:chOff x="0" y="0"/>
            <a:chExt cx="2377440" cy="51206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377440" cy="512064"/>
            </a:xfrm>
            <a:custGeom>
              <a:avLst/>
              <a:gdLst/>
              <a:ahLst/>
              <a:cxnLst/>
              <a:rect r="r" b="b" t="t" l="l"/>
              <a:pathLst>
                <a:path h="512064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23774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День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358116" y="4375404"/>
            <a:ext cx="4402836" cy="301752"/>
            <a:chOff x="0" y="0"/>
            <a:chExt cx="5870448" cy="40233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870448" cy="402336"/>
            </a:xfrm>
            <a:custGeom>
              <a:avLst/>
              <a:gdLst/>
              <a:ahLst/>
              <a:cxnLst/>
              <a:rect r="r" b="b" t="t" l="l"/>
              <a:pathLst>
                <a:path h="402336" w="5870448">
                  <a:moveTo>
                    <a:pt x="0" y="0"/>
                  </a:moveTo>
                  <a:lnTo>
                    <a:pt x="5870448" y="0"/>
                  </a:lnTo>
                  <a:lnTo>
                    <a:pt x="5870448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4304" r="0" b="-23430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5870448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4738C"/>
                  </a:solidFill>
                  <a:latin typeface="Inter"/>
                  <a:ea typeface="Inter"/>
                  <a:cs typeface="Inter"/>
                  <a:sym typeface="Inter"/>
                </a:rPr>
                <a:t>одна дата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033123" y="5188839"/>
            <a:ext cx="5148834" cy="1184910"/>
            <a:chOff x="0" y="0"/>
            <a:chExt cx="6865112" cy="15798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865112" cy="1579753"/>
            </a:xfrm>
            <a:custGeom>
              <a:avLst/>
              <a:gdLst/>
              <a:ahLst/>
              <a:cxnLst/>
              <a:rect r="r" b="b" t="t" l="l"/>
              <a:pathLst>
                <a:path h="1579753" w="6865112">
                  <a:moveTo>
                    <a:pt x="0" y="223012"/>
                  </a:moveTo>
                  <a:cubicBezTo>
                    <a:pt x="0" y="99822"/>
                    <a:pt x="99822" y="0"/>
                    <a:pt x="223012" y="0"/>
                  </a:cubicBezTo>
                  <a:lnTo>
                    <a:pt x="6642100" y="0"/>
                  </a:lnTo>
                  <a:cubicBezTo>
                    <a:pt x="6765290" y="0"/>
                    <a:pt x="6865112" y="99822"/>
                    <a:pt x="6865112" y="223012"/>
                  </a:cubicBezTo>
                  <a:lnTo>
                    <a:pt x="6865112" y="1356741"/>
                  </a:lnTo>
                  <a:cubicBezTo>
                    <a:pt x="6865112" y="1479931"/>
                    <a:pt x="6765290" y="1579753"/>
                    <a:pt x="6642100" y="1579753"/>
                  </a:cubicBezTo>
                  <a:lnTo>
                    <a:pt x="223012" y="1579753"/>
                  </a:lnTo>
                  <a:cubicBezTo>
                    <a:pt x="99822" y="1579880"/>
                    <a:pt x="0" y="1480058"/>
                    <a:pt x="0" y="1356868"/>
                  </a:cubicBezTo>
                  <a:close/>
                </a:path>
              </a:pathLst>
            </a:custGeom>
            <a:solidFill>
              <a:srgbClr val="EAF1FF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358116" y="5362956"/>
            <a:ext cx="1783080" cy="384048"/>
            <a:chOff x="0" y="0"/>
            <a:chExt cx="2377440" cy="51206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377440" cy="512064"/>
            </a:xfrm>
            <a:custGeom>
              <a:avLst/>
              <a:gdLst/>
              <a:ahLst/>
              <a:cxnLst/>
              <a:rect r="r" b="b" t="t" l="l"/>
              <a:pathLst>
                <a:path h="512064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23774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Неделя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358116" y="5815584"/>
            <a:ext cx="4402836" cy="301752"/>
            <a:chOff x="0" y="0"/>
            <a:chExt cx="5870448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870448" cy="402336"/>
            </a:xfrm>
            <a:custGeom>
              <a:avLst/>
              <a:gdLst/>
              <a:ahLst/>
              <a:cxnLst/>
              <a:rect r="r" b="b" t="t" l="l"/>
              <a:pathLst>
                <a:path h="402336" w="5870448">
                  <a:moveTo>
                    <a:pt x="0" y="0"/>
                  </a:moveTo>
                  <a:lnTo>
                    <a:pt x="5870448" y="0"/>
                  </a:lnTo>
                  <a:lnTo>
                    <a:pt x="5870448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4304" r="0" b="-23430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5870448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4738C"/>
                  </a:solidFill>
                  <a:latin typeface="Inter"/>
                  <a:ea typeface="Inter"/>
                  <a:cs typeface="Inter"/>
                  <a:sym typeface="Inter"/>
                </a:rPr>
                <a:t>понедельник — воскресенье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033123" y="6629019"/>
            <a:ext cx="5148834" cy="1184910"/>
            <a:chOff x="0" y="0"/>
            <a:chExt cx="6865112" cy="15798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865112" cy="1579753"/>
            </a:xfrm>
            <a:custGeom>
              <a:avLst/>
              <a:gdLst/>
              <a:ahLst/>
              <a:cxnLst/>
              <a:rect r="r" b="b" t="t" l="l"/>
              <a:pathLst>
                <a:path h="1579753" w="6865112">
                  <a:moveTo>
                    <a:pt x="0" y="223012"/>
                  </a:moveTo>
                  <a:cubicBezTo>
                    <a:pt x="0" y="99822"/>
                    <a:pt x="99822" y="0"/>
                    <a:pt x="223012" y="0"/>
                  </a:cubicBezTo>
                  <a:lnTo>
                    <a:pt x="6642100" y="0"/>
                  </a:lnTo>
                  <a:cubicBezTo>
                    <a:pt x="6765290" y="0"/>
                    <a:pt x="6865112" y="99822"/>
                    <a:pt x="6865112" y="223012"/>
                  </a:cubicBezTo>
                  <a:lnTo>
                    <a:pt x="6865112" y="1356741"/>
                  </a:lnTo>
                  <a:cubicBezTo>
                    <a:pt x="6865112" y="1479931"/>
                    <a:pt x="6765290" y="1579753"/>
                    <a:pt x="6642100" y="1579753"/>
                  </a:cubicBezTo>
                  <a:lnTo>
                    <a:pt x="223012" y="1579753"/>
                  </a:lnTo>
                  <a:cubicBezTo>
                    <a:pt x="99822" y="1579880"/>
                    <a:pt x="0" y="1480058"/>
                    <a:pt x="0" y="1356868"/>
                  </a:cubicBezTo>
                  <a:close/>
                </a:path>
              </a:pathLst>
            </a:custGeom>
            <a:solidFill>
              <a:srgbClr val="EDF8F3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2358116" y="6803136"/>
            <a:ext cx="1783080" cy="384048"/>
            <a:chOff x="0" y="0"/>
            <a:chExt cx="2377440" cy="51206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377440" cy="512064"/>
            </a:xfrm>
            <a:custGeom>
              <a:avLst/>
              <a:gdLst/>
              <a:ahLst/>
              <a:cxnLst/>
              <a:rect r="r" b="b" t="t" l="l"/>
              <a:pathLst>
                <a:path h="512064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23774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Месяц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358116" y="7255764"/>
            <a:ext cx="4402836" cy="301752"/>
            <a:chOff x="0" y="0"/>
            <a:chExt cx="5870448" cy="40233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870448" cy="402336"/>
            </a:xfrm>
            <a:custGeom>
              <a:avLst/>
              <a:gdLst/>
              <a:ahLst/>
              <a:cxnLst/>
              <a:rect r="r" b="b" t="t" l="l"/>
              <a:pathLst>
                <a:path h="402336" w="5870448">
                  <a:moveTo>
                    <a:pt x="0" y="0"/>
                  </a:moveTo>
                  <a:lnTo>
                    <a:pt x="5870448" y="0"/>
                  </a:lnTo>
                  <a:lnTo>
                    <a:pt x="5870448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4304" r="0" b="-234304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5870448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4738C"/>
                  </a:solidFill>
                  <a:latin typeface="Inter"/>
                  <a:ea typeface="Inter"/>
                  <a:cs typeface="Inter"/>
                  <a:sym typeface="Inter"/>
                </a:rPr>
                <a:t>все даты месяца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2060555" y="8370951"/>
            <a:ext cx="5107686" cy="1102614"/>
            <a:chOff x="0" y="0"/>
            <a:chExt cx="6810248" cy="147015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810248" cy="1470152"/>
            </a:xfrm>
            <a:custGeom>
              <a:avLst/>
              <a:gdLst/>
              <a:ahLst/>
              <a:cxnLst/>
              <a:rect r="r" b="b" t="t" l="l"/>
              <a:pathLst>
                <a:path h="1470152" w="6810248">
                  <a:moveTo>
                    <a:pt x="0" y="223266"/>
                  </a:moveTo>
                  <a:cubicBezTo>
                    <a:pt x="0" y="99949"/>
                    <a:pt x="99949" y="0"/>
                    <a:pt x="223266" y="0"/>
                  </a:cubicBezTo>
                  <a:lnTo>
                    <a:pt x="6586982" y="0"/>
                  </a:lnTo>
                  <a:cubicBezTo>
                    <a:pt x="6710299" y="0"/>
                    <a:pt x="6810248" y="99949"/>
                    <a:pt x="6810248" y="223266"/>
                  </a:cubicBezTo>
                  <a:lnTo>
                    <a:pt x="6810248" y="1246886"/>
                  </a:lnTo>
                  <a:cubicBezTo>
                    <a:pt x="6810248" y="1370203"/>
                    <a:pt x="6710299" y="1470152"/>
                    <a:pt x="6586982" y="1470152"/>
                  </a:cubicBezTo>
                  <a:lnTo>
                    <a:pt x="223266" y="1470152"/>
                  </a:lnTo>
                  <a:cubicBezTo>
                    <a:pt x="99949" y="1470152"/>
                    <a:pt x="0" y="1370203"/>
                    <a:pt x="0" y="1246886"/>
                  </a:cubicBezTo>
                  <a:close/>
                </a:path>
              </a:pathLst>
            </a:custGeom>
            <a:solidFill>
              <a:srgbClr val="F8F1FF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2344400" y="8545068"/>
            <a:ext cx="4539996" cy="754380"/>
            <a:chOff x="0" y="0"/>
            <a:chExt cx="6053328" cy="10058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053328" cy="1005840"/>
            </a:xfrm>
            <a:custGeom>
              <a:avLst/>
              <a:gdLst/>
              <a:ahLst/>
              <a:cxnLst/>
              <a:rect r="r" b="b" t="t" l="l"/>
              <a:pathLst>
                <a:path h="1005840" w="6053328">
                  <a:moveTo>
                    <a:pt x="0" y="0"/>
                  </a:moveTo>
                  <a:lnTo>
                    <a:pt x="6053328" y="0"/>
                  </a:lnTo>
                  <a:lnTo>
                    <a:pt x="6053328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264" r="0" b="-67264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6053328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5D2DC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Каждый день рассчитывается независимо от предыдущих прогнозов.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0392" y="315468"/>
            <a:ext cx="10972800" cy="370332"/>
            <a:chOff x="0" y="0"/>
            <a:chExt cx="14630400" cy="4937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493776"/>
            </a:xfrm>
            <a:custGeom>
              <a:avLst/>
              <a:gdLst/>
              <a:ahLst/>
              <a:cxnLst/>
              <a:rect r="r" b="b" t="t" l="l"/>
              <a:pathLst>
                <a:path h="49377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7334" r="0" b="-52733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4630400" cy="49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94">
                  <a:solidFill>
                    <a:srgbClr val="64738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UNIFORECAST · ML-ПРОЕКТ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51224" y="315468"/>
            <a:ext cx="795528" cy="452628"/>
            <a:chOff x="0" y="0"/>
            <a:chExt cx="1060704" cy="6035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0704" cy="603504"/>
            </a:xfrm>
            <a:custGeom>
              <a:avLst/>
              <a:gdLst/>
              <a:ahLst/>
              <a:cxnLst/>
              <a:rect r="r" b="b" t="t" l="l"/>
              <a:pathLst>
                <a:path h="603504" w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000" t="0" r="-2300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060704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B9AB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14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0392" y="891540"/>
            <a:ext cx="16527780" cy="877824"/>
            <a:chOff x="0" y="0"/>
            <a:chExt cx="22037040" cy="11704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037039" cy="1170432"/>
            </a:xfrm>
            <a:custGeom>
              <a:avLst/>
              <a:gdLst/>
              <a:ahLst/>
              <a:cxnLst/>
              <a:rect r="r" b="b" t="t" l="l"/>
              <a:pathLst>
                <a:path h="1170432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6866" r="0" b="-31686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037040" cy="1170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ИТОГИ И ДАЛЬНЕЙШЕЕ РАЗВИТИЕ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40867" y="1896999"/>
            <a:ext cx="773430" cy="108204"/>
            <a:chOff x="0" y="0"/>
            <a:chExt cx="1031240" cy="1442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1240" cy="144272"/>
            </a:xfrm>
            <a:custGeom>
              <a:avLst/>
              <a:gdLst/>
              <a:ahLst/>
              <a:cxnLst/>
              <a:rect r="r" b="b" t="t" l="l"/>
              <a:pathLst>
                <a:path h="144272" w="1031240">
                  <a:moveTo>
                    <a:pt x="0" y="0"/>
                  </a:moveTo>
                  <a:lnTo>
                    <a:pt x="1031240" y="0"/>
                  </a:lnTo>
                  <a:lnTo>
                    <a:pt x="1031240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95247" y="1896999"/>
            <a:ext cx="773430" cy="108204"/>
            <a:chOff x="0" y="0"/>
            <a:chExt cx="1031240" cy="1442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31240" cy="144272"/>
            </a:xfrm>
            <a:custGeom>
              <a:avLst/>
              <a:gdLst/>
              <a:ahLst/>
              <a:cxnLst/>
              <a:rect r="r" b="b" t="t" l="l"/>
              <a:pathLst>
                <a:path h="144272" w="1031240">
                  <a:moveTo>
                    <a:pt x="0" y="0"/>
                  </a:moveTo>
                  <a:lnTo>
                    <a:pt x="1031240" y="0"/>
                  </a:lnTo>
                  <a:lnTo>
                    <a:pt x="1031240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8C14D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349627" y="1896999"/>
            <a:ext cx="457962" cy="108204"/>
            <a:chOff x="0" y="0"/>
            <a:chExt cx="610616" cy="1442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0616" cy="144272"/>
            </a:xfrm>
            <a:custGeom>
              <a:avLst/>
              <a:gdLst/>
              <a:ahLst/>
              <a:cxnLst/>
              <a:rect r="r" b="b" t="t" l="l"/>
              <a:pathLst>
                <a:path h="144272" w="610616">
                  <a:moveTo>
                    <a:pt x="0" y="0"/>
                  </a:moveTo>
                  <a:lnTo>
                    <a:pt x="610616" y="0"/>
                  </a:lnTo>
                  <a:lnTo>
                    <a:pt x="610616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788539" y="1896999"/>
            <a:ext cx="869442" cy="108204"/>
            <a:chOff x="0" y="0"/>
            <a:chExt cx="1159256" cy="1442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59256" cy="144272"/>
            </a:xfrm>
            <a:custGeom>
              <a:avLst/>
              <a:gdLst/>
              <a:ahLst/>
              <a:cxnLst/>
              <a:rect r="r" b="b" t="t" l="l"/>
              <a:pathLst>
                <a:path h="144272" w="1159256">
                  <a:moveTo>
                    <a:pt x="0" y="0"/>
                  </a:moveTo>
                  <a:lnTo>
                    <a:pt x="1159256" y="0"/>
                  </a:lnTo>
                  <a:lnTo>
                    <a:pt x="1159256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B4DAE2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-9525" y="10071735"/>
            <a:ext cx="1843278" cy="224790"/>
            <a:chOff x="0" y="0"/>
            <a:chExt cx="2457704" cy="2997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57704" cy="299720"/>
            </a:xfrm>
            <a:custGeom>
              <a:avLst/>
              <a:gdLst/>
              <a:ahLst/>
              <a:cxnLst/>
              <a:rect r="r" b="b" t="t" l="l"/>
              <a:pathLst>
                <a:path h="299720" w="2457704">
                  <a:moveTo>
                    <a:pt x="0" y="0"/>
                  </a:moveTo>
                  <a:lnTo>
                    <a:pt x="2457704" y="0"/>
                  </a:lnTo>
                  <a:lnTo>
                    <a:pt x="2457704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814703" y="10071735"/>
            <a:ext cx="3036570" cy="224790"/>
            <a:chOff x="0" y="0"/>
            <a:chExt cx="4048760" cy="299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48760" cy="299720"/>
            </a:xfrm>
            <a:custGeom>
              <a:avLst/>
              <a:gdLst/>
              <a:ahLst/>
              <a:cxnLst/>
              <a:rect r="r" b="b" t="t" l="l"/>
              <a:pathLst>
                <a:path h="299720" w="4048760">
                  <a:moveTo>
                    <a:pt x="0" y="0"/>
                  </a:moveTo>
                  <a:lnTo>
                    <a:pt x="4048760" y="0"/>
                  </a:lnTo>
                  <a:lnTo>
                    <a:pt x="404876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8C14D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832223" y="10071735"/>
            <a:ext cx="1843278" cy="224790"/>
            <a:chOff x="0" y="0"/>
            <a:chExt cx="2457704" cy="299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57704" cy="299720"/>
            </a:xfrm>
            <a:custGeom>
              <a:avLst/>
              <a:gdLst/>
              <a:ahLst/>
              <a:cxnLst/>
              <a:rect r="r" b="b" t="t" l="l"/>
              <a:pathLst>
                <a:path h="299720" w="2457704">
                  <a:moveTo>
                    <a:pt x="0" y="0"/>
                  </a:moveTo>
                  <a:lnTo>
                    <a:pt x="2457704" y="0"/>
                  </a:lnTo>
                  <a:lnTo>
                    <a:pt x="2457704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4B5C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656451" y="10071735"/>
            <a:ext cx="3036570" cy="224790"/>
            <a:chOff x="0" y="0"/>
            <a:chExt cx="4048760" cy="2997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48760" cy="299720"/>
            </a:xfrm>
            <a:custGeom>
              <a:avLst/>
              <a:gdLst/>
              <a:ahLst/>
              <a:cxnLst/>
              <a:rect r="r" b="b" t="t" l="l"/>
              <a:pathLst>
                <a:path h="299720" w="4048760">
                  <a:moveTo>
                    <a:pt x="0" y="0"/>
                  </a:moveTo>
                  <a:lnTo>
                    <a:pt x="4048760" y="0"/>
                  </a:lnTo>
                  <a:lnTo>
                    <a:pt x="404876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73971" y="10071735"/>
            <a:ext cx="1843278" cy="224790"/>
            <a:chOff x="0" y="0"/>
            <a:chExt cx="2457704" cy="2997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57704" cy="299720"/>
            </a:xfrm>
            <a:custGeom>
              <a:avLst/>
              <a:gdLst/>
              <a:ahLst/>
              <a:cxnLst/>
              <a:rect r="r" b="b" t="t" l="l"/>
              <a:pathLst>
                <a:path h="299720" w="2457704">
                  <a:moveTo>
                    <a:pt x="0" y="0"/>
                  </a:moveTo>
                  <a:lnTo>
                    <a:pt x="2457704" y="0"/>
                  </a:lnTo>
                  <a:lnTo>
                    <a:pt x="2457704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B4E47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498199" y="10071735"/>
            <a:ext cx="1802130" cy="224790"/>
            <a:chOff x="0" y="0"/>
            <a:chExt cx="2402840" cy="299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02840" cy="299720"/>
            </a:xfrm>
            <a:custGeom>
              <a:avLst/>
              <a:gdLst/>
              <a:ahLst/>
              <a:cxnLst/>
              <a:rect r="r" b="b" t="t" l="l"/>
              <a:pathLst>
                <a:path h="299720" w="2402840">
                  <a:moveTo>
                    <a:pt x="0" y="0"/>
                  </a:moveTo>
                  <a:lnTo>
                    <a:pt x="2402840" y="0"/>
                  </a:lnTo>
                  <a:lnTo>
                    <a:pt x="240284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281279" y="10071735"/>
            <a:ext cx="1390650" cy="224790"/>
            <a:chOff x="0" y="0"/>
            <a:chExt cx="1854200" cy="299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54200" cy="299720"/>
            </a:xfrm>
            <a:custGeom>
              <a:avLst/>
              <a:gdLst/>
              <a:ahLst/>
              <a:cxnLst/>
              <a:rect r="r" b="b" t="t" l="l"/>
              <a:pathLst>
                <a:path h="299720" w="1854200">
                  <a:moveTo>
                    <a:pt x="0" y="0"/>
                  </a:moveTo>
                  <a:lnTo>
                    <a:pt x="1854200" y="0"/>
                  </a:lnTo>
                  <a:lnTo>
                    <a:pt x="1854200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F4B5C1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652879" y="10071735"/>
            <a:ext cx="3645560" cy="224790"/>
            <a:chOff x="0" y="0"/>
            <a:chExt cx="4860747" cy="2997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60798" cy="299720"/>
            </a:xfrm>
            <a:custGeom>
              <a:avLst/>
              <a:gdLst/>
              <a:ahLst/>
              <a:cxnLst/>
              <a:rect r="r" b="b" t="t" l="l"/>
              <a:pathLst>
                <a:path h="299720" w="4860798">
                  <a:moveTo>
                    <a:pt x="0" y="0"/>
                  </a:moveTo>
                  <a:lnTo>
                    <a:pt x="4860798" y="0"/>
                  </a:lnTo>
                  <a:lnTo>
                    <a:pt x="4860798" y="299720"/>
                  </a:lnTo>
                  <a:lnTo>
                    <a:pt x="0" y="299720"/>
                  </a:lnTo>
                  <a:close/>
                </a:path>
              </a:pathLst>
            </a:custGeom>
            <a:solidFill>
              <a:srgbClr val="B4DAE2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42416" y="2482596"/>
            <a:ext cx="7283196" cy="576072"/>
            <a:chOff x="0" y="0"/>
            <a:chExt cx="9710928" cy="76809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710928" cy="768096"/>
            </a:xfrm>
            <a:custGeom>
              <a:avLst/>
              <a:gdLst/>
              <a:ahLst/>
              <a:cxnLst/>
              <a:rect r="r" b="b" t="t" l="l"/>
              <a:pathLst>
                <a:path h="768096" w="9710928">
                  <a:moveTo>
                    <a:pt x="0" y="0"/>
                  </a:moveTo>
                  <a:lnTo>
                    <a:pt x="9710928" y="0"/>
                  </a:lnTo>
                  <a:lnTo>
                    <a:pt x="9710928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346" r="0" b="-19634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9710928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Что уже реализовано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56335" y="3515487"/>
            <a:ext cx="444246" cy="444246"/>
            <a:chOff x="0" y="0"/>
            <a:chExt cx="592328" cy="59232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92328" cy="592328"/>
            </a:xfrm>
            <a:custGeom>
              <a:avLst/>
              <a:gdLst/>
              <a:ahLst/>
              <a:cxnLst/>
              <a:rect r="r" b="b" t="t" l="l"/>
              <a:pathLst>
                <a:path h="592328" w="592328">
                  <a:moveTo>
                    <a:pt x="0" y="210185"/>
                  </a:moveTo>
                  <a:cubicBezTo>
                    <a:pt x="0" y="94107"/>
                    <a:pt x="94107" y="0"/>
                    <a:pt x="210185" y="0"/>
                  </a:cubicBezTo>
                  <a:lnTo>
                    <a:pt x="382143" y="0"/>
                  </a:lnTo>
                  <a:cubicBezTo>
                    <a:pt x="498221" y="0"/>
                    <a:pt x="592328" y="94107"/>
                    <a:pt x="592328" y="210185"/>
                  </a:cubicBezTo>
                  <a:lnTo>
                    <a:pt x="592328" y="382143"/>
                  </a:lnTo>
                  <a:cubicBezTo>
                    <a:pt x="592328" y="498221"/>
                    <a:pt x="498221" y="592328"/>
                    <a:pt x="382143" y="592328"/>
                  </a:cubicBezTo>
                  <a:lnTo>
                    <a:pt x="210185" y="592328"/>
                  </a:lnTo>
                  <a:cubicBezTo>
                    <a:pt x="94107" y="592328"/>
                    <a:pt x="0" y="498221"/>
                    <a:pt x="0" y="382143"/>
                  </a:cubicBezTo>
                  <a:close/>
                </a:path>
              </a:pathLst>
            </a:custGeom>
            <a:solidFill>
              <a:srgbClr val="E7F6EF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48156" y="3538728"/>
            <a:ext cx="260604" cy="288036"/>
            <a:chOff x="0" y="0"/>
            <a:chExt cx="347472" cy="38404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47472" cy="384048"/>
            </a:xfrm>
            <a:custGeom>
              <a:avLst/>
              <a:gdLst/>
              <a:ahLst/>
              <a:cxnLst/>
              <a:rect r="r" b="b" t="t" l="l"/>
              <a:pathLst>
                <a:path h="384048" w="347472">
                  <a:moveTo>
                    <a:pt x="0" y="0"/>
                  </a:moveTo>
                  <a:lnTo>
                    <a:pt x="347472" y="0"/>
                  </a:lnTo>
                  <a:lnTo>
                    <a:pt x="347472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1809" t="0" r="-91809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347472" cy="393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F986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✓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837944" y="3387852"/>
            <a:ext cx="7379208" cy="713232"/>
            <a:chOff x="0" y="0"/>
            <a:chExt cx="9838944" cy="95097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838944" cy="950976"/>
            </a:xfrm>
            <a:custGeom>
              <a:avLst/>
              <a:gdLst/>
              <a:ahLst/>
              <a:cxnLst/>
              <a:rect r="r" b="b" t="t" l="l"/>
              <a:pathLst>
                <a:path h="950976" w="9838944">
                  <a:moveTo>
                    <a:pt x="0" y="0"/>
                  </a:moveTo>
                  <a:lnTo>
                    <a:pt x="9838944" y="0"/>
                  </a:lnTo>
                  <a:lnTo>
                    <a:pt x="9838944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595" r="0" b="-15159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9838944" cy="960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19243A"/>
                  </a:solidFill>
                  <a:latin typeface="Inter"/>
                  <a:ea typeface="Inter"/>
                  <a:cs typeface="Inter"/>
                  <a:sym typeface="Inter"/>
                </a:rPr>
                <a:t>Генерация и подготовка обращений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56335" y="4475607"/>
            <a:ext cx="444246" cy="444246"/>
            <a:chOff x="0" y="0"/>
            <a:chExt cx="592328" cy="59232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92328" cy="592328"/>
            </a:xfrm>
            <a:custGeom>
              <a:avLst/>
              <a:gdLst/>
              <a:ahLst/>
              <a:cxnLst/>
              <a:rect r="r" b="b" t="t" l="l"/>
              <a:pathLst>
                <a:path h="592328" w="592328">
                  <a:moveTo>
                    <a:pt x="0" y="210185"/>
                  </a:moveTo>
                  <a:cubicBezTo>
                    <a:pt x="0" y="94107"/>
                    <a:pt x="94107" y="0"/>
                    <a:pt x="210185" y="0"/>
                  </a:cubicBezTo>
                  <a:lnTo>
                    <a:pt x="382143" y="0"/>
                  </a:lnTo>
                  <a:cubicBezTo>
                    <a:pt x="498221" y="0"/>
                    <a:pt x="592328" y="94107"/>
                    <a:pt x="592328" y="210185"/>
                  </a:cubicBezTo>
                  <a:lnTo>
                    <a:pt x="592328" y="382143"/>
                  </a:lnTo>
                  <a:cubicBezTo>
                    <a:pt x="592328" y="498221"/>
                    <a:pt x="498221" y="592328"/>
                    <a:pt x="382143" y="592328"/>
                  </a:cubicBezTo>
                  <a:lnTo>
                    <a:pt x="210185" y="592328"/>
                  </a:lnTo>
                  <a:cubicBezTo>
                    <a:pt x="94107" y="592328"/>
                    <a:pt x="0" y="498221"/>
                    <a:pt x="0" y="382143"/>
                  </a:cubicBezTo>
                  <a:close/>
                </a:path>
              </a:pathLst>
            </a:custGeom>
            <a:solidFill>
              <a:srgbClr val="E7F6EF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48156" y="4498848"/>
            <a:ext cx="260604" cy="288036"/>
            <a:chOff x="0" y="0"/>
            <a:chExt cx="347472" cy="38404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47472" cy="384048"/>
            </a:xfrm>
            <a:custGeom>
              <a:avLst/>
              <a:gdLst/>
              <a:ahLst/>
              <a:cxnLst/>
              <a:rect r="r" b="b" t="t" l="l"/>
              <a:pathLst>
                <a:path h="384048" w="347472">
                  <a:moveTo>
                    <a:pt x="0" y="0"/>
                  </a:moveTo>
                  <a:lnTo>
                    <a:pt x="347472" y="0"/>
                  </a:lnTo>
                  <a:lnTo>
                    <a:pt x="347472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1809" t="0" r="-91809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347472" cy="393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F986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✓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837944" y="4347972"/>
            <a:ext cx="7379208" cy="713232"/>
            <a:chOff x="0" y="0"/>
            <a:chExt cx="9838944" cy="95097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838944" cy="950976"/>
            </a:xfrm>
            <a:custGeom>
              <a:avLst/>
              <a:gdLst/>
              <a:ahLst/>
              <a:cxnLst/>
              <a:rect r="r" b="b" t="t" l="l"/>
              <a:pathLst>
                <a:path h="950976" w="9838944">
                  <a:moveTo>
                    <a:pt x="0" y="0"/>
                  </a:moveTo>
                  <a:lnTo>
                    <a:pt x="9838944" y="0"/>
                  </a:lnTo>
                  <a:lnTo>
                    <a:pt x="9838944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595" r="0" b="-15159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9838944" cy="960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19243A"/>
                  </a:solidFill>
                  <a:latin typeface="Inter"/>
                  <a:ea typeface="Inter"/>
                  <a:cs typeface="Inter"/>
                  <a:sym typeface="Inter"/>
                </a:rPr>
                <a:t>Обучение своей нейросети PyTorch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56335" y="5435727"/>
            <a:ext cx="444246" cy="444246"/>
            <a:chOff x="0" y="0"/>
            <a:chExt cx="592328" cy="59232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92328" cy="592328"/>
            </a:xfrm>
            <a:custGeom>
              <a:avLst/>
              <a:gdLst/>
              <a:ahLst/>
              <a:cxnLst/>
              <a:rect r="r" b="b" t="t" l="l"/>
              <a:pathLst>
                <a:path h="592328" w="592328">
                  <a:moveTo>
                    <a:pt x="0" y="210185"/>
                  </a:moveTo>
                  <a:cubicBezTo>
                    <a:pt x="0" y="94107"/>
                    <a:pt x="94107" y="0"/>
                    <a:pt x="210185" y="0"/>
                  </a:cubicBezTo>
                  <a:lnTo>
                    <a:pt x="382143" y="0"/>
                  </a:lnTo>
                  <a:cubicBezTo>
                    <a:pt x="498221" y="0"/>
                    <a:pt x="592328" y="94107"/>
                    <a:pt x="592328" y="210185"/>
                  </a:cubicBezTo>
                  <a:lnTo>
                    <a:pt x="592328" y="382143"/>
                  </a:lnTo>
                  <a:cubicBezTo>
                    <a:pt x="592328" y="498221"/>
                    <a:pt x="498221" y="592328"/>
                    <a:pt x="382143" y="592328"/>
                  </a:cubicBezTo>
                  <a:lnTo>
                    <a:pt x="210185" y="592328"/>
                  </a:lnTo>
                  <a:cubicBezTo>
                    <a:pt x="94107" y="592328"/>
                    <a:pt x="0" y="498221"/>
                    <a:pt x="0" y="382143"/>
                  </a:cubicBezTo>
                  <a:close/>
                </a:path>
              </a:pathLst>
            </a:custGeom>
            <a:solidFill>
              <a:srgbClr val="E7F6EF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48156" y="5458968"/>
            <a:ext cx="260604" cy="288036"/>
            <a:chOff x="0" y="0"/>
            <a:chExt cx="347472" cy="38404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47472" cy="384048"/>
            </a:xfrm>
            <a:custGeom>
              <a:avLst/>
              <a:gdLst/>
              <a:ahLst/>
              <a:cxnLst/>
              <a:rect r="r" b="b" t="t" l="l"/>
              <a:pathLst>
                <a:path h="384048" w="347472">
                  <a:moveTo>
                    <a:pt x="0" y="0"/>
                  </a:moveTo>
                  <a:lnTo>
                    <a:pt x="347472" y="0"/>
                  </a:lnTo>
                  <a:lnTo>
                    <a:pt x="347472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1809" t="0" r="-91809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347472" cy="393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F986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✓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837944" y="5308092"/>
            <a:ext cx="7379208" cy="713232"/>
            <a:chOff x="0" y="0"/>
            <a:chExt cx="9838944" cy="95097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838944" cy="950976"/>
            </a:xfrm>
            <a:custGeom>
              <a:avLst/>
              <a:gdLst/>
              <a:ahLst/>
              <a:cxnLst/>
              <a:rect r="r" b="b" t="t" l="l"/>
              <a:pathLst>
                <a:path h="950976" w="9838944">
                  <a:moveTo>
                    <a:pt x="0" y="0"/>
                  </a:moveTo>
                  <a:lnTo>
                    <a:pt x="9838944" y="0"/>
                  </a:lnTo>
                  <a:lnTo>
                    <a:pt x="9838944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595" r="0" b="-15159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9838944" cy="960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19243A"/>
                  </a:solidFill>
                  <a:latin typeface="Inter"/>
                  <a:ea typeface="Inter"/>
                  <a:cs typeface="Inter"/>
                  <a:sym typeface="Inter"/>
                </a:rPr>
                <a:t>Независимое тестирование и baseline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56335" y="6395847"/>
            <a:ext cx="444246" cy="444246"/>
            <a:chOff x="0" y="0"/>
            <a:chExt cx="592328" cy="59232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92328" cy="592328"/>
            </a:xfrm>
            <a:custGeom>
              <a:avLst/>
              <a:gdLst/>
              <a:ahLst/>
              <a:cxnLst/>
              <a:rect r="r" b="b" t="t" l="l"/>
              <a:pathLst>
                <a:path h="592328" w="592328">
                  <a:moveTo>
                    <a:pt x="0" y="210185"/>
                  </a:moveTo>
                  <a:cubicBezTo>
                    <a:pt x="0" y="94107"/>
                    <a:pt x="94107" y="0"/>
                    <a:pt x="210185" y="0"/>
                  </a:cubicBezTo>
                  <a:lnTo>
                    <a:pt x="382143" y="0"/>
                  </a:lnTo>
                  <a:cubicBezTo>
                    <a:pt x="498221" y="0"/>
                    <a:pt x="592328" y="94107"/>
                    <a:pt x="592328" y="210185"/>
                  </a:cubicBezTo>
                  <a:lnTo>
                    <a:pt x="592328" y="382143"/>
                  </a:lnTo>
                  <a:cubicBezTo>
                    <a:pt x="592328" y="498221"/>
                    <a:pt x="498221" y="592328"/>
                    <a:pt x="382143" y="592328"/>
                  </a:cubicBezTo>
                  <a:lnTo>
                    <a:pt x="210185" y="592328"/>
                  </a:lnTo>
                  <a:cubicBezTo>
                    <a:pt x="94107" y="592328"/>
                    <a:pt x="0" y="498221"/>
                    <a:pt x="0" y="382143"/>
                  </a:cubicBezTo>
                  <a:close/>
                </a:path>
              </a:pathLst>
            </a:custGeom>
            <a:solidFill>
              <a:srgbClr val="E7F6EF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248156" y="6419088"/>
            <a:ext cx="260604" cy="288036"/>
            <a:chOff x="0" y="0"/>
            <a:chExt cx="347472" cy="38404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47472" cy="384048"/>
            </a:xfrm>
            <a:custGeom>
              <a:avLst/>
              <a:gdLst/>
              <a:ahLst/>
              <a:cxnLst/>
              <a:rect r="r" b="b" t="t" l="l"/>
              <a:pathLst>
                <a:path h="384048" w="347472">
                  <a:moveTo>
                    <a:pt x="0" y="0"/>
                  </a:moveTo>
                  <a:lnTo>
                    <a:pt x="347472" y="0"/>
                  </a:lnTo>
                  <a:lnTo>
                    <a:pt x="347472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1809" t="0" r="-91809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347472" cy="393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F986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✓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837944" y="6268212"/>
            <a:ext cx="7379208" cy="713232"/>
            <a:chOff x="0" y="0"/>
            <a:chExt cx="9838944" cy="95097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838944" cy="950976"/>
            </a:xfrm>
            <a:custGeom>
              <a:avLst/>
              <a:gdLst/>
              <a:ahLst/>
              <a:cxnLst/>
              <a:rect r="r" b="b" t="t" l="l"/>
              <a:pathLst>
                <a:path h="950976" w="9838944">
                  <a:moveTo>
                    <a:pt x="0" y="0"/>
                  </a:moveTo>
                  <a:lnTo>
                    <a:pt x="9838944" y="0"/>
                  </a:lnTo>
                  <a:lnTo>
                    <a:pt x="9838944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595" r="0" b="-151595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9838944" cy="960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19243A"/>
                  </a:solidFill>
                  <a:latin typeface="Inter"/>
                  <a:ea typeface="Inter"/>
                  <a:cs typeface="Inter"/>
                  <a:sym typeface="Inter"/>
                </a:rPr>
                <a:t>Веб-интерфейс на HTML / CSS / JS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56335" y="7355967"/>
            <a:ext cx="444246" cy="444246"/>
            <a:chOff x="0" y="0"/>
            <a:chExt cx="592328" cy="59232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92328" cy="592328"/>
            </a:xfrm>
            <a:custGeom>
              <a:avLst/>
              <a:gdLst/>
              <a:ahLst/>
              <a:cxnLst/>
              <a:rect r="r" b="b" t="t" l="l"/>
              <a:pathLst>
                <a:path h="592328" w="592328">
                  <a:moveTo>
                    <a:pt x="0" y="210185"/>
                  </a:moveTo>
                  <a:cubicBezTo>
                    <a:pt x="0" y="94107"/>
                    <a:pt x="94107" y="0"/>
                    <a:pt x="210185" y="0"/>
                  </a:cubicBezTo>
                  <a:lnTo>
                    <a:pt x="382143" y="0"/>
                  </a:lnTo>
                  <a:cubicBezTo>
                    <a:pt x="498221" y="0"/>
                    <a:pt x="592328" y="94107"/>
                    <a:pt x="592328" y="210185"/>
                  </a:cubicBezTo>
                  <a:lnTo>
                    <a:pt x="592328" y="382143"/>
                  </a:lnTo>
                  <a:cubicBezTo>
                    <a:pt x="592328" y="498221"/>
                    <a:pt x="498221" y="592328"/>
                    <a:pt x="382143" y="592328"/>
                  </a:cubicBezTo>
                  <a:lnTo>
                    <a:pt x="210185" y="592328"/>
                  </a:lnTo>
                  <a:cubicBezTo>
                    <a:pt x="94107" y="592328"/>
                    <a:pt x="0" y="498221"/>
                    <a:pt x="0" y="382143"/>
                  </a:cubicBezTo>
                  <a:close/>
                </a:path>
              </a:pathLst>
            </a:custGeom>
            <a:solidFill>
              <a:srgbClr val="E7F6EF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248156" y="7379208"/>
            <a:ext cx="260604" cy="288036"/>
            <a:chOff x="0" y="0"/>
            <a:chExt cx="347472" cy="38404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47472" cy="384048"/>
            </a:xfrm>
            <a:custGeom>
              <a:avLst/>
              <a:gdLst/>
              <a:ahLst/>
              <a:cxnLst/>
              <a:rect r="r" b="b" t="t" l="l"/>
              <a:pathLst>
                <a:path h="384048" w="347472">
                  <a:moveTo>
                    <a:pt x="0" y="0"/>
                  </a:moveTo>
                  <a:lnTo>
                    <a:pt x="347472" y="0"/>
                  </a:lnTo>
                  <a:lnTo>
                    <a:pt x="347472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1809" t="0" r="-91809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347472" cy="393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F986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✓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837944" y="7228332"/>
            <a:ext cx="7379208" cy="713232"/>
            <a:chOff x="0" y="0"/>
            <a:chExt cx="9838944" cy="95097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838944" cy="950976"/>
            </a:xfrm>
            <a:custGeom>
              <a:avLst/>
              <a:gdLst/>
              <a:ahLst/>
              <a:cxnLst/>
              <a:rect r="r" b="b" t="t" l="l"/>
              <a:pathLst>
                <a:path h="950976" w="9838944">
                  <a:moveTo>
                    <a:pt x="0" y="0"/>
                  </a:moveTo>
                  <a:lnTo>
                    <a:pt x="9838944" y="0"/>
                  </a:lnTo>
                  <a:lnTo>
                    <a:pt x="9838944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595" r="0" b="-151595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9838944" cy="960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19243A"/>
                  </a:solidFill>
                  <a:latin typeface="Inter"/>
                  <a:ea typeface="Inter"/>
                  <a:cs typeface="Inter"/>
                  <a:sym typeface="Inter"/>
                </a:rPr>
                <a:t>Прогноз на день, неделю и месяц</a:t>
              </a:r>
            </a:p>
          </p:txBody>
        </p:sp>
      </p:grpSp>
      <p:sp>
        <p:nvSpPr>
          <p:cNvPr name="AutoShape 78" id="78"/>
          <p:cNvSpPr/>
          <p:nvPr/>
        </p:nvSpPr>
        <p:spPr>
          <a:xfrm rot="5387640">
            <a:off x="6428213" y="5625656"/>
            <a:ext cx="6345974" cy="0"/>
          </a:xfrm>
          <a:prstGeom prst="line">
            <a:avLst/>
          </a:prstGeom>
          <a:ln cap="rnd" w="9525">
            <a:solidFill>
              <a:srgbClr val="E4E9F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9" id="79"/>
          <p:cNvGrpSpPr/>
          <p:nvPr/>
        </p:nvGrpSpPr>
        <p:grpSpPr>
          <a:xfrm rot="0">
            <a:off x="10149840" y="2482596"/>
            <a:ext cx="7036308" cy="576072"/>
            <a:chOff x="0" y="0"/>
            <a:chExt cx="9381744" cy="76809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381744" cy="768096"/>
            </a:xfrm>
            <a:custGeom>
              <a:avLst/>
              <a:gdLst/>
              <a:ahLst/>
              <a:cxnLst/>
              <a:rect r="r" b="b" t="t" l="l"/>
              <a:pathLst>
                <a:path h="768096" w="9381744">
                  <a:moveTo>
                    <a:pt x="0" y="0"/>
                  </a:moveTo>
                  <a:lnTo>
                    <a:pt x="9381744" y="0"/>
                  </a:lnTo>
                  <a:lnTo>
                    <a:pt x="938174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7995" r="0" b="-187995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9381744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Что улучшить дальше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0250043" y="3542919"/>
            <a:ext cx="163068" cy="163068"/>
            <a:chOff x="0" y="0"/>
            <a:chExt cx="217424" cy="21742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17424" cy="217424"/>
            </a:xfrm>
            <a:custGeom>
              <a:avLst/>
              <a:gdLst/>
              <a:ahLst/>
              <a:cxnLst/>
              <a:rect r="r" b="b" t="t" l="l"/>
              <a:pathLst>
                <a:path h="217424" w="217424">
                  <a:moveTo>
                    <a:pt x="0" y="103505"/>
                  </a:moveTo>
                  <a:cubicBezTo>
                    <a:pt x="0" y="46355"/>
                    <a:pt x="46355" y="0"/>
                    <a:pt x="103505" y="0"/>
                  </a:cubicBezTo>
                  <a:lnTo>
                    <a:pt x="113919" y="0"/>
                  </a:lnTo>
                  <a:cubicBezTo>
                    <a:pt x="171069" y="0"/>
                    <a:pt x="217424" y="46355"/>
                    <a:pt x="217424" y="103505"/>
                  </a:cubicBezTo>
                  <a:lnTo>
                    <a:pt x="217424" y="113919"/>
                  </a:lnTo>
                  <a:cubicBezTo>
                    <a:pt x="217424" y="171069"/>
                    <a:pt x="171069" y="217424"/>
                    <a:pt x="113919" y="217424"/>
                  </a:cubicBezTo>
                  <a:lnTo>
                    <a:pt x="103505" y="217424"/>
                  </a:lnTo>
                  <a:cubicBezTo>
                    <a:pt x="46355" y="217424"/>
                    <a:pt x="0" y="171069"/>
                    <a:pt x="0" y="113919"/>
                  </a:cubicBezTo>
                  <a:close/>
                </a:path>
              </a:pathLst>
            </a:custGeom>
            <a:solidFill>
              <a:srgbClr val="F9AA22"/>
            </a:solidFill>
          </p:spPr>
        </p:sp>
      </p:grpSp>
      <p:sp>
        <p:nvSpPr>
          <p:cNvPr name="TextBox 84" id="84"/>
          <p:cNvSpPr txBox="true"/>
          <p:nvPr/>
        </p:nvSpPr>
        <p:spPr>
          <a:xfrm rot="0">
            <a:off x="10616184" y="3387852"/>
            <a:ext cx="6501384" cy="932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9243A"/>
                </a:solidFill>
                <a:latin typeface="Inter"/>
                <a:ea typeface="Inter"/>
                <a:cs typeface="Inter"/>
                <a:sym typeface="Inter"/>
              </a:rPr>
              <a:t>Получить обезличенные реальные обращения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10250043" y="4503039"/>
            <a:ext cx="163068" cy="163068"/>
            <a:chOff x="0" y="0"/>
            <a:chExt cx="217424" cy="21742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17424" cy="217424"/>
            </a:xfrm>
            <a:custGeom>
              <a:avLst/>
              <a:gdLst/>
              <a:ahLst/>
              <a:cxnLst/>
              <a:rect r="r" b="b" t="t" l="l"/>
              <a:pathLst>
                <a:path h="217424" w="217424">
                  <a:moveTo>
                    <a:pt x="0" y="103505"/>
                  </a:moveTo>
                  <a:cubicBezTo>
                    <a:pt x="0" y="46355"/>
                    <a:pt x="46355" y="0"/>
                    <a:pt x="103505" y="0"/>
                  </a:cubicBezTo>
                  <a:lnTo>
                    <a:pt x="113919" y="0"/>
                  </a:lnTo>
                  <a:cubicBezTo>
                    <a:pt x="171069" y="0"/>
                    <a:pt x="217424" y="46355"/>
                    <a:pt x="217424" y="103505"/>
                  </a:cubicBezTo>
                  <a:lnTo>
                    <a:pt x="217424" y="113919"/>
                  </a:lnTo>
                  <a:cubicBezTo>
                    <a:pt x="217424" y="171069"/>
                    <a:pt x="171069" y="217424"/>
                    <a:pt x="113919" y="217424"/>
                  </a:cubicBezTo>
                  <a:lnTo>
                    <a:pt x="103505" y="217424"/>
                  </a:lnTo>
                  <a:cubicBezTo>
                    <a:pt x="46355" y="217424"/>
                    <a:pt x="0" y="171069"/>
                    <a:pt x="0" y="113919"/>
                  </a:cubicBezTo>
                  <a:close/>
                </a:path>
              </a:pathLst>
            </a:custGeom>
            <a:solidFill>
              <a:srgbClr val="F9AA22"/>
            </a:solidFill>
          </p:spPr>
        </p:sp>
      </p:grpSp>
      <p:sp>
        <p:nvSpPr>
          <p:cNvPr name="TextBox 87" id="87"/>
          <p:cNvSpPr txBox="true"/>
          <p:nvPr/>
        </p:nvSpPr>
        <p:spPr>
          <a:xfrm rot="0">
            <a:off x="10616184" y="4347972"/>
            <a:ext cx="6501384" cy="932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9243A"/>
                </a:solidFill>
                <a:latin typeface="Inter"/>
                <a:ea typeface="Inter"/>
                <a:cs typeface="Inter"/>
                <a:sym typeface="Inter"/>
              </a:rPr>
              <a:t>Добавить календарь сессий и мероприятий</a:t>
            </a:r>
          </a:p>
        </p:txBody>
      </p:sp>
      <p:grpSp>
        <p:nvGrpSpPr>
          <p:cNvPr name="Group 88" id="88"/>
          <p:cNvGrpSpPr/>
          <p:nvPr/>
        </p:nvGrpSpPr>
        <p:grpSpPr>
          <a:xfrm rot="0">
            <a:off x="10250043" y="5463159"/>
            <a:ext cx="163068" cy="163068"/>
            <a:chOff x="0" y="0"/>
            <a:chExt cx="217424" cy="21742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17424" cy="217424"/>
            </a:xfrm>
            <a:custGeom>
              <a:avLst/>
              <a:gdLst/>
              <a:ahLst/>
              <a:cxnLst/>
              <a:rect r="r" b="b" t="t" l="l"/>
              <a:pathLst>
                <a:path h="217424" w="217424">
                  <a:moveTo>
                    <a:pt x="0" y="103505"/>
                  </a:moveTo>
                  <a:cubicBezTo>
                    <a:pt x="0" y="46355"/>
                    <a:pt x="46355" y="0"/>
                    <a:pt x="103505" y="0"/>
                  </a:cubicBezTo>
                  <a:lnTo>
                    <a:pt x="113919" y="0"/>
                  </a:lnTo>
                  <a:cubicBezTo>
                    <a:pt x="171069" y="0"/>
                    <a:pt x="217424" y="46355"/>
                    <a:pt x="217424" y="103505"/>
                  </a:cubicBezTo>
                  <a:lnTo>
                    <a:pt x="217424" y="113919"/>
                  </a:lnTo>
                  <a:cubicBezTo>
                    <a:pt x="217424" y="171069"/>
                    <a:pt x="171069" y="217424"/>
                    <a:pt x="113919" y="217424"/>
                  </a:cubicBezTo>
                  <a:lnTo>
                    <a:pt x="103505" y="217424"/>
                  </a:lnTo>
                  <a:cubicBezTo>
                    <a:pt x="46355" y="217424"/>
                    <a:pt x="0" y="171069"/>
                    <a:pt x="0" y="113919"/>
                  </a:cubicBezTo>
                  <a:close/>
                </a:path>
              </a:pathLst>
            </a:custGeom>
            <a:solidFill>
              <a:srgbClr val="F9AA22"/>
            </a:solidFill>
          </p:spPr>
        </p:sp>
      </p:grpSp>
      <p:sp>
        <p:nvSpPr>
          <p:cNvPr name="TextBox 90" id="90"/>
          <p:cNvSpPr txBox="true"/>
          <p:nvPr/>
        </p:nvSpPr>
        <p:spPr>
          <a:xfrm rot="0">
            <a:off x="10616184" y="5308092"/>
            <a:ext cx="6501384" cy="932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9243A"/>
                </a:solidFill>
                <a:latin typeface="Inter"/>
                <a:ea typeface="Inter"/>
                <a:cs typeface="Inter"/>
                <a:sym typeface="Inter"/>
              </a:rPr>
              <a:t>Учесть изменение числа студентов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10250043" y="6423279"/>
            <a:ext cx="163068" cy="163068"/>
            <a:chOff x="0" y="0"/>
            <a:chExt cx="217424" cy="21742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17424" cy="217424"/>
            </a:xfrm>
            <a:custGeom>
              <a:avLst/>
              <a:gdLst/>
              <a:ahLst/>
              <a:cxnLst/>
              <a:rect r="r" b="b" t="t" l="l"/>
              <a:pathLst>
                <a:path h="217424" w="217424">
                  <a:moveTo>
                    <a:pt x="0" y="103505"/>
                  </a:moveTo>
                  <a:cubicBezTo>
                    <a:pt x="0" y="46355"/>
                    <a:pt x="46355" y="0"/>
                    <a:pt x="103505" y="0"/>
                  </a:cubicBezTo>
                  <a:lnTo>
                    <a:pt x="113919" y="0"/>
                  </a:lnTo>
                  <a:cubicBezTo>
                    <a:pt x="171069" y="0"/>
                    <a:pt x="217424" y="46355"/>
                    <a:pt x="217424" y="103505"/>
                  </a:cubicBezTo>
                  <a:lnTo>
                    <a:pt x="217424" y="113919"/>
                  </a:lnTo>
                  <a:cubicBezTo>
                    <a:pt x="217424" y="171069"/>
                    <a:pt x="171069" y="217424"/>
                    <a:pt x="113919" y="217424"/>
                  </a:cubicBezTo>
                  <a:lnTo>
                    <a:pt x="103505" y="217424"/>
                  </a:lnTo>
                  <a:cubicBezTo>
                    <a:pt x="46355" y="217424"/>
                    <a:pt x="0" y="171069"/>
                    <a:pt x="0" y="113919"/>
                  </a:cubicBezTo>
                  <a:close/>
                </a:path>
              </a:pathLst>
            </a:custGeom>
            <a:solidFill>
              <a:srgbClr val="F9AA22"/>
            </a:solidFill>
          </p:spPr>
        </p:sp>
      </p:grpSp>
      <p:sp>
        <p:nvSpPr>
          <p:cNvPr name="TextBox 93" id="93"/>
          <p:cNvSpPr txBox="true"/>
          <p:nvPr/>
        </p:nvSpPr>
        <p:spPr>
          <a:xfrm rot="0">
            <a:off x="10616184" y="6268212"/>
            <a:ext cx="6501384" cy="932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9243A"/>
                </a:solidFill>
                <a:latin typeface="Inter"/>
                <a:ea typeface="Inter"/>
                <a:cs typeface="Inter"/>
                <a:sym typeface="Inter"/>
              </a:rPr>
              <a:t>Сравнить модели на новых периодах</a:t>
            </a:r>
          </a:p>
        </p:txBody>
      </p:sp>
      <p:grpSp>
        <p:nvGrpSpPr>
          <p:cNvPr name="Group 94" id="94"/>
          <p:cNvGrpSpPr/>
          <p:nvPr/>
        </p:nvGrpSpPr>
        <p:grpSpPr>
          <a:xfrm rot="0">
            <a:off x="10250043" y="7383399"/>
            <a:ext cx="163068" cy="163068"/>
            <a:chOff x="0" y="0"/>
            <a:chExt cx="217424" cy="21742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17424" cy="217424"/>
            </a:xfrm>
            <a:custGeom>
              <a:avLst/>
              <a:gdLst/>
              <a:ahLst/>
              <a:cxnLst/>
              <a:rect r="r" b="b" t="t" l="l"/>
              <a:pathLst>
                <a:path h="217424" w="217424">
                  <a:moveTo>
                    <a:pt x="0" y="103505"/>
                  </a:moveTo>
                  <a:cubicBezTo>
                    <a:pt x="0" y="46355"/>
                    <a:pt x="46355" y="0"/>
                    <a:pt x="103505" y="0"/>
                  </a:cubicBezTo>
                  <a:lnTo>
                    <a:pt x="113919" y="0"/>
                  </a:lnTo>
                  <a:cubicBezTo>
                    <a:pt x="171069" y="0"/>
                    <a:pt x="217424" y="46355"/>
                    <a:pt x="217424" y="103505"/>
                  </a:cubicBezTo>
                  <a:lnTo>
                    <a:pt x="217424" y="113919"/>
                  </a:lnTo>
                  <a:cubicBezTo>
                    <a:pt x="217424" y="171069"/>
                    <a:pt x="171069" y="217424"/>
                    <a:pt x="113919" y="217424"/>
                  </a:cubicBezTo>
                  <a:lnTo>
                    <a:pt x="103505" y="217424"/>
                  </a:lnTo>
                  <a:cubicBezTo>
                    <a:pt x="46355" y="217424"/>
                    <a:pt x="0" y="171069"/>
                    <a:pt x="0" y="113919"/>
                  </a:cubicBezTo>
                  <a:close/>
                </a:path>
              </a:pathLst>
            </a:custGeom>
            <a:solidFill>
              <a:srgbClr val="F9AA22"/>
            </a:solidFill>
          </p:spPr>
        </p:sp>
      </p:grpSp>
      <p:sp>
        <p:nvSpPr>
          <p:cNvPr name="TextBox 96" id="96"/>
          <p:cNvSpPr txBox="true"/>
          <p:nvPr/>
        </p:nvSpPr>
        <p:spPr>
          <a:xfrm rot="0">
            <a:off x="10616184" y="7228332"/>
            <a:ext cx="6501384" cy="932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9243A"/>
                </a:solidFill>
                <a:latin typeface="Inter"/>
                <a:ea typeface="Inter"/>
                <a:cs typeface="Inter"/>
                <a:sym typeface="Inter"/>
              </a:rPr>
              <a:t>Оценить точность дальних горизонтов</a:t>
            </a:r>
          </a:p>
        </p:txBody>
      </p:sp>
      <p:grpSp>
        <p:nvGrpSpPr>
          <p:cNvPr name="Group 97" id="97"/>
          <p:cNvGrpSpPr/>
          <p:nvPr/>
        </p:nvGrpSpPr>
        <p:grpSpPr>
          <a:xfrm rot="0">
            <a:off x="1060323" y="8864727"/>
            <a:ext cx="16162782" cy="608838"/>
            <a:chOff x="0" y="0"/>
            <a:chExt cx="21550376" cy="811784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1550376" cy="811784"/>
            </a:xfrm>
            <a:custGeom>
              <a:avLst/>
              <a:gdLst/>
              <a:ahLst/>
              <a:cxnLst/>
              <a:rect r="r" b="b" t="t" l="l"/>
              <a:pathLst>
                <a:path h="811784" w="21550376">
                  <a:moveTo>
                    <a:pt x="0" y="226568"/>
                  </a:moveTo>
                  <a:cubicBezTo>
                    <a:pt x="0" y="101473"/>
                    <a:pt x="101473" y="0"/>
                    <a:pt x="226568" y="0"/>
                  </a:cubicBezTo>
                  <a:lnTo>
                    <a:pt x="21323807" y="0"/>
                  </a:lnTo>
                  <a:cubicBezTo>
                    <a:pt x="21448903" y="0"/>
                    <a:pt x="21550376" y="101473"/>
                    <a:pt x="21550376" y="226568"/>
                  </a:cubicBezTo>
                  <a:lnTo>
                    <a:pt x="21550376" y="585216"/>
                  </a:lnTo>
                  <a:cubicBezTo>
                    <a:pt x="21550376" y="710311"/>
                    <a:pt x="21448903" y="811784"/>
                    <a:pt x="21323807" y="811784"/>
                  </a:cubicBezTo>
                  <a:lnTo>
                    <a:pt x="226568" y="811784"/>
                  </a:lnTo>
                  <a:cubicBezTo>
                    <a:pt x="101473" y="811784"/>
                    <a:pt x="0" y="710311"/>
                    <a:pt x="0" y="585216"/>
                  </a:cubicBezTo>
                  <a:close/>
                </a:path>
              </a:pathLst>
            </a:custGeom>
            <a:solidFill>
              <a:srgbClr val="F5EAFF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344168" y="9038844"/>
            <a:ext cx="15595092" cy="260604"/>
            <a:chOff x="0" y="0"/>
            <a:chExt cx="20793456" cy="34747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0793456" cy="347472"/>
            </a:xfrm>
            <a:custGeom>
              <a:avLst/>
              <a:gdLst/>
              <a:ahLst/>
              <a:cxnLst/>
              <a:rect r="r" b="b" t="t" l="l"/>
              <a:pathLst>
                <a:path h="347472" w="20793456">
                  <a:moveTo>
                    <a:pt x="0" y="0"/>
                  </a:moveTo>
                  <a:lnTo>
                    <a:pt x="20793456" y="0"/>
                  </a:lnTo>
                  <a:lnTo>
                    <a:pt x="20793456" y="347472"/>
                  </a:lnTo>
                  <a:lnTo>
                    <a:pt x="0" y="3474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16025" r="0" b="-1116025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9525"/>
              <a:ext cx="20793456" cy="3569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Результат: готовый учебный прототип с честной оценкой ограничений.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238506"/>
            <a:chOff x="0" y="0"/>
            <a:chExt cx="24408790" cy="3180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318008"/>
            </a:xfrm>
            <a:custGeom>
              <a:avLst/>
              <a:gdLst/>
              <a:ahLst/>
              <a:cxnLst/>
              <a:rect r="r" b="b" t="t" l="l"/>
              <a:pathLst>
                <a:path h="318008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318008"/>
                  </a:lnTo>
                  <a:lnTo>
                    <a:pt x="0" y="318008"/>
                  </a:lnTo>
                  <a:close/>
                </a:path>
              </a:pathLst>
            </a:custGeom>
            <a:solidFill>
              <a:srgbClr val="8C14D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9920859"/>
            <a:ext cx="18306593" cy="375666"/>
            <a:chOff x="0" y="0"/>
            <a:chExt cx="24408790" cy="5008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500888"/>
            </a:xfrm>
            <a:custGeom>
              <a:avLst/>
              <a:gdLst/>
              <a:ahLst/>
              <a:cxnLst/>
              <a:rect r="r" b="b" t="t" l="l"/>
              <a:pathLst>
                <a:path h="500888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500888"/>
                  </a:lnTo>
                  <a:lnTo>
                    <a:pt x="0" y="500888"/>
                  </a:lnTo>
                  <a:close/>
                </a:path>
              </a:pathLst>
            </a:custGeom>
            <a:solidFill>
              <a:srgbClr val="8C14D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979527" y="-9525"/>
            <a:ext cx="5317541" cy="9949434"/>
            <a:chOff x="0" y="0"/>
            <a:chExt cx="7090054" cy="132659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90029" cy="13265913"/>
            </a:xfrm>
            <a:custGeom>
              <a:avLst/>
              <a:gdLst/>
              <a:ahLst/>
              <a:cxnLst/>
              <a:rect r="r" b="b" t="t" l="l"/>
              <a:pathLst>
                <a:path h="13265913" w="7090029">
                  <a:moveTo>
                    <a:pt x="0" y="0"/>
                  </a:moveTo>
                  <a:lnTo>
                    <a:pt x="7090029" y="0"/>
                  </a:lnTo>
                  <a:lnTo>
                    <a:pt x="7090029" y="13265913"/>
                  </a:lnTo>
                  <a:lnTo>
                    <a:pt x="0" y="13265913"/>
                  </a:lnTo>
                  <a:close/>
                </a:path>
              </a:pathLst>
            </a:custGeom>
            <a:solidFill>
              <a:srgbClr val="F5ED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979527" y="-9525"/>
            <a:ext cx="5317541" cy="3352038"/>
            <a:chOff x="0" y="0"/>
            <a:chExt cx="7090054" cy="44693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90029" cy="4469384"/>
            </a:xfrm>
            <a:custGeom>
              <a:avLst/>
              <a:gdLst/>
              <a:ahLst/>
              <a:cxnLst/>
              <a:rect r="r" b="b" t="t" l="l"/>
              <a:pathLst>
                <a:path h="4469384" w="7090029">
                  <a:moveTo>
                    <a:pt x="0" y="0"/>
                  </a:moveTo>
                  <a:lnTo>
                    <a:pt x="7090029" y="0"/>
                  </a:lnTo>
                  <a:lnTo>
                    <a:pt x="7090029" y="4469384"/>
                  </a:lnTo>
                  <a:lnTo>
                    <a:pt x="0" y="4469384"/>
                  </a:lnTo>
                  <a:close/>
                </a:path>
              </a:pathLst>
            </a:custGeom>
            <a:solidFill>
              <a:srgbClr val="F9AA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979527" y="3323463"/>
            <a:ext cx="2597658" cy="3283458"/>
            <a:chOff x="0" y="0"/>
            <a:chExt cx="3463544" cy="43779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63544" cy="4377944"/>
            </a:xfrm>
            <a:custGeom>
              <a:avLst/>
              <a:gdLst/>
              <a:ahLst/>
              <a:cxnLst/>
              <a:rect r="r" b="b" t="t" l="l"/>
              <a:pathLst>
                <a:path h="4377944" w="3463544">
                  <a:moveTo>
                    <a:pt x="0" y="0"/>
                  </a:moveTo>
                  <a:lnTo>
                    <a:pt x="3463544" y="0"/>
                  </a:lnTo>
                  <a:lnTo>
                    <a:pt x="3463544" y="4377944"/>
                  </a:lnTo>
                  <a:lnTo>
                    <a:pt x="0" y="4377944"/>
                  </a:lnTo>
                  <a:close/>
                </a:path>
              </a:pathLst>
            </a:custGeom>
            <a:solidFill>
              <a:srgbClr val="F4B5C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558135" y="3323463"/>
            <a:ext cx="2738933" cy="3283458"/>
            <a:chOff x="0" y="0"/>
            <a:chExt cx="3651910" cy="43779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51885" cy="4377944"/>
            </a:xfrm>
            <a:custGeom>
              <a:avLst/>
              <a:gdLst/>
              <a:ahLst/>
              <a:cxnLst/>
              <a:rect r="r" b="b" t="t" l="l"/>
              <a:pathLst>
                <a:path h="4377944" w="3651885">
                  <a:moveTo>
                    <a:pt x="0" y="0"/>
                  </a:moveTo>
                  <a:lnTo>
                    <a:pt x="3651885" y="0"/>
                  </a:lnTo>
                  <a:lnTo>
                    <a:pt x="3651885" y="4377944"/>
                  </a:lnTo>
                  <a:lnTo>
                    <a:pt x="0" y="4377944"/>
                  </a:lnTo>
                  <a:close/>
                </a:path>
              </a:pathLst>
            </a:custGeom>
            <a:solidFill>
              <a:srgbClr val="8C14D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979527" y="6587871"/>
            <a:ext cx="5317541" cy="3352038"/>
            <a:chOff x="0" y="0"/>
            <a:chExt cx="7090054" cy="44693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90029" cy="4469384"/>
            </a:xfrm>
            <a:custGeom>
              <a:avLst/>
              <a:gdLst/>
              <a:ahLst/>
              <a:cxnLst/>
              <a:rect r="r" b="b" t="t" l="l"/>
              <a:pathLst>
                <a:path h="4469384" w="7090029">
                  <a:moveTo>
                    <a:pt x="0" y="0"/>
                  </a:moveTo>
                  <a:lnTo>
                    <a:pt x="7090029" y="0"/>
                  </a:lnTo>
                  <a:lnTo>
                    <a:pt x="7090029" y="4469384"/>
                  </a:lnTo>
                  <a:lnTo>
                    <a:pt x="0" y="4469384"/>
                  </a:lnTo>
                  <a:close/>
                </a:path>
              </a:pathLst>
            </a:custGeom>
            <a:solidFill>
              <a:srgbClr val="B4DAE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60120" y="3401568"/>
            <a:ext cx="11548872" cy="2468880"/>
            <a:chOff x="0" y="0"/>
            <a:chExt cx="15398496" cy="32918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398496" cy="3291840"/>
            </a:xfrm>
            <a:custGeom>
              <a:avLst/>
              <a:gdLst/>
              <a:ahLst/>
              <a:cxnLst/>
              <a:rect r="r" b="b" t="t" l="l"/>
              <a:pathLst>
                <a:path h="3291840" w="15398496">
                  <a:moveTo>
                    <a:pt x="0" y="0"/>
                  </a:moveTo>
                  <a:lnTo>
                    <a:pt x="15398496" y="0"/>
                  </a:lnTo>
                  <a:lnTo>
                    <a:pt x="15398496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146" r="0" b="-4114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5398496" cy="3291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39"/>
                </a:lnSpc>
              </a:pPr>
              <a:r>
                <a:rPr lang="en-US" sz="570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СПАСИБО</a:t>
              </a:r>
            </a:p>
            <a:p>
              <a:pPr algn="l">
                <a:lnSpc>
                  <a:spcPts val="6839"/>
                </a:lnSpc>
              </a:pPr>
              <a:r>
                <a:rPr lang="en-US" sz="5700" b="true">
                  <a:solidFill>
                    <a:srgbClr val="8C14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ЗА ВНИМАНИЕ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42416" y="6199632"/>
            <a:ext cx="10808208" cy="534924"/>
            <a:chOff x="0" y="0"/>
            <a:chExt cx="14410944" cy="7132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410944" cy="713232"/>
            </a:xfrm>
            <a:custGeom>
              <a:avLst/>
              <a:gdLst/>
              <a:ahLst/>
              <a:cxnLst/>
              <a:rect r="r" b="b" t="t" l="l"/>
              <a:pathLst>
                <a:path h="713232" w="14410944">
                  <a:moveTo>
                    <a:pt x="0" y="0"/>
                  </a:moveTo>
                  <a:lnTo>
                    <a:pt x="14410944" y="0"/>
                  </a:lnTo>
                  <a:lnTo>
                    <a:pt x="14410944" y="713232"/>
                  </a:lnTo>
                  <a:lnTo>
                    <a:pt x="0" y="713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3697" r="0" b="-34369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4410944" cy="7132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9243A"/>
                  </a:solidFill>
                  <a:latin typeface="Inter"/>
                  <a:ea typeface="Inter"/>
                  <a:cs typeface="Inter"/>
                  <a:sym typeface="Inter"/>
                </a:rPr>
                <a:t>UniForecast · система прогнозирования нагрузки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42416" y="7365492"/>
            <a:ext cx="10808208" cy="452628"/>
            <a:chOff x="0" y="0"/>
            <a:chExt cx="14410944" cy="60350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410944" cy="603504"/>
            </a:xfrm>
            <a:custGeom>
              <a:avLst/>
              <a:gdLst/>
              <a:ahLst/>
              <a:cxnLst/>
              <a:rect r="r" b="b" t="t" l="l"/>
              <a:pathLst>
                <a:path h="603504" w="14410944">
                  <a:moveTo>
                    <a:pt x="0" y="0"/>
                  </a:moveTo>
                  <a:lnTo>
                    <a:pt x="14410944" y="0"/>
                  </a:lnTo>
                  <a:lnTo>
                    <a:pt x="14410944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5279" r="0" b="-41527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4410944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38C"/>
                  </a:solidFill>
                  <a:latin typeface="Inter"/>
                  <a:ea typeface="Inter"/>
                  <a:cs typeface="Inter"/>
                  <a:sym typeface="Inter"/>
                </a:rPr>
                <a:t>Шереметов Мурат Олегович</a:t>
              </a:r>
              <a:r>
                <a:rPr lang="en-US" sz="2100">
                  <a:solidFill>
                    <a:srgbClr val="64738C"/>
                  </a:solidFill>
                  <a:latin typeface="Inter"/>
                  <a:ea typeface="Inter"/>
                  <a:cs typeface="Inter"/>
                  <a:sym typeface="Inter"/>
                </a:rPr>
                <a:t> · Т.МО31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42416" y="8805672"/>
            <a:ext cx="7406640" cy="644652"/>
            <a:chOff x="0" y="0"/>
            <a:chExt cx="9875520" cy="85953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875520" cy="859536"/>
            </a:xfrm>
            <a:custGeom>
              <a:avLst/>
              <a:gdLst/>
              <a:ahLst/>
              <a:cxnLst/>
              <a:rect r="r" b="b" t="t" l="l"/>
              <a:pathLst>
                <a:path h="859536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859536"/>
                  </a:lnTo>
                  <a:lnTo>
                    <a:pt x="0" y="8595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3870" r="0" b="-17387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9875520" cy="8690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924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Вопросы?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DAHYZ1oGTL8</dc:identifier>
  <dcterms:modified xsi:type="dcterms:W3CDTF">2011-08-01T06:04:30Z</dcterms:modified>
  <cp:revision>1</cp:revision>
  <dc:title>UniForecastPREZ.pptx</dc:title>
</cp:coreProperties>
</file>